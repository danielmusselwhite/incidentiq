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2E600AC-4C49-44DB-9C05-D9585DC96735}" v="15" dt="2026-09-28T20:22:45.35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64227" autoAdjust="0"/>
  </p:normalViewPr>
  <p:slideViewPr>
    <p:cSldViewPr snapToGrid="0" snapToObjects="1">
      <p:cViewPr>
        <p:scale>
          <a:sx n="100" d="100"/>
          <a:sy n="100" d="100"/>
        </p:scale>
        <p:origin x="954" y="-86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21" Type="http://schemas.microsoft.com/office/2015/10/relationships/revisionInfo" Target="revisionInfo.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20"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aniel Musselwhite" userId="5754bf8be510fb52" providerId="LiveId" clId="{2294213F-9316-4C35-974F-AC31549734D2}"/>
    <pc:docChg chg="undo custSel delSld modSld">
      <pc:chgData name="Daniel Musselwhite" userId="5754bf8be510fb52" providerId="LiveId" clId="{2294213F-9316-4C35-974F-AC31549734D2}" dt="2026-09-28T20:52:55.590" v="155" actId="478"/>
      <pc:docMkLst>
        <pc:docMk/>
      </pc:docMkLst>
      <pc:sldChg chg="modSp mod">
        <pc:chgData name="Daniel Musselwhite" userId="5754bf8be510fb52" providerId="LiveId" clId="{2294213F-9316-4C35-974F-AC31549734D2}" dt="2026-09-28T20:27:07.806" v="154" actId="20577"/>
        <pc:sldMkLst>
          <pc:docMk/>
          <pc:sldMk cId="0" sldId="256"/>
        </pc:sldMkLst>
        <pc:spChg chg="mod">
          <ac:chgData name="Daniel Musselwhite" userId="5754bf8be510fb52" providerId="LiveId" clId="{2294213F-9316-4C35-974F-AC31549734D2}" dt="2026-09-28T20:26:52.933" v="84" actId="20577"/>
          <ac:spMkLst>
            <pc:docMk/>
            <pc:sldMk cId="0" sldId="256"/>
            <ac:spMk id="22" creationId="{00000000-0000-0000-0000-000000000000}"/>
          </ac:spMkLst>
        </pc:spChg>
        <pc:spChg chg="mod">
          <ac:chgData name="Daniel Musselwhite" userId="5754bf8be510fb52" providerId="LiveId" clId="{2294213F-9316-4C35-974F-AC31549734D2}" dt="2026-09-28T20:27:07.806" v="154" actId="20577"/>
          <ac:spMkLst>
            <pc:docMk/>
            <pc:sldMk cId="0" sldId="256"/>
            <ac:spMk id="23" creationId="{00000000-0000-0000-0000-000000000000}"/>
          </ac:spMkLst>
        </pc:spChg>
      </pc:sldChg>
      <pc:sldChg chg="addSp delSp modSp mod">
        <pc:chgData name="Daniel Musselwhite" userId="5754bf8be510fb52" providerId="LiveId" clId="{2294213F-9316-4C35-974F-AC31549734D2}" dt="2026-09-28T20:06:32.494" v="30" actId="1036"/>
        <pc:sldMkLst>
          <pc:docMk/>
          <pc:sldMk cId="0" sldId="258"/>
        </pc:sldMkLst>
        <pc:spChg chg="mod">
          <ac:chgData name="Daniel Musselwhite" userId="5754bf8be510fb52" providerId="LiveId" clId="{2294213F-9316-4C35-974F-AC31549734D2}" dt="2026-09-28T20:06:32.494" v="30" actId="1036"/>
          <ac:spMkLst>
            <pc:docMk/>
            <pc:sldMk cId="0" sldId="258"/>
            <ac:spMk id="42" creationId="{00000000-0000-0000-0000-000000000000}"/>
          </ac:spMkLst>
        </pc:spChg>
        <pc:spChg chg="mod">
          <ac:chgData name="Daniel Musselwhite" userId="5754bf8be510fb52" providerId="LiveId" clId="{2294213F-9316-4C35-974F-AC31549734D2}" dt="2026-09-28T20:06:04.200" v="17" actId="14100"/>
          <ac:spMkLst>
            <pc:docMk/>
            <pc:sldMk cId="0" sldId="258"/>
            <ac:spMk id="43" creationId="{00000000-0000-0000-0000-000000000000}"/>
          </ac:spMkLst>
        </pc:spChg>
        <pc:spChg chg="mod">
          <ac:chgData name="Daniel Musselwhite" userId="5754bf8be510fb52" providerId="LiveId" clId="{2294213F-9316-4C35-974F-AC31549734D2}" dt="2026-09-28T20:06:07.997" v="18" actId="14100"/>
          <ac:spMkLst>
            <pc:docMk/>
            <pc:sldMk cId="0" sldId="258"/>
            <ac:spMk id="44" creationId="{00000000-0000-0000-0000-000000000000}"/>
          </ac:spMkLst>
        </pc:spChg>
        <pc:spChg chg="del">
          <ac:chgData name="Daniel Musselwhite" userId="5754bf8be510fb52" providerId="LiveId" clId="{2294213F-9316-4C35-974F-AC31549734D2}" dt="2026-09-28T20:05:39.902" v="10" actId="478"/>
          <ac:spMkLst>
            <pc:docMk/>
            <pc:sldMk cId="0" sldId="258"/>
            <ac:spMk id="47" creationId="{00000000-0000-0000-0000-000000000000}"/>
          </ac:spMkLst>
        </pc:spChg>
        <pc:spChg chg="mod">
          <ac:chgData name="Daniel Musselwhite" userId="5754bf8be510fb52" providerId="LiveId" clId="{2294213F-9316-4C35-974F-AC31549734D2}" dt="2026-09-28T20:05:31.672" v="2" actId="164"/>
          <ac:spMkLst>
            <pc:docMk/>
            <pc:sldMk cId="0" sldId="258"/>
            <ac:spMk id="48" creationId="{00000000-0000-0000-0000-000000000000}"/>
          </ac:spMkLst>
        </pc:spChg>
        <pc:spChg chg="mod">
          <ac:chgData name="Daniel Musselwhite" userId="5754bf8be510fb52" providerId="LiveId" clId="{2294213F-9316-4C35-974F-AC31549734D2}" dt="2026-09-28T20:05:31.672" v="2" actId="164"/>
          <ac:spMkLst>
            <pc:docMk/>
            <pc:sldMk cId="0" sldId="258"/>
            <ac:spMk id="49" creationId="{00000000-0000-0000-0000-000000000000}"/>
          </ac:spMkLst>
        </pc:spChg>
        <pc:spChg chg="mod">
          <ac:chgData name="Daniel Musselwhite" userId="5754bf8be510fb52" providerId="LiveId" clId="{2294213F-9316-4C35-974F-AC31549734D2}" dt="2026-09-28T20:05:31.672" v="2" actId="164"/>
          <ac:spMkLst>
            <pc:docMk/>
            <pc:sldMk cId="0" sldId="258"/>
            <ac:spMk id="50" creationId="{00000000-0000-0000-0000-000000000000}"/>
          </ac:spMkLst>
        </pc:spChg>
        <pc:spChg chg="add mod">
          <ac:chgData name="Daniel Musselwhite" userId="5754bf8be510fb52" providerId="LiveId" clId="{2294213F-9316-4C35-974F-AC31549734D2}" dt="2026-09-28T20:06:17.368" v="23" actId="14100"/>
          <ac:spMkLst>
            <pc:docMk/>
            <pc:sldMk cId="0" sldId="258"/>
            <ac:spMk id="58" creationId="{023FA283-11FD-B21D-8726-47E0A282EE08}"/>
          </ac:spMkLst>
        </pc:spChg>
        <pc:grpChg chg="add mod">
          <ac:chgData name="Daniel Musselwhite" userId="5754bf8be510fb52" providerId="LiveId" clId="{2294213F-9316-4C35-974F-AC31549734D2}" dt="2026-09-28T20:05:37.714" v="9" actId="1076"/>
          <ac:grpSpMkLst>
            <pc:docMk/>
            <pc:sldMk cId="0" sldId="258"/>
            <ac:grpSpMk id="56" creationId="{7A04AD75-8D78-0D80-60CD-DFA74C45D8A6}"/>
          </ac:grpSpMkLst>
        </pc:grpChg>
      </pc:sldChg>
      <pc:sldChg chg="delSp mod">
        <pc:chgData name="Daniel Musselwhite" userId="5754bf8be510fb52" providerId="LiveId" clId="{2294213F-9316-4C35-974F-AC31549734D2}" dt="2026-09-28T20:52:55.590" v="155" actId="478"/>
        <pc:sldMkLst>
          <pc:docMk/>
          <pc:sldMk cId="0" sldId="260"/>
        </pc:sldMkLst>
        <pc:spChg chg="del">
          <ac:chgData name="Daniel Musselwhite" userId="5754bf8be510fb52" providerId="LiveId" clId="{2294213F-9316-4C35-974F-AC31549734D2}" dt="2026-09-28T20:52:55.590" v="155" actId="478"/>
          <ac:spMkLst>
            <pc:docMk/>
            <pc:sldMk cId="0" sldId="260"/>
            <ac:spMk id="36" creationId="{00000000-0000-0000-0000-000000000000}"/>
          </ac:spMkLst>
        </pc:spChg>
        <pc:spChg chg="del">
          <ac:chgData name="Daniel Musselwhite" userId="5754bf8be510fb52" providerId="LiveId" clId="{2294213F-9316-4C35-974F-AC31549734D2}" dt="2026-09-28T20:52:55.590" v="155" actId="478"/>
          <ac:spMkLst>
            <pc:docMk/>
            <pc:sldMk cId="0" sldId="260"/>
            <ac:spMk id="37" creationId="{00000000-0000-0000-0000-000000000000}"/>
          </ac:spMkLst>
        </pc:spChg>
        <pc:spChg chg="del">
          <ac:chgData name="Daniel Musselwhite" userId="5754bf8be510fb52" providerId="LiveId" clId="{2294213F-9316-4C35-974F-AC31549734D2}" dt="2026-09-28T20:52:55.590" v="155" actId="478"/>
          <ac:spMkLst>
            <pc:docMk/>
            <pc:sldMk cId="0" sldId="260"/>
            <ac:spMk id="38" creationId="{00000000-0000-0000-0000-000000000000}"/>
          </ac:spMkLst>
        </pc:spChg>
      </pc:sldChg>
      <pc:sldChg chg="modSp mod">
        <pc:chgData name="Daniel Musselwhite" userId="5754bf8be510fb52" providerId="LiveId" clId="{2294213F-9316-4C35-974F-AC31549734D2}" dt="2026-09-28T20:05:31.688" v="5" actId="27636"/>
        <pc:sldMkLst>
          <pc:docMk/>
          <pc:sldMk cId="0" sldId="261"/>
        </pc:sldMkLst>
        <pc:spChg chg="mod">
          <ac:chgData name="Daniel Musselwhite" userId="5754bf8be510fb52" providerId="LiveId" clId="{2294213F-9316-4C35-974F-AC31549734D2}" dt="2026-09-28T20:05:31.688" v="5" actId="27636"/>
          <ac:spMkLst>
            <pc:docMk/>
            <pc:sldMk cId="0" sldId="261"/>
            <ac:spMk id="34" creationId="{00000000-0000-0000-0000-000000000000}"/>
          </ac:spMkLst>
        </pc:spChg>
        <pc:spChg chg="mod">
          <ac:chgData name="Daniel Musselwhite" userId="5754bf8be510fb52" providerId="LiveId" clId="{2294213F-9316-4C35-974F-AC31549734D2}" dt="2026-09-28T20:05:31.684" v="3" actId="27636"/>
          <ac:spMkLst>
            <pc:docMk/>
            <pc:sldMk cId="0" sldId="261"/>
            <ac:spMk id="38" creationId="{00000000-0000-0000-0000-000000000000}"/>
          </ac:spMkLst>
        </pc:spChg>
        <pc:spChg chg="mod">
          <ac:chgData name="Daniel Musselwhite" userId="5754bf8be510fb52" providerId="LiveId" clId="{2294213F-9316-4C35-974F-AC31549734D2}" dt="2026-09-28T20:05:31.686" v="4" actId="27636"/>
          <ac:spMkLst>
            <pc:docMk/>
            <pc:sldMk cId="0" sldId="261"/>
            <ac:spMk id="42" creationId="{00000000-0000-0000-0000-000000000000}"/>
          </ac:spMkLst>
        </pc:spChg>
      </pc:sldChg>
      <pc:sldChg chg="modSp mod">
        <pc:chgData name="Daniel Musselwhite" userId="5754bf8be510fb52" providerId="LiveId" clId="{2294213F-9316-4C35-974F-AC31549734D2}" dt="2026-09-28T20:05:31.695" v="8" actId="27636"/>
        <pc:sldMkLst>
          <pc:docMk/>
          <pc:sldMk cId="0" sldId="264"/>
        </pc:sldMkLst>
        <pc:spChg chg="mod">
          <ac:chgData name="Daniel Musselwhite" userId="5754bf8be510fb52" providerId="LiveId" clId="{2294213F-9316-4C35-974F-AC31549734D2}" dt="2026-09-28T20:05:31.695" v="8" actId="27636"/>
          <ac:spMkLst>
            <pc:docMk/>
            <pc:sldMk cId="0" sldId="264"/>
            <ac:spMk id="30" creationId="{00000000-0000-0000-0000-000000000000}"/>
          </ac:spMkLst>
        </pc:spChg>
        <pc:spChg chg="mod">
          <ac:chgData name="Daniel Musselwhite" userId="5754bf8be510fb52" providerId="LiveId" clId="{2294213F-9316-4C35-974F-AC31549734D2}" dt="2026-09-28T20:05:31.694" v="7" actId="27636"/>
          <ac:spMkLst>
            <pc:docMk/>
            <pc:sldMk cId="0" sldId="264"/>
            <ac:spMk id="34" creationId="{00000000-0000-0000-0000-000000000000}"/>
          </ac:spMkLst>
        </pc:spChg>
        <pc:spChg chg="mod">
          <ac:chgData name="Daniel Musselwhite" userId="5754bf8be510fb52" providerId="LiveId" clId="{2294213F-9316-4C35-974F-AC31549734D2}" dt="2026-09-28T20:05:31.693" v="6" actId="27636"/>
          <ac:spMkLst>
            <pc:docMk/>
            <pc:sldMk cId="0" sldId="264"/>
            <ac:spMk id="38" creationId="{00000000-0000-0000-0000-000000000000}"/>
          </ac:spMkLst>
        </pc:spChg>
      </pc:sldChg>
      <pc:sldChg chg="modSp mod">
        <pc:chgData name="Daniel Musselwhite" userId="5754bf8be510fb52" providerId="LiveId" clId="{2294213F-9316-4C35-974F-AC31549734D2}" dt="2026-09-28T20:08:35.382" v="32" actId="20577"/>
        <pc:sldMkLst>
          <pc:docMk/>
          <pc:sldMk cId="0" sldId="266"/>
        </pc:sldMkLst>
        <pc:spChg chg="mod">
          <ac:chgData name="Daniel Musselwhite" userId="5754bf8be510fb52" providerId="LiveId" clId="{2294213F-9316-4C35-974F-AC31549734D2}" dt="2026-09-28T20:08:35.382" v="32" actId="20577"/>
          <ac:spMkLst>
            <pc:docMk/>
            <pc:sldMk cId="0" sldId="266"/>
            <ac:spMk id="11" creationId="{00000000-0000-0000-0000-000000000000}"/>
          </ac:spMkLst>
        </pc:spChg>
      </pc:sldChg>
      <pc:sldChg chg="delSp modSp mod">
        <pc:chgData name="Daniel Musselwhite" userId="5754bf8be510fb52" providerId="LiveId" clId="{2294213F-9316-4C35-974F-AC31549734D2}" dt="2026-09-28T20:24:43.974" v="48" actId="20577"/>
        <pc:sldMkLst>
          <pc:docMk/>
          <pc:sldMk cId="0" sldId="268"/>
        </pc:sldMkLst>
        <pc:spChg chg="del">
          <ac:chgData name="Daniel Musselwhite" userId="5754bf8be510fb52" providerId="LiveId" clId="{2294213F-9316-4C35-974F-AC31549734D2}" dt="2026-09-28T20:24:34.278" v="33" actId="478"/>
          <ac:spMkLst>
            <pc:docMk/>
            <pc:sldMk cId="0" sldId="268"/>
            <ac:spMk id="11" creationId="{00000000-0000-0000-0000-000000000000}"/>
          </ac:spMkLst>
        </pc:spChg>
        <pc:spChg chg="mod">
          <ac:chgData name="Daniel Musselwhite" userId="5754bf8be510fb52" providerId="LiveId" clId="{2294213F-9316-4C35-974F-AC31549734D2}" dt="2026-09-28T20:24:43.974" v="48" actId="20577"/>
          <ac:spMkLst>
            <pc:docMk/>
            <pc:sldMk cId="0" sldId="268"/>
            <ac:spMk id="37" creationId="{00000000-0000-0000-0000-000000000000}"/>
          </ac:spMkLst>
        </pc:spChg>
      </pc:sldChg>
      <pc:sldChg chg="delSp modSp del mod">
        <pc:chgData name="Daniel Musselwhite" userId="5754bf8be510fb52" providerId="LiveId" clId="{2294213F-9316-4C35-974F-AC31549734D2}" dt="2026-09-28T20:25:10.748" v="57" actId="47"/>
        <pc:sldMkLst>
          <pc:docMk/>
          <pc:sldMk cId="0" sldId="269"/>
        </pc:sldMkLst>
        <pc:spChg chg="del">
          <ac:chgData name="Daniel Musselwhite" userId="5754bf8be510fb52" providerId="LiveId" clId="{2294213F-9316-4C35-974F-AC31549734D2}" dt="2026-09-28T20:24:52.398" v="49" actId="478"/>
          <ac:spMkLst>
            <pc:docMk/>
            <pc:sldMk cId="0" sldId="269"/>
            <ac:spMk id="12" creationId="{00000000-0000-0000-0000-000000000000}"/>
          </ac:spMkLst>
        </pc:spChg>
        <pc:spChg chg="del">
          <ac:chgData name="Daniel Musselwhite" userId="5754bf8be510fb52" providerId="LiveId" clId="{2294213F-9316-4C35-974F-AC31549734D2}" dt="2026-09-28T20:24:54.727" v="51" actId="478"/>
          <ac:spMkLst>
            <pc:docMk/>
            <pc:sldMk cId="0" sldId="269"/>
            <ac:spMk id="13" creationId="{00000000-0000-0000-0000-000000000000}"/>
          </ac:spMkLst>
        </pc:spChg>
        <pc:spChg chg="del mod">
          <ac:chgData name="Daniel Musselwhite" userId="5754bf8be510fb52" providerId="LiveId" clId="{2294213F-9316-4C35-974F-AC31549734D2}" dt="2026-09-28T20:24:57.470" v="54" actId="478"/>
          <ac:spMkLst>
            <pc:docMk/>
            <pc:sldMk cId="0" sldId="269"/>
            <ac:spMk id="14" creationId="{00000000-0000-0000-0000-000000000000}"/>
          </ac:spMkLst>
        </pc:spChg>
        <pc:spChg chg="del mod">
          <ac:chgData name="Daniel Musselwhite" userId="5754bf8be510fb52" providerId="LiveId" clId="{2294213F-9316-4C35-974F-AC31549734D2}" dt="2026-09-28T20:24:56.534" v="53" actId="478"/>
          <ac:spMkLst>
            <pc:docMk/>
            <pc:sldMk cId="0" sldId="269"/>
            <ac:spMk id="15" creationId="{00000000-0000-0000-0000-000000000000}"/>
          </ac:spMkLst>
        </pc:spChg>
        <pc:spChg chg="mod">
          <ac:chgData name="Daniel Musselwhite" userId="5754bf8be510fb52" providerId="LiveId" clId="{2294213F-9316-4C35-974F-AC31549734D2}" dt="2026-09-28T20:25:05.526" v="56" actId="1076"/>
          <ac:spMkLst>
            <pc:docMk/>
            <pc:sldMk cId="0" sldId="269"/>
            <ac:spMk id="16" creationId="{00000000-0000-0000-0000-000000000000}"/>
          </ac:spMkLst>
        </pc:spChg>
        <pc:spChg chg="mod">
          <ac:chgData name="Daniel Musselwhite" userId="5754bf8be510fb52" providerId="LiveId" clId="{2294213F-9316-4C35-974F-AC31549734D2}" dt="2026-09-28T20:25:05.526" v="56" actId="1076"/>
          <ac:spMkLst>
            <pc:docMk/>
            <pc:sldMk cId="0" sldId="269"/>
            <ac:spMk id="17" creationId="{00000000-0000-0000-0000-000000000000}"/>
          </ac:spMkLst>
        </pc:spChg>
        <pc:spChg chg="mod">
          <ac:chgData name="Daniel Musselwhite" userId="5754bf8be510fb52" providerId="LiveId" clId="{2294213F-9316-4C35-974F-AC31549734D2}" dt="2026-09-28T20:25:05.526" v="56" actId="1076"/>
          <ac:spMkLst>
            <pc:docMk/>
            <pc:sldMk cId="0" sldId="269"/>
            <ac:spMk id="18" creationId="{00000000-0000-0000-0000-000000000000}"/>
          </ac:spMkLst>
        </pc:spChg>
        <pc:spChg chg="del">
          <ac:chgData name="Daniel Musselwhite" userId="5754bf8be510fb52" providerId="LiveId" clId="{2294213F-9316-4C35-974F-AC31549734D2}" dt="2026-09-28T20:24:59.854" v="55" actId="478"/>
          <ac:spMkLst>
            <pc:docMk/>
            <pc:sldMk cId="0" sldId="269"/>
            <ac:spMk id="19" creationId="{00000000-0000-0000-0000-000000000000}"/>
          </ac:spMkLst>
        </pc:spChg>
        <pc:spChg chg="del">
          <ac:chgData name="Daniel Musselwhite" userId="5754bf8be510fb52" providerId="LiveId" clId="{2294213F-9316-4C35-974F-AC31549734D2}" dt="2026-09-28T20:24:59.854" v="55" actId="478"/>
          <ac:spMkLst>
            <pc:docMk/>
            <pc:sldMk cId="0" sldId="269"/>
            <ac:spMk id="20" creationId="{00000000-0000-0000-0000-000000000000}"/>
          </ac:spMkLst>
        </pc:spChg>
        <pc:spChg chg="del">
          <ac:chgData name="Daniel Musselwhite" userId="5754bf8be510fb52" providerId="LiveId" clId="{2294213F-9316-4C35-974F-AC31549734D2}" dt="2026-09-28T20:24:59.854" v="55" actId="478"/>
          <ac:spMkLst>
            <pc:docMk/>
            <pc:sldMk cId="0" sldId="269"/>
            <ac:spMk id="21"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15472397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a:t>
            </a:r>
            <a:r>
              <a:rPr lang="en-GB" dirty="0" err="1"/>
              <a:t>IncidentIQ</a:t>
            </a:r>
            <a:r>
              <a:rPr lang="en-GB" dirty="0"/>
              <a:t> is an AI-powered incident analysis and operational support platform I built using React, .NET and Azure. The goal was to build something that feels like a real distributed production system, while also exploring grounded AI, asynchronous processing, observability and cloud-native architecture.”</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“The basic idea is that an engineer can submit a production incident, and </a:t>
            </a:r>
            <a:r>
              <a:rPr lang="en-GB" dirty="0" err="1"/>
              <a:t>IncidentIQ</a:t>
            </a:r>
            <a:r>
              <a:rPr lang="en-GB" dirty="0"/>
              <a:t> will analyse it using relevant historical incidents and operational Runbooks. Instead of asking an AI model to answer from general knowledge, the system retrieves evidence first and uses that to generate more useful and traceable recommendations.”</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“The frontend is a React application secured with Microsoft Entra. Requests go through an ASP.NET Core API, with Cosmos DB used for persistence. Incident analysis is asynchronous: a transactional outbox is picked up through Cosmos Change Feed, published to Service Bus, and processed by a scalable .NET Worker. The Worker retrieves relevant evidence and uses Azure OpenAI to generate the analysis.”</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“Users authenticate through Microsoft Entra, and the React application obtains an access token for the API. The backend validates the token and enforces Engineer and Administrator roles. User access tokens stop at the API boundary — access from the API and Worker to Azure resources uses Managed Identity and Azure RBAC instead.”</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“The dashboard gives engineers a quick view of the incidents currently in the system and their processing state. From here they can inspect existing incidents, see whether analysis is queued, processing, completed or failed, and submit new incidents for analysis.”</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“When an incident is submitted, the API doesn't wait for the AI analysis to finish. Instead, the incident and an analysis command are written together using a Cosmos transactional batch. This is the transactional outbox pattern, which prevents the incident being saved while the request to analyse it is accidentally lost.”</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“The outbox is detected through Cosmos Change Feed and published to Azure Service Bus. A Worker then processes the command and moves the incident through Queued, Processing and finally Completed or Failed. Service Bus gives the workflow durable retries, dead-lettering and buffering, while keeping the HTTP request fast.”</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“Before generating an answer, </a:t>
            </a:r>
            <a:r>
              <a:rPr lang="en-GB" dirty="0" err="1"/>
              <a:t>IncidentIQ</a:t>
            </a:r>
            <a:r>
              <a:rPr lang="en-GB" dirty="0"/>
              <a:t> embeds the incident and retrieves similar historical incidents and relevant Runbook chunks using vector search. Azure OpenAI then receives that evidence and produces a structured result containing a summary, likely causes and recommended actions. Historical incident references use HI identifiers and Runbooks use RB identifiers, and the application validates those references against the evidence that was actually retrieved.”</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“The Operational Assistant uses the same grounding approach but provides a conversational interface for engineers. Each question triggers fresh retrieval from historical incidents and Runbooks. Recent conversation turns are used for continuity, but they aren't treated as evidence, and each answer returns the exact sources that grounded it.”</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“Runbooks are managed directly in </a:t>
            </a:r>
            <a:r>
              <a:rPr lang="en-GB" dirty="0" err="1"/>
              <a:t>IncidentIQ</a:t>
            </a:r>
            <a:r>
              <a:rPr lang="en-GB" dirty="0"/>
              <a:t> and act as reusable operational knowledge. When a Runbook changes, it is asynchronously chunked, embedded and stored in a separate vector index. This keeps the source Runbook separate from the derived search data and means the vector index can be rebuilt without modifying the original content.”</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“Administrators have an Operations area for monitoring application state and recovering failed analysis work. It shows queued, processing, completed and failed incident counts, as well as failed incidents and their failure information. Administrators can retry failed analysis, while the API keeps that capability protected by an Administrator-only authorization policy.”</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“The API and Worker are instrumented with </a:t>
            </a:r>
            <a:r>
              <a:rPr lang="en-GB" dirty="0" err="1"/>
              <a:t>OpenTelemetry</a:t>
            </a:r>
            <a:r>
              <a:rPr lang="en-GB" dirty="0"/>
              <a:t> and export telemetry to Application Insights. Trace context is explicitly carried through the Cosmos outbox and Service Bus, which means one incident can be followed across the entire asynchronous workflow. I also added metrics for queue wait, processing time, AI latency, failures and retries. The Worker uses KEDA to scale between one and three replicas based on the analysis queue depth.”</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“The parts I wanted to focus on with </a:t>
            </a:r>
            <a:r>
              <a:rPr lang="en-GB" dirty="0" err="1"/>
              <a:t>IncidentIQ</a:t>
            </a:r>
            <a:r>
              <a:rPr lang="en-GB" dirty="0"/>
              <a:t> were the engineering decisions around the AI rather than just calling an LLM. That includes the transactional outbox, at-least-once messaging with duplicate handling, grounded RAG with evidence validation, Entra and Managed Identity security boundaries, distributed tracing, queue-driven autoscaling, infrastructure as code and automated deployment through GitHub Actions.”</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7FBFF"/>
        </a:solidFill>
        <a:effectLst/>
      </p:bgPr>
    </p:bg>
    <p:spTree>
      <p:nvGrpSpPr>
        <p:cNvPr id="1" name=""/>
        <p:cNvGrpSpPr/>
        <p:nvPr/>
      </p:nvGrpSpPr>
      <p:grpSpPr>
        <a:xfrm>
          <a:off x="0" y="0"/>
          <a:ext cx="0" cy="0"/>
          <a:chOff x="0" y="0"/>
          <a:chExt cx="0" cy="0"/>
        </a:xfrm>
      </p:grpSpPr>
      <p:sp>
        <p:nvSpPr>
          <p:cNvPr id="2" name="Shape 0"/>
          <p:cNvSpPr/>
          <p:nvPr/>
        </p:nvSpPr>
        <p:spPr>
          <a:xfrm>
            <a:off x="-1143000" y="-1143000"/>
            <a:ext cx="3749040" cy="3749040"/>
          </a:xfrm>
          <a:prstGeom prst="arc">
            <a:avLst/>
          </a:prstGeom>
          <a:solidFill>
            <a:srgbClr val="E6FFFA">
              <a:alpha val="94000"/>
            </a:srgbClr>
          </a:solidFill>
          <a:ln w="12700">
            <a:solidFill>
              <a:srgbClr val="E6FFFA">
                <a:alpha val="0"/>
              </a:srgbClr>
            </a:solidFill>
            <a:prstDash val="solid"/>
          </a:ln>
        </p:spPr>
        <p:txBody>
          <a:bodyPr/>
          <a:lstStyle/>
          <a:p>
            <a:endParaRPr lang="en-GB"/>
          </a:p>
        </p:txBody>
      </p:sp>
      <p:sp>
        <p:nvSpPr>
          <p:cNvPr id="3" name="Shape 1"/>
          <p:cNvSpPr/>
          <p:nvPr/>
        </p:nvSpPr>
        <p:spPr>
          <a:xfrm>
            <a:off x="10012680" y="-685800"/>
            <a:ext cx="2926080" cy="2926080"/>
          </a:xfrm>
          <a:prstGeom prst="ellipse">
            <a:avLst/>
          </a:prstGeom>
          <a:solidFill>
            <a:srgbClr val="EAF5FF">
              <a:alpha val="95000"/>
            </a:srgbClr>
          </a:solidFill>
          <a:ln w="12700">
            <a:solidFill>
              <a:srgbClr val="EAF5FF">
                <a:alpha val="0"/>
              </a:srgbClr>
            </a:solidFill>
            <a:prstDash val="solid"/>
          </a:ln>
        </p:spPr>
        <p:txBody>
          <a:bodyPr/>
          <a:lstStyle/>
          <a:p>
            <a:endParaRPr lang="en-GB"/>
          </a:p>
        </p:txBody>
      </p:sp>
      <p:sp>
        <p:nvSpPr>
          <p:cNvPr id="4" name="Shape 2"/>
          <p:cNvSpPr/>
          <p:nvPr/>
        </p:nvSpPr>
        <p:spPr>
          <a:xfrm>
            <a:off x="10652760" y="5120640"/>
            <a:ext cx="2011680" cy="2011680"/>
          </a:xfrm>
          <a:prstGeom prst="ellipse">
            <a:avLst/>
          </a:prstGeom>
          <a:solidFill>
            <a:srgbClr val="E6FFFA">
              <a:alpha val="76000"/>
            </a:srgbClr>
          </a:solidFill>
          <a:ln w="12700">
            <a:solidFill>
              <a:srgbClr val="E6FFFA">
                <a:alpha val="0"/>
              </a:srgbClr>
            </a:solidFill>
            <a:prstDash val="solid"/>
          </a:ln>
        </p:spPr>
        <p:txBody>
          <a:bodyPr/>
          <a:lstStyle/>
          <a:p>
            <a:endParaRPr lang="en-GB"/>
          </a:p>
        </p:txBody>
      </p:sp>
      <p:sp>
        <p:nvSpPr>
          <p:cNvPr id="5" name="Shape 3"/>
          <p:cNvSpPr/>
          <p:nvPr/>
        </p:nvSpPr>
        <p:spPr>
          <a:xfrm>
            <a:off x="0" y="0"/>
            <a:ext cx="12191695" cy="100584"/>
          </a:xfrm>
          <a:prstGeom prst="rect">
            <a:avLst/>
          </a:prstGeom>
          <a:solidFill>
            <a:srgbClr val="14B8A6"/>
          </a:solidFill>
          <a:ln w="12700">
            <a:solidFill>
              <a:srgbClr val="14B8A6">
                <a:alpha val="0"/>
              </a:srgbClr>
            </a:solidFill>
            <a:prstDash val="solid"/>
          </a:ln>
        </p:spPr>
        <p:txBody>
          <a:bodyPr/>
          <a:lstStyle/>
          <a:p>
            <a:endParaRPr lang="en-GB"/>
          </a:p>
        </p:txBody>
      </p:sp>
      <p:sp>
        <p:nvSpPr>
          <p:cNvPr id="6" name="Text 4"/>
          <p:cNvSpPr/>
          <p:nvPr/>
        </p:nvSpPr>
        <p:spPr>
          <a:xfrm>
            <a:off x="548640" y="6336792"/>
            <a:ext cx="1828800" cy="201168"/>
          </a:xfrm>
          <a:prstGeom prst="rect">
            <a:avLst/>
          </a:prstGeom>
          <a:noFill/>
          <a:ln/>
        </p:spPr>
        <p:txBody>
          <a:bodyPr wrap="square" lIns="0" tIns="0" rIns="0" bIns="0" rtlCol="0" anchor="ctr"/>
          <a:lstStyle/>
          <a:p>
            <a:pPr marL="0" indent="0">
              <a:buNone/>
            </a:pPr>
            <a:r>
              <a:rPr lang="en-US" sz="850" b="1" dirty="0">
                <a:solidFill>
                  <a:srgbClr val="12355B"/>
                </a:solidFill>
              </a:rPr>
              <a:t>IncidentIQ</a:t>
            </a:r>
            <a:endParaRPr lang="en-US" sz="850" dirty="0"/>
          </a:p>
        </p:txBody>
      </p:sp>
      <p:sp>
        <p:nvSpPr>
          <p:cNvPr id="7" name="Text 5"/>
          <p:cNvSpPr/>
          <p:nvPr/>
        </p:nvSpPr>
        <p:spPr>
          <a:xfrm>
            <a:off x="1874520" y="6336792"/>
            <a:ext cx="4572000" cy="201168"/>
          </a:xfrm>
          <a:prstGeom prst="rect">
            <a:avLst/>
          </a:prstGeom>
          <a:noFill/>
          <a:ln/>
        </p:spPr>
        <p:txBody>
          <a:bodyPr wrap="square" lIns="0" tIns="0" rIns="0" bIns="0" rtlCol="0" anchor="ctr"/>
          <a:lstStyle/>
          <a:p>
            <a:pPr marL="0" indent="0">
              <a:buNone/>
            </a:pPr>
            <a:r>
              <a:rPr lang="en-US" sz="850" dirty="0">
                <a:solidFill>
                  <a:srgbClr val="64748B"/>
                </a:solidFill>
              </a:rPr>
              <a:t>Portfolio release demo</a:t>
            </a:r>
            <a:endParaRPr lang="en-US" sz="850" dirty="0"/>
          </a:p>
        </p:txBody>
      </p:sp>
      <p:sp>
        <p:nvSpPr>
          <p:cNvPr id="8" name="Text 6"/>
          <p:cNvSpPr/>
          <p:nvPr/>
        </p:nvSpPr>
        <p:spPr>
          <a:xfrm>
            <a:off x="11155680" y="6291072"/>
            <a:ext cx="457200" cy="228600"/>
          </a:xfrm>
          <a:prstGeom prst="rect">
            <a:avLst/>
          </a:prstGeom>
          <a:noFill/>
          <a:ln/>
        </p:spPr>
        <p:txBody>
          <a:bodyPr wrap="square" lIns="0" tIns="0" rIns="0" bIns="0" rtlCol="0" anchor="ctr"/>
          <a:lstStyle/>
          <a:p>
            <a:pPr marL="0" indent="0" algn="r">
              <a:buNone/>
            </a:pPr>
            <a:r>
              <a:rPr lang="en-US" sz="850" b="1" dirty="0">
                <a:solidFill>
                  <a:srgbClr val="14B8A6"/>
                </a:solidFill>
              </a:rPr>
              <a:t>01</a:t>
            </a:r>
            <a:endParaRPr lang="en-US" sz="850" dirty="0"/>
          </a:p>
        </p:txBody>
      </p:sp>
      <p:sp>
        <p:nvSpPr>
          <p:cNvPr id="9" name="Text 7"/>
          <p:cNvSpPr/>
          <p:nvPr/>
        </p:nvSpPr>
        <p:spPr>
          <a:xfrm>
            <a:off x="713232" y="1024128"/>
            <a:ext cx="5120640" cy="777240"/>
          </a:xfrm>
          <a:prstGeom prst="rect">
            <a:avLst/>
          </a:prstGeom>
          <a:noFill/>
          <a:ln/>
        </p:spPr>
        <p:txBody>
          <a:bodyPr wrap="square" lIns="0" tIns="0" rIns="0" bIns="0" rtlCol="0" anchor="ctr"/>
          <a:lstStyle/>
          <a:p>
            <a:pPr marL="0" indent="0">
              <a:buNone/>
            </a:pPr>
            <a:r>
              <a:rPr lang="en-US" sz="4600" b="1" dirty="0">
                <a:solidFill>
                  <a:srgbClr val="0B1F33"/>
                </a:solidFill>
                <a:latin typeface="Aptos Display" pitchFamily="34" charset="0"/>
                <a:ea typeface="Aptos Display" pitchFamily="34" charset="-122"/>
                <a:cs typeface="Aptos Display" pitchFamily="34" charset="-120"/>
              </a:rPr>
              <a:t>IncidentIQ</a:t>
            </a:r>
            <a:endParaRPr lang="en-US" sz="4600" dirty="0"/>
          </a:p>
        </p:txBody>
      </p:sp>
      <p:sp>
        <p:nvSpPr>
          <p:cNvPr id="10" name="Text 8"/>
          <p:cNvSpPr/>
          <p:nvPr/>
        </p:nvSpPr>
        <p:spPr>
          <a:xfrm>
            <a:off x="749808" y="1847088"/>
            <a:ext cx="6217920" cy="384048"/>
          </a:xfrm>
          <a:prstGeom prst="rect">
            <a:avLst/>
          </a:prstGeom>
          <a:noFill/>
          <a:ln/>
        </p:spPr>
        <p:txBody>
          <a:bodyPr wrap="square" lIns="0" tIns="0" rIns="0" bIns="0" rtlCol="0" anchor="ctr"/>
          <a:lstStyle/>
          <a:p>
            <a:pPr marL="0" indent="0">
              <a:buNone/>
            </a:pPr>
            <a:r>
              <a:rPr lang="en-US" sz="1600" b="1" dirty="0">
                <a:solidFill>
                  <a:srgbClr val="14B8A6"/>
                </a:solidFill>
              </a:rPr>
              <a:t>AI-powered incident analysis and operational support</a:t>
            </a:r>
            <a:endParaRPr lang="en-US" sz="1600" dirty="0"/>
          </a:p>
        </p:txBody>
      </p:sp>
      <p:sp>
        <p:nvSpPr>
          <p:cNvPr id="11" name="Text 9"/>
          <p:cNvSpPr/>
          <p:nvPr/>
        </p:nvSpPr>
        <p:spPr>
          <a:xfrm>
            <a:off x="749808" y="2423160"/>
            <a:ext cx="6400800" cy="685800"/>
          </a:xfrm>
          <a:prstGeom prst="rect">
            <a:avLst/>
          </a:prstGeom>
          <a:noFill/>
          <a:ln/>
        </p:spPr>
        <p:txBody>
          <a:bodyPr wrap="square" lIns="0" tIns="0" rIns="0" bIns="0" rtlCol="0" anchor="ctr">
            <a:normAutofit/>
          </a:bodyPr>
          <a:lstStyle/>
          <a:p>
            <a:pPr marL="0" indent="0">
              <a:buNone/>
            </a:pPr>
            <a:r>
              <a:rPr lang="en-US" sz="1430" dirty="0">
                <a:solidFill>
                  <a:srgbClr val="52657A"/>
                </a:solidFill>
              </a:rPr>
              <a:t>A portfolio-scale Azure system that uses AI to turn noisy production incidents into grounded summaries, evidence-backed recommendations, and recoverable operations workflows.</a:t>
            </a:r>
            <a:endParaRPr lang="en-US" sz="1430" dirty="0"/>
          </a:p>
        </p:txBody>
      </p:sp>
      <p:sp>
        <p:nvSpPr>
          <p:cNvPr id="12" name="Text 10"/>
          <p:cNvSpPr/>
          <p:nvPr/>
        </p:nvSpPr>
        <p:spPr>
          <a:xfrm>
            <a:off x="749808" y="3456432"/>
            <a:ext cx="731520" cy="274320"/>
          </a:xfrm>
          <a:prstGeom prst="rect">
            <a:avLst/>
          </a:prstGeom>
          <a:solidFill>
            <a:srgbClr val="2563EB"/>
          </a:solidFill>
          <a:ln>
            <a:solidFill>
              <a:srgbClr val="2563EB">
                <a:alpha val="0"/>
              </a:srgbClr>
            </a:solidFill>
          </a:ln>
        </p:spPr>
        <p:txBody>
          <a:bodyPr wrap="square" lIns="254" tIns="254" rIns="254" bIns="254" rtlCol="0" anchor="ctr">
            <a:normAutofit/>
          </a:bodyPr>
          <a:lstStyle/>
          <a:p>
            <a:pPr marL="0" indent="0" algn="ctr">
              <a:buNone/>
            </a:pPr>
            <a:r>
              <a:rPr lang="en-US" sz="850" b="1" dirty="0">
                <a:solidFill>
                  <a:srgbClr val="FFFFFF"/>
                </a:solidFill>
              </a:rPr>
              <a:t>React</a:t>
            </a:r>
            <a:endParaRPr lang="en-US" sz="850" dirty="0"/>
          </a:p>
        </p:txBody>
      </p:sp>
      <p:sp>
        <p:nvSpPr>
          <p:cNvPr id="13" name="Text 11"/>
          <p:cNvSpPr/>
          <p:nvPr/>
        </p:nvSpPr>
        <p:spPr>
          <a:xfrm>
            <a:off x="1600200" y="3456432"/>
            <a:ext cx="731520" cy="274320"/>
          </a:xfrm>
          <a:prstGeom prst="rect">
            <a:avLst/>
          </a:prstGeom>
          <a:solidFill>
            <a:srgbClr val="12355B"/>
          </a:solidFill>
          <a:ln>
            <a:solidFill>
              <a:srgbClr val="12355B">
                <a:alpha val="0"/>
              </a:srgbClr>
            </a:solidFill>
          </a:ln>
        </p:spPr>
        <p:txBody>
          <a:bodyPr wrap="square" lIns="254" tIns="254" rIns="254" bIns="254" rtlCol="0" anchor="ctr">
            <a:normAutofit/>
          </a:bodyPr>
          <a:lstStyle/>
          <a:p>
            <a:pPr marL="0" indent="0" algn="ctr">
              <a:buNone/>
            </a:pPr>
            <a:r>
              <a:rPr lang="en-US" sz="850" b="1" dirty="0">
                <a:solidFill>
                  <a:srgbClr val="FFFFFF"/>
                </a:solidFill>
              </a:rPr>
              <a:t>.NET</a:t>
            </a:r>
            <a:endParaRPr lang="en-US" sz="850" dirty="0"/>
          </a:p>
        </p:txBody>
      </p:sp>
      <p:sp>
        <p:nvSpPr>
          <p:cNvPr id="14" name="Text 12"/>
          <p:cNvSpPr/>
          <p:nvPr/>
        </p:nvSpPr>
        <p:spPr>
          <a:xfrm>
            <a:off x="2450592" y="3456432"/>
            <a:ext cx="777240" cy="274320"/>
          </a:xfrm>
          <a:prstGeom prst="rect">
            <a:avLst/>
          </a:prstGeom>
          <a:solidFill>
            <a:srgbClr val="7C3AED"/>
          </a:solidFill>
          <a:ln>
            <a:solidFill>
              <a:srgbClr val="7C3AED">
                <a:alpha val="0"/>
              </a:srgbClr>
            </a:solidFill>
          </a:ln>
        </p:spPr>
        <p:txBody>
          <a:bodyPr wrap="square" lIns="254" tIns="254" rIns="254" bIns="254" rtlCol="0" anchor="ctr">
            <a:normAutofit/>
          </a:bodyPr>
          <a:lstStyle/>
          <a:p>
            <a:pPr marL="0" indent="0" algn="ctr">
              <a:buNone/>
            </a:pPr>
            <a:r>
              <a:rPr lang="en-US" sz="850" b="1" dirty="0">
                <a:solidFill>
                  <a:srgbClr val="FFFFFF"/>
                </a:solidFill>
              </a:rPr>
              <a:t>Azure</a:t>
            </a:r>
            <a:endParaRPr lang="en-US" sz="850" dirty="0"/>
          </a:p>
        </p:txBody>
      </p:sp>
      <p:sp>
        <p:nvSpPr>
          <p:cNvPr id="15" name="Text 13"/>
          <p:cNvSpPr/>
          <p:nvPr/>
        </p:nvSpPr>
        <p:spPr>
          <a:xfrm>
            <a:off x="3364992" y="3456432"/>
            <a:ext cx="658368" cy="274320"/>
          </a:xfrm>
          <a:prstGeom prst="rect">
            <a:avLst/>
          </a:prstGeom>
          <a:solidFill>
            <a:srgbClr val="14B8A6"/>
          </a:solidFill>
          <a:ln>
            <a:solidFill>
              <a:srgbClr val="14B8A6">
                <a:alpha val="0"/>
              </a:srgbClr>
            </a:solidFill>
          </a:ln>
        </p:spPr>
        <p:txBody>
          <a:bodyPr wrap="square" lIns="254" tIns="254" rIns="254" bIns="254" rtlCol="0" anchor="ctr">
            <a:normAutofit/>
          </a:bodyPr>
          <a:lstStyle/>
          <a:p>
            <a:pPr marL="0" indent="0" algn="ctr">
              <a:buNone/>
            </a:pPr>
            <a:r>
              <a:rPr lang="en-US" sz="850" b="1" dirty="0">
                <a:solidFill>
                  <a:srgbClr val="FFFFFF"/>
                </a:solidFill>
              </a:rPr>
              <a:t>RAG</a:t>
            </a:r>
            <a:endParaRPr lang="en-US" sz="850" dirty="0"/>
          </a:p>
        </p:txBody>
      </p:sp>
      <p:sp>
        <p:nvSpPr>
          <p:cNvPr id="16" name="Text 14"/>
          <p:cNvSpPr/>
          <p:nvPr/>
        </p:nvSpPr>
        <p:spPr>
          <a:xfrm>
            <a:off x="4160520" y="3456432"/>
            <a:ext cx="1417320" cy="274320"/>
          </a:xfrm>
          <a:prstGeom prst="rect">
            <a:avLst/>
          </a:prstGeom>
          <a:solidFill>
            <a:srgbClr val="FBBF24"/>
          </a:solidFill>
          <a:ln>
            <a:solidFill>
              <a:srgbClr val="FBBF24">
                <a:alpha val="0"/>
              </a:srgbClr>
            </a:solidFill>
          </a:ln>
        </p:spPr>
        <p:txBody>
          <a:bodyPr wrap="square" lIns="254" tIns="254" rIns="254" bIns="254" rtlCol="0" anchor="ctr">
            <a:normAutofit/>
          </a:bodyPr>
          <a:lstStyle/>
          <a:p>
            <a:pPr marL="0" indent="0" algn="ctr">
              <a:buNone/>
            </a:pPr>
            <a:r>
              <a:rPr lang="en-US" sz="850" b="1" dirty="0">
                <a:solidFill>
                  <a:srgbClr val="0B1F33"/>
                </a:solidFill>
              </a:rPr>
              <a:t>OpenTelemetry</a:t>
            </a:r>
            <a:endParaRPr lang="en-US" sz="850" dirty="0"/>
          </a:p>
        </p:txBody>
      </p:sp>
      <p:sp>
        <p:nvSpPr>
          <p:cNvPr id="17" name="Shape 15"/>
          <p:cNvSpPr/>
          <p:nvPr/>
        </p:nvSpPr>
        <p:spPr>
          <a:xfrm>
            <a:off x="7498080" y="960120"/>
            <a:ext cx="3566160" cy="2880360"/>
          </a:xfrm>
          <a:prstGeom prst="roundRect">
            <a:avLst>
              <a:gd name="adj" fmla="val 3810"/>
            </a:avLst>
          </a:prstGeom>
          <a:solidFill>
            <a:srgbClr val="FFFFFF"/>
          </a:solidFill>
          <a:ln w="12700">
            <a:solidFill>
              <a:srgbClr val="C9DCEB">
                <a:alpha val="85000"/>
              </a:srgbClr>
            </a:solidFill>
            <a:prstDash val="solid"/>
          </a:ln>
          <a:effectLst>
            <a:outerShdw blurRad="19050" dist="50800" dir="2700000" algn="bl" rotWithShape="0">
              <a:srgbClr val="B9CFE0">
                <a:alpha val="13000"/>
              </a:srgbClr>
            </a:outerShdw>
          </a:effectLst>
        </p:spPr>
        <p:txBody>
          <a:bodyPr/>
          <a:lstStyle/>
          <a:p>
            <a:endParaRPr lang="en-GB"/>
          </a:p>
        </p:txBody>
      </p:sp>
      <p:sp>
        <p:nvSpPr>
          <p:cNvPr id="18" name="Shape 16"/>
          <p:cNvSpPr/>
          <p:nvPr/>
        </p:nvSpPr>
        <p:spPr>
          <a:xfrm>
            <a:off x="7498080" y="960120"/>
            <a:ext cx="73152" cy="2880360"/>
          </a:xfrm>
          <a:prstGeom prst="rect">
            <a:avLst/>
          </a:prstGeom>
          <a:solidFill>
            <a:srgbClr val="14B8A6"/>
          </a:solidFill>
          <a:ln w="12700">
            <a:solidFill>
              <a:srgbClr val="14B8A6">
                <a:alpha val="0"/>
              </a:srgbClr>
            </a:solidFill>
            <a:prstDash val="solid"/>
          </a:ln>
        </p:spPr>
        <p:txBody>
          <a:bodyPr/>
          <a:lstStyle/>
          <a:p>
            <a:endParaRPr lang="en-GB"/>
          </a:p>
        </p:txBody>
      </p:sp>
      <p:sp>
        <p:nvSpPr>
          <p:cNvPr id="19" name="Text 17"/>
          <p:cNvSpPr/>
          <p:nvPr/>
        </p:nvSpPr>
        <p:spPr>
          <a:xfrm>
            <a:off x="7717536" y="1124712"/>
            <a:ext cx="3218688" cy="274320"/>
          </a:xfrm>
          <a:prstGeom prst="rect">
            <a:avLst/>
          </a:prstGeom>
          <a:noFill/>
          <a:ln/>
        </p:spPr>
        <p:txBody>
          <a:bodyPr wrap="square" lIns="0" tIns="0" rIns="0" bIns="0" rtlCol="0" anchor="ctr">
            <a:normAutofit/>
          </a:bodyPr>
          <a:lstStyle/>
          <a:p>
            <a:pPr marL="0" indent="0">
              <a:buNone/>
            </a:pPr>
            <a:r>
              <a:rPr lang="en-US" sz="1400" b="1" dirty="0">
                <a:solidFill>
                  <a:srgbClr val="0B1F33"/>
                </a:solidFill>
                <a:latin typeface="Aptos Display" pitchFamily="34" charset="0"/>
                <a:ea typeface="Aptos Display" pitchFamily="34" charset="-122"/>
                <a:cs typeface="Aptos Display" pitchFamily="34" charset="-120"/>
              </a:rPr>
              <a:t>What the demo proves</a:t>
            </a:r>
            <a:endParaRPr lang="en-US" sz="1400" dirty="0"/>
          </a:p>
        </p:txBody>
      </p:sp>
      <p:sp>
        <p:nvSpPr>
          <p:cNvPr id="20" name="Text 18"/>
          <p:cNvSpPr/>
          <p:nvPr/>
        </p:nvSpPr>
        <p:spPr>
          <a:xfrm>
            <a:off x="7717536" y="1527048"/>
            <a:ext cx="3218688" cy="2167128"/>
          </a:xfrm>
          <a:prstGeom prst="rect">
            <a:avLst/>
          </a:prstGeom>
          <a:noFill/>
          <a:ln/>
        </p:spPr>
        <p:txBody>
          <a:bodyPr wrap="square" lIns="0" tIns="0" rIns="0" bIns="0" rtlCol="0" anchor="ctr">
            <a:normAutofit/>
          </a:bodyPr>
          <a:lstStyle/>
          <a:p>
            <a:pPr marL="0" indent="0">
              <a:buNone/>
            </a:pPr>
            <a:r>
              <a:rPr lang="en-US" sz="1100" dirty="0">
                <a:solidFill>
                  <a:srgbClr val="52657A"/>
                </a:solidFill>
              </a:rPr>
              <a:t>Authenticated operational workflow</a:t>
            </a:r>
            <a:endParaRPr lang="en-US" sz="1100" dirty="0"/>
          </a:p>
          <a:p>
            <a:pPr marL="0" indent="0">
              <a:buNone/>
            </a:pPr>
            <a:r>
              <a:rPr lang="en-US" sz="1100" dirty="0">
                <a:solidFill>
                  <a:srgbClr val="52657A"/>
                </a:solidFill>
              </a:rPr>
              <a:t>Grounded RAG analysis and Assistant</a:t>
            </a:r>
            <a:endParaRPr lang="en-US" sz="1100" dirty="0"/>
          </a:p>
          <a:p>
            <a:pPr marL="0" indent="0">
              <a:buNone/>
            </a:pPr>
            <a:r>
              <a:rPr lang="en-US" sz="1100" dirty="0">
                <a:solidFill>
                  <a:srgbClr val="52657A"/>
                </a:solidFill>
              </a:rPr>
              <a:t>Transactional outbox + Service Bus</a:t>
            </a:r>
            <a:endParaRPr lang="en-US" sz="1100" dirty="0"/>
          </a:p>
          <a:p>
            <a:pPr marL="0" indent="0">
              <a:buNone/>
            </a:pPr>
            <a:r>
              <a:rPr lang="en-US" sz="1100" dirty="0">
                <a:solidFill>
                  <a:srgbClr val="52657A"/>
                </a:solidFill>
              </a:rPr>
              <a:t>Admin recovery + Azure observability</a:t>
            </a:r>
            <a:endParaRPr lang="en-US" sz="1100" dirty="0"/>
          </a:p>
          <a:p>
            <a:pPr marL="0" indent="0">
              <a:buNone/>
            </a:pPr>
            <a:r>
              <a:rPr lang="en-US" sz="1100" dirty="0">
                <a:solidFill>
                  <a:srgbClr val="52657A"/>
                </a:solidFill>
              </a:rPr>
              <a:t>KEDA scaling from queue depth</a:t>
            </a:r>
            <a:endParaRPr lang="en-US" sz="1100" dirty="0"/>
          </a:p>
        </p:txBody>
      </p:sp>
      <p:sp>
        <p:nvSpPr>
          <p:cNvPr id="21" name="Shape 19"/>
          <p:cNvSpPr/>
          <p:nvPr/>
        </p:nvSpPr>
        <p:spPr>
          <a:xfrm>
            <a:off x="749808" y="5010912"/>
            <a:ext cx="4114800" cy="731520"/>
          </a:xfrm>
          <a:prstGeom prst="roundRect">
            <a:avLst>
              <a:gd name="adj" fmla="val 12500"/>
            </a:avLst>
          </a:prstGeom>
          <a:solidFill>
            <a:srgbClr val="F8FCFF"/>
          </a:solidFill>
          <a:ln w="12700">
            <a:solidFill>
              <a:srgbClr val="22C55E">
                <a:alpha val="55000"/>
              </a:srgbClr>
            </a:solidFill>
            <a:prstDash val="solid"/>
          </a:ln>
        </p:spPr>
        <p:txBody>
          <a:bodyPr/>
          <a:lstStyle/>
          <a:p>
            <a:endParaRPr lang="en-GB" dirty="0"/>
          </a:p>
        </p:txBody>
      </p:sp>
      <p:sp>
        <p:nvSpPr>
          <p:cNvPr id="22" name="Text 20"/>
          <p:cNvSpPr/>
          <p:nvPr/>
        </p:nvSpPr>
        <p:spPr>
          <a:xfrm>
            <a:off x="978408" y="5148072"/>
            <a:ext cx="3657600" cy="256032"/>
          </a:xfrm>
          <a:prstGeom prst="rect">
            <a:avLst/>
          </a:prstGeom>
          <a:noFill/>
          <a:ln/>
        </p:spPr>
        <p:txBody>
          <a:bodyPr wrap="square" lIns="0" tIns="0" rIns="0" bIns="0" rtlCol="0" anchor="ctr">
            <a:normAutofit/>
          </a:bodyPr>
          <a:lstStyle/>
          <a:p>
            <a:pPr marL="0" indent="0">
              <a:buNone/>
            </a:pPr>
            <a:r>
              <a:rPr lang="en-US" sz="1040" b="1" dirty="0">
                <a:solidFill>
                  <a:srgbClr val="22C55E"/>
                </a:solidFill>
              </a:rPr>
              <a:t>Video Demonstration</a:t>
            </a:r>
            <a:endParaRPr lang="en-US" sz="1040" dirty="0"/>
          </a:p>
        </p:txBody>
      </p:sp>
      <p:sp>
        <p:nvSpPr>
          <p:cNvPr id="23" name="Text 21"/>
          <p:cNvSpPr/>
          <p:nvPr/>
        </p:nvSpPr>
        <p:spPr>
          <a:xfrm>
            <a:off x="978408" y="5449824"/>
            <a:ext cx="3657600" cy="228600"/>
          </a:xfrm>
          <a:prstGeom prst="rect">
            <a:avLst/>
          </a:prstGeom>
          <a:noFill/>
          <a:ln/>
        </p:spPr>
        <p:txBody>
          <a:bodyPr wrap="square" lIns="0" tIns="0" rIns="0" bIns="0" rtlCol="0" anchor="ctr">
            <a:normAutofit/>
          </a:bodyPr>
          <a:lstStyle/>
          <a:p>
            <a:pPr marL="0" indent="0">
              <a:buNone/>
            </a:pPr>
            <a:r>
              <a:rPr lang="en-US" sz="830" dirty="0">
                <a:solidFill>
                  <a:srgbClr val="52657A"/>
                </a:solidFill>
              </a:rPr>
              <a:t>Video Demo after this slide, then for more info see the slides after</a:t>
            </a:r>
            <a:endParaRPr lang="en-US" sz="830" dirty="0"/>
          </a:p>
        </p:txBody>
      </p:sp>
      <p:sp>
        <p:nvSpPr>
          <p:cNvPr id="24" name="Text 22"/>
          <p:cNvSpPr/>
          <p:nvPr/>
        </p:nvSpPr>
        <p:spPr>
          <a:xfrm>
            <a:off x="7635240" y="4315968"/>
            <a:ext cx="1463040" cy="393192"/>
          </a:xfrm>
          <a:prstGeom prst="rect">
            <a:avLst/>
          </a:prstGeom>
          <a:noFill/>
          <a:ln/>
        </p:spPr>
        <p:txBody>
          <a:bodyPr wrap="square" lIns="0" tIns="0" rIns="0" bIns="0" rtlCol="0" anchor="ctr"/>
          <a:lstStyle/>
          <a:p>
            <a:pPr marL="0" indent="0" algn="ctr">
              <a:buNone/>
            </a:pPr>
            <a:r>
              <a:rPr lang="en-US" sz="1900" b="1" dirty="0">
                <a:solidFill>
                  <a:srgbClr val="14B8A6"/>
                </a:solidFill>
                <a:latin typeface="Aptos Display" pitchFamily="34" charset="0"/>
                <a:ea typeface="Aptos Display" pitchFamily="34" charset="-122"/>
                <a:cs typeface="Aptos Display" pitchFamily="34" charset="-120"/>
              </a:rPr>
              <a:t>1–3</a:t>
            </a:r>
            <a:endParaRPr lang="en-US" sz="1900" dirty="0"/>
          </a:p>
        </p:txBody>
      </p:sp>
      <p:sp>
        <p:nvSpPr>
          <p:cNvPr id="25" name="Text 23"/>
          <p:cNvSpPr/>
          <p:nvPr/>
        </p:nvSpPr>
        <p:spPr>
          <a:xfrm>
            <a:off x="7635240" y="4727448"/>
            <a:ext cx="1463040" cy="310896"/>
          </a:xfrm>
          <a:prstGeom prst="rect">
            <a:avLst/>
          </a:prstGeom>
          <a:noFill/>
          <a:ln/>
        </p:spPr>
        <p:txBody>
          <a:bodyPr wrap="square" lIns="0" tIns="0" rIns="0" bIns="0" rtlCol="0" anchor="ctr">
            <a:normAutofit/>
          </a:bodyPr>
          <a:lstStyle/>
          <a:p>
            <a:pPr marL="0" indent="0" algn="ctr">
              <a:buNone/>
            </a:pPr>
            <a:r>
              <a:rPr lang="en-US" sz="850" dirty="0">
                <a:solidFill>
                  <a:srgbClr val="52657A"/>
                </a:solidFill>
              </a:rPr>
              <a:t>Worker replicas</a:t>
            </a:r>
            <a:endParaRPr lang="en-US" sz="850" dirty="0"/>
          </a:p>
        </p:txBody>
      </p:sp>
      <p:sp>
        <p:nvSpPr>
          <p:cNvPr id="26" name="Text 24"/>
          <p:cNvSpPr/>
          <p:nvPr/>
        </p:nvSpPr>
        <p:spPr>
          <a:xfrm>
            <a:off x="9144000" y="4315968"/>
            <a:ext cx="1463040" cy="393192"/>
          </a:xfrm>
          <a:prstGeom prst="rect">
            <a:avLst/>
          </a:prstGeom>
          <a:noFill/>
          <a:ln/>
        </p:spPr>
        <p:txBody>
          <a:bodyPr wrap="square" lIns="0" tIns="0" rIns="0" bIns="0" rtlCol="0" anchor="ctr"/>
          <a:lstStyle/>
          <a:p>
            <a:pPr marL="0" indent="0" algn="ctr">
              <a:buNone/>
            </a:pPr>
            <a:r>
              <a:rPr lang="en-US" sz="1900" b="1" dirty="0">
                <a:solidFill>
                  <a:srgbClr val="2563EB"/>
                </a:solidFill>
                <a:latin typeface="Aptos Display" pitchFamily="34" charset="0"/>
                <a:ea typeface="Aptos Display" pitchFamily="34" charset="-122"/>
                <a:cs typeface="Aptos Display" pitchFamily="34" charset="-120"/>
              </a:rPr>
              <a:t>HI / RB</a:t>
            </a:r>
            <a:endParaRPr lang="en-US" sz="1900" dirty="0"/>
          </a:p>
        </p:txBody>
      </p:sp>
      <p:sp>
        <p:nvSpPr>
          <p:cNvPr id="27" name="Text 25"/>
          <p:cNvSpPr/>
          <p:nvPr/>
        </p:nvSpPr>
        <p:spPr>
          <a:xfrm>
            <a:off x="9144000" y="4727448"/>
            <a:ext cx="1463040" cy="310896"/>
          </a:xfrm>
          <a:prstGeom prst="rect">
            <a:avLst/>
          </a:prstGeom>
          <a:noFill/>
          <a:ln/>
        </p:spPr>
        <p:txBody>
          <a:bodyPr wrap="square" lIns="0" tIns="0" rIns="0" bIns="0" rtlCol="0" anchor="ctr">
            <a:normAutofit/>
          </a:bodyPr>
          <a:lstStyle/>
          <a:p>
            <a:pPr marL="0" indent="0" algn="ctr">
              <a:buNone/>
            </a:pPr>
            <a:r>
              <a:rPr lang="en-US" sz="850" dirty="0">
                <a:solidFill>
                  <a:srgbClr val="52657A"/>
                </a:solidFill>
              </a:rPr>
              <a:t>Grounded evidence</a:t>
            </a:r>
            <a:endParaRPr lang="en-US" sz="850" dirty="0"/>
          </a:p>
        </p:txBody>
      </p:sp>
      <p:sp>
        <p:nvSpPr>
          <p:cNvPr id="28" name="Text 26"/>
          <p:cNvSpPr/>
          <p:nvPr/>
        </p:nvSpPr>
        <p:spPr>
          <a:xfrm>
            <a:off x="10652760" y="4315968"/>
            <a:ext cx="1463040" cy="393192"/>
          </a:xfrm>
          <a:prstGeom prst="rect">
            <a:avLst/>
          </a:prstGeom>
          <a:noFill/>
          <a:ln/>
        </p:spPr>
        <p:txBody>
          <a:bodyPr wrap="square" lIns="0" tIns="0" rIns="0" bIns="0" rtlCol="0" anchor="ctr"/>
          <a:lstStyle/>
          <a:p>
            <a:pPr marL="0" indent="0" algn="ctr">
              <a:buNone/>
            </a:pPr>
            <a:r>
              <a:rPr lang="en-US" sz="1900" b="1" dirty="0">
                <a:solidFill>
                  <a:srgbClr val="7C3AED"/>
                </a:solidFill>
                <a:latin typeface="Aptos Display" pitchFamily="34" charset="0"/>
                <a:ea typeface="Aptos Display" pitchFamily="34" charset="-122"/>
                <a:cs typeface="Aptos Display" pitchFamily="34" charset="-120"/>
              </a:rPr>
              <a:t>OIDC</a:t>
            </a:r>
            <a:endParaRPr lang="en-US" sz="1900" dirty="0"/>
          </a:p>
        </p:txBody>
      </p:sp>
      <p:sp>
        <p:nvSpPr>
          <p:cNvPr id="29" name="Text 27"/>
          <p:cNvSpPr/>
          <p:nvPr/>
        </p:nvSpPr>
        <p:spPr>
          <a:xfrm>
            <a:off x="10652760" y="4727448"/>
            <a:ext cx="1463040" cy="310896"/>
          </a:xfrm>
          <a:prstGeom prst="rect">
            <a:avLst/>
          </a:prstGeom>
          <a:noFill/>
          <a:ln/>
        </p:spPr>
        <p:txBody>
          <a:bodyPr wrap="square" lIns="0" tIns="0" rIns="0" bIns="0" rtlCol="0" anchor="ctr">
            <a:normAutofit/>
          </a:bodyPr>
          <a:lstStyle/>
          <a:p>
            <a:pPr marL="0" indent="0" algn="ctr">
              <a:buNone/>
            </a:pPr>
            <a:r>
              <a:rPr lang="en-US" sz="850" dirty="0">
                <a:solidFill>
                  <a:srgbClr val="52657A"/>
                </a:solidFill>
              </a:rPr>
              <a:t>CI/CD auth</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BFF"/>
        </a:solidFill>
        <a:effectLst/>
      </p:bgPr>
    </p:bg>
    <p:spTree>
      <p:nvGrpSpPr>
        <p:cNvPr id="1" name=""/>
        <p:cNvGrpSpPr/>
        <p:nvPr/>
      </p:nvGrpSpPr>
      <p:grpSpPr>
        <a:xfrm>
          <a:off x="0" y="0"/>
          <a:ext cx="0" cy="0"/>
          <a:chOff x="0" y="0"/>
          <a:chExt cx="0" cy="0"/>
        </a:xfrm>
      </p:grpSpPr>
      <p:sp>
        <p:nvSpPr>
          <p:cNvPr id="2" name="Shape 0"/>
          <p:cNvSpPr/>
          <p:nvPr/>
        </p:nvSpPr>
        <p:spPr>
          <a:xfrm>
            <a:off x="-1143000" y="-1143000"/>
            <a:ext cx="3749040" cy="3749040"/>
          </a:xfrm>
          <a:prstGeom prst="arc">
            <a:avLst/>
          </a:prstGeom>
          <a:solidFill>
            <a:srgbClr val="E6FFFA">
              <a:alpha val="94000"/>
            </a:srgbClr>
          </a:solidFill>
          <a:ln w="12700">
            <a:solidFill>
              <a:srgbClr val="E6FFFA">
                <a:alpha val="0"/>
              </a:srgbClr>
            </a:solidFill>
            <a:prstDash val="solid"/>
          </a:ln>
        </p:spPr>
        <p:txBody>
          <a:bodyPr/>
          <a:lstStyle/>
          <a:p>
            <a:endParaRPr lang="en-GB"/>
          </a:p>
        </p:txBody>
      </p:sp>
      <p:sp>
        <p:nvSpPr>
          <p:cNvPr id="3" name="Shape 1"/>
          <p:cNvSpPr/>
          <p:nvPr/>
        </p:nvSpPr>
        <p:spPr>
          <a:xfrm>
            <a:off x="10012680" y="-685800"/>
            <a:ext cx="2926080" cy="2926080"/>
          </a:xfrm>
          <a:prstGeom prst="ellipse">
            <a:avLst/>
          </a:prstGeom>
          <a:solidFill>
            <a:srgbClr val="EAF5FF">
              <a:alpha val="95000"/>
            </a:srgbClr>
          </a:solidFill>
          <a:ln w="12700">
            <a:solidFill>
              <a:srgbClr val="EAF5FF">
                <a:alpha val="0"/>
              </a:srgbClr>
            </a:solidFill>
            <a:prstDash val="solid"/>
          </a:ln>
        </p:spPr>
        <p:txBody>
          <a:bodyPr/>
          <a:lstStyle/>
          <a:p>
            <a:endParaRPr lang="en-GB"/>
          </a:p>
        </p:txBody>
      </p:sp>
      <p:sp>
        <p:nvSpPr>
          <p:cNvPr id="4" name="Shape 2"/>
          <p:cNvSpPr/>
          <p:nvPr/>
        </p:nvSpPr>
        <p:spPr>
          <a:xfrm>
            <a:off x="10652760" y="5120640"/>
            <a:ext cx="2011680" cy="2011680"/>
          </a:xfrm>
          <a:prstGeom prst="ellipse">
            <a:avLst/>
          </a:prstGeom>
          <a:solidFill>
            <a:srgbClr val="E6FFFA">
              <a:alpha val="76000"/>
            </a:srgbClr>
          </a:solidFill>
          <a:ln w="12700">
            <a:solidFill>
              <a:srgbClr val="E6FFFA">
                <a:alpha val="0"/>
              </a:srgbClr>
            </a:solidFill>
            <a:prstDash val="solid"/>
          </a:ln>
        </p:spPr>
        <p:txBody>
          <a:bodyPr/>
          <a:lstStyle/>
          <a:p>
            <a:endParaRPr lang="en-GB"/>
          </a:p>
        </p:txBody>
      </p:sp>
      <p:sp>
        <p:nvSpPr>
          <p:cNvPr id="5" name="Shape 3"/>
          <p:cNvSpPr/>
          <p:nvPr/>
        </p:nvSpPr>
        <p:spPr>
          <a:xfrm>
            <a:off x="0" y="0"/>
            <a:ext cx="12191695" cy="100584"/>
          </a:xfrm>
          <a:prstGeom prst="rect">
            <a:avLst/>
          </a:prstGeom>
          <a:solidFill>
            <a:srgbClr val="14B8A6"/>
          </a:solidFill>
          <a:ln w="12700">
            <a:solidFill>
              <a:srgbClr val="14B8A6">
                <a:alpha val="0"/>
              </a:srgbClr>
            </a:solidFill>
            <a:prstDash val="solid"/>
          </a:ln>
        </p:spPr>
        <p:txBody>
          <a:bodyPr/>
          <a:lstStyle/>
          <a:p>
            <a:endParaRPr lang="en-GB"/>
          </a:p>
        </p:txBody>
      </p:sp>
      <p:sp>
        <p:nvSpPr>
          <p:cNvPr id="6" name="Text 4"/>
          <p:cNvSpPr/>
          <p:nvPr/>
        </p:nvSpPr>
        <p:spPr>
          <a:xfrm>
            <a:off x="548640" y="6336792"/>
            <a:ext cx="1828800" cy="201168"/>
          </a:xfrm>
          <a:prstGeom prst="rect">
            <a:avLst/>
          </a:prstGeom>
          <a:noFill/>
          <a:ln/>
        </p:spPr>
        <p:txBody>
          <a:bodyPr wrap="square" lIns="0" tIns="0" rIns="0" bIns="0" rtlCol="0" anchor="ctr"/>
          <a:lstStyle/>
          <a:p>
            <a:pPr marL="0" indent="0">
              <a:buNone/>
            </a:pPr>
            <a:r>
              <a:rPr lang="en-US" sz="850" b="1" dirty="0">
                <a:solidFill>
                  <a:srgbClr val="12355B"/>
                </a:solidFill>
              </a:rPr>
              <a:t>IncidentIQ</a:t>
            </a:r>
            <a:endParaRPr lang="en-US" sz="850" dirty="0"/>
          </a:p>
        </p:txBody>
      </p:sp>
      <p:sp>
        <p:nvSpPr>
          <p:cNvPr id="7" name="Text 5"/>
          <p:cNvSpPr/>
          <p:nvPr/>
        </p:nvSpPr>
        <p:spPr>
          <a:xfrm>
            <a:off x="1874520" y="6336792"/>
            <a:ext cx="4572000" cy="201168"/>
          </a:xfrm>
          <a:prstGeom prst="rect">
            <a:avLst/>
          </a:prstGeom>
          <a:noFill/>
          <a:ln/>
        </p:spPr>
        <p:txBody>
          <a:bodyPr wrap="square" lIns="0" tIns="0" rIns="0" bIns="0" rtlCol="0" anchor="ctr"/>
          <a:lstStyle/>
          <a:p>
            <a:pPr marL="0" indent="0">
              <a:buNone/>
            </a:pPr>
            <a:r>
              <a:rPr lang="en-US" sz="850" dirty="0">
                <a:solidFill>
                  <a:srgbClr val="64748B"/>
                </a:solidFill>
              </a:rPr>
              <a:t>Product overview</a:t>
            </a:r>
            <a:endParaRPr lang="en-US" sz="850" dirty="0"/>
          </a:p>
        </p:txBody>
      </p:sp>
      <p:sp>
        <p:nvSpPr>
          <p:cNvPr id="8" name="Text 6"/>
          <p:cNvSpPr/>
          <p:nvPr/>
        </p:nvSpPr>
        <p:spPr>
          <a:xfrm>
            <a:off x="11155680" y="6291072"/>
            <a:ext cx="457200" cy="228600"/>
          </a:xfrm>
          <a:prstGeom prst="rect">
            <a:avLst/>
          </a:prstGeom>
          <a:noFill/>
          <a:ln/>
        </p:spPr>
        <p:txBody>
          <a:bodyPr wrap="square" lIns="0" tIns="0" rIns="0" bIns="0" rtlCol="0" anchor="ctr"/>
          <a:lstStyle/>
          <a:p>
            <a:pPr marL="0" indent="0" algn="r">
              <a:buNone/>
            </a:pPr>
            <a:r>
              <a:rPr lang="en-US" sz="850" b="1" dirty="0">
                <a:solidFill>
                  <a:srgbClr val="14B8A6"/>
                </a:solidFill>
              </a:rPr>
              <a:t>02</a:t>
            </a:r>
            <a:endParaRPr lang="en-US" sz="850" dirty="0"/>
          </a:p>
        </p:txBody>
      </p:sp>
      <p:sp>
        <p:nvSpPr>
          <p:cNvPr id="9" name="Text 7"/>
          <p:cNvSpPr/>
          <p:nvPr/>
        </p:nvSpPr>
        <p:spPr>
          <a:xfrm>
            <a:off x="685800" y="603504"/>
            <a:ext cx="5486400" cy="219456"/>
          </a:xfrm>
          <a:prstGeom prst="rect">
            <a:avLst/>
          </a:prstGeom>
          <a:noFill/>
          <a:ln/>
        </p:spPr>
        <p:txBody>
          <a:bodyPr wrap="square" lIns="0" tIns="0" rIns="0" bIns="0" rtlCol="0" anchor="ctr"/>
          <a:lstStyle/>
          <a:p>
            <a:pPr marL="0" indent="0">
              <a:buNone/>
            </a:pPr>
            <a:r>
              <a:rPr lang="en-US" sz="850" b="1" dirty="0">
                <a:solidFill>
                  <a:srgbClr val="14B8A6"/>
                </a:solidFill>
              </a:rPr>
              <a:t>PRODUCT OVERVIEW</a:t>
            </a:r>
            <a:endParaRPr lang="en-US" sz="850" dirty="0"/>
          </a:p>
        </p:txBody>
      </p:sp>
      <p:sp>
        <p:nvSpPr>
          <p:cNvPr id="10" name="Text 8"/>
          <p:cNvSpPr/>
          <p:nvPr/>
        </p:nvSpPr>
        <p:spPr>
          <a:xfrm>
            <a:off x="685800" y="914400"/>
            <a:ext cx="9784080" cy="658368"/>
          </a:xfrm>
          <a:prstGeom prst="rect">
            <a:avLst/>
          </a:prstGeom>
          <a:noFill/>
          <a:ln/>
        </p:spPr>
        <p:txBody>
          <a:bodyPr wrap="square" lIns="0" tIns="0" rIns="0" bIns="0" rtlCol="0" anchor="ctr">
            <a:normAutofit/>
          </a:bodyPr>
          <a:lstStyle/>
          <a:p>
            <a:pPr marL="0" indent="0">
              <a:buNone/>
            </a:pPr>
            <a:r>
              <a:rPr lang="en-US" sz="3000" b="1" dirty="0">
                <a:solidFill>
                  <a:srgbClr val="0B1F33"/>
                </a:solidFill>
                <a:latin typeface="Aptos Display" pitchFamily="34" charset="0"/>
                <a:ea typeface="Aptos Display" pitchFamily="34" charset="-122"/>
                <a:cs typeface="Aptos Display" pitchFamily="34" charset="-120"/>
              </a:rPr>
              <a:t>From noisy incidents to grounded operational answers</a:t>
            </a:r>
            <a:endParaRPr lang="en-US" sz="3000" dirty="0"/>
          </a:p>
        </p:txBody>
      </p:sp>
      <p:sp>
        <p:nvSpPr>
          <p:cNvPr id="11" name="Text 9"/>
          <p:cNvSpPr/>
          <p:nvPr/>
        </p:nvSpPr>
        <p:spPr>
          <a:xfrm>
            <a:off x="685800" y="1682496"/>
            <a:ext cx="7863840" cy="420624"/>
          </a:xfrm>
          <a:prstGeom prst="rect">
            <a:avLst/>
          </a:prstGeom>
          <a:noFill/>
          <a:ln/>
        </p:spPr>
        <p:txBody>
          <a:bodyPr wrap="square" lIns="254" tIns="254" rIns="254" bIns="254" rtlCol="0" anchor="ctr">
            <a:normAutofit/>
          </a:bodyPr>
          <a:lstStyle/>
          <a:p>
            <a:pPr marL="0" indent="0">
              <a:buNone/>
            </a:pPr>
            <a:r>
              <a:rPr lang="en-US" sz="1320" dirty="0">
                <a:solidFill>
                  <a:srgbClr val="52657A"/>
                </a:solidFill>
              </a:rPr>
              <a:t>IncidentIQ helps engineers move from symptoms to evidence-backed action.</a:t>
            </a:r>
            <a:endParaRPr lang="en-US" sz="1320" dirty="0"/>
          </a:p>
        </p:txBody>
      </p:sp>
      <p:sp>
        <p:nvSpPr>
          <p:cNvPr id="12" name="Shape 10"/>
          <p:cNvSpPr/>
          <p:nvPr/>
        </p:nvSpPr>
        <p:spPr>
          <a:xfrm>
            <a:off x="749808" y="2286000"/>
            <a:ext cx="1965960" cy="621792"/>
          </a:xfrm>
          <a:prstGeom prst="roundRect">
            <a:avLst>
              <a:gd name="adj" fmla="val 11765"/>
            </a:avLst>
          </a:prstGeom>
          <a:solidFill>
            <a:srgbClr val="2563EB"/>
          </a:solidFill>
          <a:ln w="12700">
            <a:solidFill>
              <a:srgbClr val="2563EB">
                <a:alpha val="80000"/>
              </a:srgbClr>
            </a:solidFill>
            <a:prstDash val="solid"/>
          </a:ln>
          <a:effectLst>
            <a:outerShdw blurRad="15240" dist="50800" dir="2700000" algn="bl" rotWithShape="0">
              <a:srgbClr val="B8CDE0">
                <a:alpha val="11000"/>
              </a:srgbClr>
            </a:outerShdw>
          </a:effectLst>
        </p:spPr>
        <p:txBody>
          <a:bodyPr/>
          <a:lstStyle/>
          <a:p>
            <a:endParaRPr lang="en-GB"/>
          </a:p>
        </p:txBody>
      </p:sp>
      <p:sp>
        <p:nvSpPr>
          <p:cNvPr id="13" name="Text 11"/>
          <p:cNvSpPr/>
          <p:nvPr/>
        </p:nvSpPr>
        <p:spPr>
          <a:xfrm>
            <a:off x="822960" y="2395728"/>
            <a:ext cx="1819656" cy="420624"/>
          </a:xfrm>
          <a:prstGeom prst="rect">
            <a:avLst/>
          </a:prstGeom>
          <a:noFill/>
          <a:ln/>
        </p:spPr>
        <p:txBody>
          <a:bodyPr wrap="square" lIns="0" tIns="0" rIns="0" bIns="0" rtlCol="0" anchor="ctr">
            <a:normAutofit/>
          </a:bodyPr>
          <a:lstStyle/>
          <a:p>
            <a:pPr marL="0" indent="0" algn="ctr">
              <a:buNone/>
            </a:pPr>
            <a:r>
              <a:rPr lang="en-US" sz="1300" b="1" dirty="0">
                <a:solidFill>
                  <a:srgbClr val="FFFFFF"/>
                </a:solidFill>
                <a:latin typeface="Aptos Display" pitchFamily="34" charset="0"/>
                <a:ea typeface="Aptos Display" pitchFamily="34" charset="-122"/>
                <a:cs typeface="Aptos Display" pitchFamily="34" charset="-120"/>
              </a:rPr>
              <a:t>Submit</a:t>
            </a:r>
            <a:endParaRPr lang="en-US" sz="1300" dirty="0"/>
          </a:p>
        </p:txBody>
      </p:sp>
      <p:sp>
        <p:nvSpPr>
          <p:cNvPr id="14" name="Shape 12"/>
          <p:cNvSpPr/>
          <p:nvPr/>
        </p:nvSpPr>
        <p:spPr>
          <a:xfrm>
            <a:off x="749808" y="3054096"/>
            <a:ext cx="1965960" cy="1170432"/>
          </a:xfrm>
          <a:prstGeom prst="roundRect">
            <a:avLst>
              <a:gd name="adj" fmla="val 9375"/>
            </a:avLst>
          </a:prstGeom>
          <a:solidFill>
            <a:srgbClr val="FFFFFF"/>
          </a:solidFill>
          <a:ln w="12700">
            <a:solidFill>
              <a:srgbClr val="C9DCEB">
                <a:alpha val="85000"/>
              </a:srgbClr>
            </a:solidFill>
            <a:prstDash val="solid"/>
          </a:ln>
          <a:effectLst>
            <a:outerShdw blurRad="19050" dist="50800" dir="2700000" algn="bl" rotWithShape="0">
              <a:srgbClr val="B9CFE0">
                <a:alpha val="13000"/>
              </a:srgbClr>
            </a:outerShdw>
          </a:effectLst>
        </p:spPr>
        <p:txBody>
          <a:bodyPr/>
          <a:lstStyle/>
          <a:p>
            <a:endParaRPr lang="en-GB"/>
          </a:p>
        </p:txBody>
      </p:sp>
      <p:sp>
        <p:nvSpPr>
          <p:cNvPr id="15" name="Shape 13"/>
          <p:cNvSpPr/>
          <p:nvPr/>
        </p:nvSpPr>
        <p:spPr>
          <a:xfrm>
            <a:off x="749808" y="3054096"/>
            <a:ext cx="73152" cy="1170432"/>
          </a:xfrm>
          <a:prstGeom prst="rect">
            <a:avLst/>
          </a:prstGeom>
          <a:solidFill>
            <a:srgbClr val="2563EB"/>
          </a:solidFill>
          <a:ln w="12700">
            <a:solidFill>
              <a:srgbClr val="2563EB">
                <a:alpha val="0"/>
              </a:srgbClr>
            </a:solidFill>
            <a:prstDash val="solid"/>
          </a:ln>
        </p:spPr>
        <p:txBody>
          <a:bodyPr/>
          <a:lstStyle/>
          <a:p>
            <a:endParaRPr lang="en-GB"/>
          </a:p>
        </p:txBody>
      </p:sp>
      <p:sp>
        <p:nvSpPr>
          <p:cNvPr id="16" name="Text 14"/>
          <p:cNvSpPr/>
          <p:nvPr/>
        </p:nvSpPr>
        <p:spPr>
          <a:xfrm>
            <a:off x="969264" y="3218688"/>
            <a:ext cx="1618488" cy="274320"/>
          </a:xfrm>
          <a:prstGeom prst="rect">
            <a:avLst/>
          </a:prstGeom>
          <a:noFill/>
          <a:ln/>
        </p:spPr>
        <p:txBody>
          <a:bodyPr wrap="square" lIns="0" tIns="0" rIns="0" bIns="0" rtlCol="0" anchor="ctr">
            <a:normAutofit/>
          </a:bodyPr>
          <a:lstStyle/>
          <a:p>
            <a:pPr marL="0" indent="0">
              <a:buNone/>
            </a:pPr>
            <a:r>
              <a:rPr lang="en-US" sz="1050" b="1" dirty="0">
                <a:solidFill>
                  <a:srgbClr val="0B1F33"/>
                </a:solidFill>
                <a:latin typeface="Aptos Display" pitchFamily="34" charset="0"/>
                <a:ea typeface="Aptos Display" pitchFamily="34" charset="-122"/>
                <a:cs typeface="Aptos Display" pitchFamily="34" charset="-120"/>
              </a:rPr>
              <a:t>Outcome</a:t>
            </a:r>
            <a:endParaRPr lang="en-US" sz="1050" dirty="0"/>
          </a:p>
        </p:txBody>
      </p:sp>
      <p:sp>
        <p:nvSpPr>
          <p:cNvPr id="17" name="Text 15"/>
          <p:cNvSpPr/>
          <p:nvPr/>
        </p:nvSpPr>
        <p:spPr>
          <a:xfrm>
            <a:off x="969264" y="3621024"/>
            <a:ext cx="1618488" cy="457200"/>
          </a:xfrm>
          <a:prstGeom prst="rect">
            <a:avLst/>
          </a:prstGeom>
          <a:noFill/>
          <a:ln/>
        </p:spPr>
        <p:txBody>
          <a:bodyPr wrap="square" lIns="0" tIns="0" rIns="0" bIns="0" rtlCol="0" anchor="ctr">
            <a:normAutofit/>
          </a:bodyPr>
          <a:lstStyle/>
          <a:p>
            <a:pPr marL="0" indent="0">
              <a:buNone/>
            </a:pPr>
            <a:r>
              <a:rPr lang="en-US" sz="880" dirty="0">
                <a:solidFill>
                  <a:srgbClr val="52657A"/>
                </a:solidFill>
              </a:rPr>
              <a:t>Capture service, environment, severity and symptoms.</a:t>
            </a:r>
            <a:endParaRPr lang="en-US" sz="880" dirty="0"/>
          </a:p>
        </p:txBody>
      </p:sp>
      <p:sp>
        <p:nvSpPr>
          <p:cNvPr id="18" name="Shape 16"/>
          <p:cNvSpPr/>
          <p:nvPr/>
        </p:nvSpPr>
        <p:spPr>
          <a:xfrm>
            <a:off x="2715768" y="2596896"/>
            <a:ext cx="530352" cy="0"/>
          </a:xfrm>
          <a:prstGeom prst="line">
            <a:avLst/>
          </a:prstGeom>
          <a:noFill/>
          <a:ln w="17780">
            <a:solidFill>
              <a:srgbClr val="06B6D4"/>
            </a:solidFill>
            <a:prstDash val="solid"/>
            <a:headEnd type="none"/>
            <a:tailEnd type="triangle"/>
          </a:ln>
        </p:spPr>
        <p:txBody>
          <a:bodyPr/>
          <a:lstStyle/>
          <a:p>
            <a:endParaRPr lang="en-GB"/>
          </a:p>
        </p:txBody>
      </p:sp>
      <p:sp>
        <p:nvSpPr>
          <p:cNvPr id="19" name="Shape 17"/>
          <p:cNvSpPr/>
          <p:nvPr/>
        </p:nvSpPr>
        <p:spPr>
          <a:xfrm>
            <a:off x="3337560" y="2286000"/>
            <a:ext cx="1965960" cy="621792"/>
          </a:xfrm>
          <a:prstGeom prst="roundRect">
            <a:avLst>
              <a:gd name="adj" fmla="val 11765"/>
            </a:avLst>
          </a:prstGeom>
          <a:solidFill>
            <a:srgbClr val="14B8A6"/>
          </a:solidFill>
          <a:ln w="12700">
            <a:solidFill>
              <a:srgbClr val="14B8A6">
                <a:alpha val="80000"/>
              </a:srgbClr>
            </a:solidFill>
            <a:prstDash val="solid"/>
          </a:ln>
          <a:effectLst>
            <a:outerShdw blurRad="15240" dist="50800" dir="2700000" algn="bl" rotWithShape="0">
              <a:srgbClr val="B8CDE0">
                <a:alpha val="11000"/>
              </a:srgbClr>
            </a:outerShdw>
          </a:effectLst>
        </p:spPr>
        <p:txBody>
          <a:bodyPr/>
          <a:lstStyle/>
          <a:p>
            <a:endParaRPr lang="en-GB"/>
          </a:p>
        </p:txBody>
      </p:sp>
      <p:sp>
        <p:nvSpPr>
          <p:cNvPr id="20" name="Text 18"/>
          <p:cNvSpPr/>
          <p:nvPr/>
        </p:nvSpPr>
        <p:spPr>
          <a:xfrm>
            <a:off x="3410712" y="2395728"/>
            <a:ext cx="1819656" cy="420624"/>
          </a:xfrm>
          <a:prstGeom prst="rect">
            <a:avLst/>
          </a:prstGeom>
          <a:noFill/>
          <a:ln/>
        </p:spPr>
        <p:txBody>
          <a:bodyPr wrap="square" lIns="0" tIns="0" rIns="0" bIns="0" rtlCol="0" anchor="ctr">
            <a:normAutofit/>
          </a:bodyPr>
          <a:lstStyle/>
          <a:p>
            <a:pPr marL="0" indent="0" algn="ctr">
              <a:buNone/>
            </a:pPr>
            <a:r>
              <a:rPr lang="en-US" sz="1300" b="1" dirty="0">
                <a:solidFill>
                  <a:srgbClr val="FFFFFF"/>
                </a:solidFill>
                <a:latin typeface="Aptos Display" pitchFamily="34" charset="0"/>
                <a:ea typeface="Aptos Display" pitchFamily="34" charset="-122"/>
                <a:cs typeface="Aptos Display" pitchFamily="34" charset="-120"/>
              </a:rPr>
              <a:t>Retrieve</a:t>
            </a:r>
            <a:endParaRPr lang="en-US" sz="1300" dirty="0"/>
          </a:p>
        </p:txBody>
      </p:sp>
      <p:sp>
        <p:nvSpPr>
          <p:cNvPr id="21" name="Shape 19"/>
          <p:cNvSpPr/>
          <p:nvPr/>
        </p:nvSpPr>
        <p:spPr>
          <a:xfrm>
            <a:off x="3337560" y="3054096"/>
            <a:ext cx="1965960" cy="1170432"/>
          </a:xfrm>
          <a:prstGeom prst="roundRect">
            <a:avLst>
              <a:gd name="adj" fmla="val 9375"/>
            </a:avLst>
          </a:prstGeom>
          <a:solidFill>
            <a:srgbClr val="FFFFFF"/>
          </a:solidFill>
          <a:ln w="12700">
            <a:solidFill>
              <a:srgbClr val="C9DCEB">
                <a:alpha val="85000"/>
              </a:srgbClr>
            </a:solidFill>
            <a:prstDash val="solid"/>
          </a:ln>
          <a:effectLst>
            <a:outerShdw blurRad="19050" dist="50800" dir="2700000" algn="bl" rotWithShape="0">
              <a:srgbClr val="B9CFE0">
                <a:alpha val="13000"/>
              </a:srgbClr>
            </a:outerShdw>
          </a:effectLst>
        </p:spPr>
        <p:txBody>
          <a:bodyPr/>
          <a:lstStyle/>
          <a:p>
            <a:endParaRPr lang="en-GB"/>
          </a:p>
        </p:txBody>
      </p:sp>
      <p:sp>
        <p:nvSpPr>
          <p:cNvPr id="22" name="Shape 20"/>
          <p:cNvSpPr/>
          <p:nvPr/>
        </p:nvSpPr>
        <p:spPr>
          <a:xfrm>
            <a:off x="3337560" y="3054096"/>
            <a:ext cx="73152" cy="1170432"/>
          </a:xfrm>
          <a:prstGeom prst="rect">
            <a:avLst/>
          </a:prstGeom>
          <a:solidFill>
            <a:srgbClr val="14B8A6"/>
          </a:solidFill>
          <a:ln w="12700">
            <a:solidFill>
              <a:srgbClr val="14B8A6">
                <a:alpha val="0"/>
              </a:srgbClr>
            </a:solidFill>
            <a:prstDash val="solid"/>
          </a:ln>
        </p:spPr>
        <p:txBody>
          <a:bodyPr/>
          <a:lstStyle/>
          <a:p>
            <a:endParaRPr lang="en-GB"/>
          </a:p>
        </p:txBody>
      </p:sp>
      <p:sp>
        <p:nvSpPr>
          <p:cNvPr id="23" name="Text 21"/>
          <p:cNvSpPr/>
          <p:nvPr/>
        </p:nvSpPr>
        <p:spPr>
          <a:xfrm>
            <a:off x="3557016" y="3218688"/>
            <a:ext cx="1618488" cy="274320"/>
          </a:xfrm>
          <a:prstGeom prst="rect">
            <a:avLst/>
          </a:prstGeom>
          <a:noFill/>
          <a:ln/>
        </p:spPr>
        <p:txBody>
          <a:bodyPr wrap="square" lIns="0" tIns="0" rIns="0" bIns="0" rtlCol="0" anchor="ctr">
            <a:normAutofit/>
          </a:bodyPr>
          <a:lstStyle/>
          <a:p>
            <a:pPr marL="0" indent="0">
              <a:buNone/>
            </a:pPr>
            <a:r>
              <a:rPr lang="en-US" sz="1050" b="1" dirty="0">
                <a:solidFill>
                  <a:srgbClr val="0B1F33"/>
                </a:solidFill>
                <a:latin typeface="Aptos Display" pitchFamily="34" charset="0"/>
                <a:ea typeface="Aptos Display" pitchFamily="34" charset="-122"/>
                <a:cs typeface="Aptos Display" pitchFamily="34" charset="-120"/>
              </a:rPr>
              <a:t>Outcome</a:t>
            </a:r>
            <a:endParaRPr lang="en-US" sz="1050" dirty="0"/>
          </a:p>
        </p:txBody>
      </p:sp>
      <p:sp>
        <p:nvSpPr>
          <p:cNvPr id="24" name="Text 22"/>
          <p:cNvSpPr/>
          <p:nvPr/>
        </p:nvSpPr>
        <p:spPr>
          <a:xfrm>
            <a:off x="3557016" y="3621024"/>
            <a:ext cx="1618488" cy="457200"/>
          </a:xfrm>
          <a:prstGeom prst="rect">
            <a:avLst/>
          </a:prstGeom>
          <a:noFill/>
          <a:ln/>
        </p:spPr>
        <p:txBody>
          <a:bodyPr wrap="square" lIns="0" tIns="0" rIns="0" bIns="0" rtlCol="0" anchor="ctr">
            <a:normAutofit/>
          </a:bodyPr>
          <a:lstStyle/>
          <a:p>
            <a:pPr marL="0" indent="0">
              <a:buNone/>
            </a:pPr>
            <a:r>
              <a:rPr lang="en-US" sz="880" dirty="0">
                <a:solidFill>
                  <a:srgbClr val="52657A"/>
                </a:solidFill>
              </a:rPr>
              <a:t>Find related historical incidents and Runbook guidance.</a:t>
            </a:r>
            <a:endParaRPr lang="en-US" sz="880" dirty="0"/>
          </a:p>
        </p:txBody>
      </p:sp>
      <p:sp>
        <p:nvSpPr>
          <p:cNvPr id="25" name="Shape 23"/>
          <p:cNvSpPr/>
          <p:nvPr/>
        </p:nvSpPr>
        <p:spPr>
          <a:xfrm>
            <a:off x="5303520" y="2596896"/>
            <a:ext cx="530352" cy="0"/>
          </a:xfrm>
          <a:prstGeom prst="line">
            <a:avLst/>
          </a:prstGeom>
          <a:noFill/>
          <a:ln w="17780">
            <a:solidFill>
              <a:srgbClr val="06B6D4"/>
            </a:solidFill>
            <a:prstDash val="solid"/>
            <a:headEnd type="none"/>
            <a:tailEnd type="triangle"/>
          </a:ln>
        </p:spPr>
        <p:txBody>
          <a:bodyPr/>
          <a:lstStyle/>
          <a:p>
            <a:endParaRPr lang="en-GB"/>
          </a:p>
        </p:txBody>
      </p:sp>
      <p:sp>
        <p:nvSpPr>
          <p:cNvPr id="26" name="Shape 24"/>
          <p:cNvSpPr/>
          <p:nvPr/>
        </p:nvSpPr>
        <p:spPr>
          <a:xfrm>
            <a:off x="5925312" y="2286000"/>
            <a:ext cx="1965960" cy="621792"/>
          </a:xfrm>
          <a:prstGeom prst="roundRect">
            <a:avLst>
              <a:gd name="adj" fmla="val 11765"/>
            </a:avLst>
          </a:prstGeom>
          <a:solidFill>
            <a:srgbClr val="7C3AED"/>
          </a:solidFill>
          <a:ln w="12700">
            <a:solidFill>
              <a:srgbClr val="7C3AED">
                <a:alpha val="80000"/>
              </a:srgbClr>
            </a:solidFill>
            <a:prstDash val="solid"/>
          </a:ln>
          <a:effectLst>
            <a:outerShdw blurRad="15240" dist="50800" dir="2700000" algn="bl" rotWithShape="0">
              <a:srgbClr val="B8CDE0">
                <a:alpha val="11000"/>
              </a:srgbClr>
            </a:outerShdw>
          </a:effectLst>
        </p:spPr>
        <p:txBody>
          <a:bodyPr/>
          <a:lstStyle/>
          <a:p>
            <a:endParaRPr lang="en-GB"/>
          </a:p>
        </p:txBody>
      </p:sp>
      <p:sp>
        <p:nvSpPr>
          <p:cNvPr id="27" name="Text 25"/>
          <p:cNvSpPr/>
          <p:nvPr/>
        </p:nvSpPr>
        <p:spPr>
          <a:xfrm>
            <a:off x="5998464" y="2395728"/>
            <a:ext cx="1819656" cy="420624"/>
          </a:xfrm>
          <a:prstGeom prst="rect">
            <a:avLst/>
          </a:prstGeom>
          <a:noFill/>
          <a:ln/>
        </p:spPr>
        <p:txBody>
          <a:bodyPr wrap="square" lIns="0" tIns="0" rIns="0" bIns="0" rtlCol="0" anchor="ctr">
            <a:normAutofit/>
          </a:bodyPr>
          <a:lstStyle/>
          <a:p>
            <a:pPr marL="0" indent="0" algn="ctr">
              <a:buNone/>
            </a:pPr>
            <a:r>
              <a:rPr lang="en-US" sz="1300" b="1" dirty="0">
                <a:solidFill>
                  <a:srgbClr val="FFFFFF"/>
                </a:solidFill>
                <a:latin typeface="Aptos Display" pitchFamily="34" charset="0"/>
                <a:ea typeface="Aptos Display" pitchFamily="34" charset="-122"/>
                <a:cs typeface="Aptos Display" pitchFamily="34" charset="-120"/>
              </a:rPr>
              <a:t>Analyse</a:t>
            </a:r>
            <a:endParaRPr lang="en-US" sz="1300" dirty="0"/>
          </a:p>
        </p:txBody>
      </p:sp>
      <p:sp>
        <p:nvSpPr>
          <p:cNvPr id="28" name="Shape 26"/>
          <p:cNvSpPr/>
          <p:nvPr/>
        </p:nvSpPr>
        <p:spPr>
          <a:xfrm>
            <a:off x="5925312" y="3054096"/>
            <a:ext cx="1965960" cy="1170432"/>
          </a:xfrm>
          <a:prstGeom prst="roundRect">
            <a:avLst>
              <a:gd name="adj" fmla="val 9375"/>
            </a:avLst>
          </a:prstGeom>
          <a:solidFill>
            <a:srgbClr val="FFFFFF"/>
          </a:solidFill>
          <a:ln w="12700">
            <a:solidFill>
              <a:srgbClr val="C9DCEB">
                <a:alpha val="85000"/>
              </a:srgbClr>
            </a:solidFill>
            <a:prstDash val="solid"/>
          </a:ln>
          <a:effectLst>
            <a:outerShdw blurRad="19050" dist="50800" dir="2700000" algn="bl" rotWithShape="0">
              <a:srgbClr val="B9CFE0">
                <a:alpha val="13000"/>
              </a:srgbClr>
            </a:outerShdw>
          </a:effectLst>
        </p:spPr>
        <p:txBody>
          <a:bodyPr/>
          <a:lstStyle/>
          <a:p>
            <a:endParaRPr lang="en-GB"/>
          </a:p>
        </p:txBody>
      </p:sp>
      <p:sp>
        <p:nvSpPr>
          <p:cNvPr id="29" name="Shape 27"/>
          <p:cNvSpPr/>
          <p:nvPr/>
        </p:nvSpPr>
        <p:spPr>
          <a:xfrm>
            <a:off x="5925312" y="3054096"/>
            <a:ext cx="73152" cy="1170432"/>
          </a:xfrm>
          <a:prstGeom prst="rect">
            <a:avLst/>
          </a:prstGeom>
          <a:solidFill>
            <a:srgbClr val="7C3AED"/>
          </a:solidFill>
          <a:ln w="12700">
            <a:solidFill>
              <a:srgbClr val="7C3AED">
                <a:alpha val="0"/>
              </a:srgbClr>
            </a:solidFill>
            <a:prstDash val="solid"/>
          </a:ln>
        </p:spPr>
        <p:txBody>
          <a:bodyPr/>
          <a:lstStyle/>
          <a:p>
            <a:endParaRPr lang="en-GB"/>
          </a:p>
        </p:txBody>
      </p:sp>
      <p:sp>
        <p:nvSpPr>
          <p:cNvPr id="30" name="Text 28"/>
          <p:cNvSpPr/>
          <p:nvPr/>
        </p:nvSpPr>
        <p:spPr>
          <a:xfrm>
            <a:off x="6144768" y="3218688"/>
            <a:ext cx="1618488" cy="274320"/>
          </a:xfrm>
          <a:prstGeom prst="rect">
            <a:avLst/>
          </a:prstGeom>
          <a:noFill/>
          <a:ln/>
        </p:spPr>
        <p:txBody>
          <a:bodyPr wrap="square" lIns="0" tIns="0" rIns="0" bIns="0" rtlCol="0" anchor="ctr">
            <a:normAutofit/>
          </a:bodyPr>
          <a:lstStyle/>
          <a:p>
            <a:pPr marL="0" indent="0">
              <a:buNone/>
            </a:pPr>
            <a:r>
              <a:rPr lang="en-US" sz="1050" b="1" dirty="0">
                <a:solidFill>
                  <a:srgbClr val="0B1F33"/>
                </a:solidFill>
                <a:latin typeface="Aptos Display" pitchFamily="34" charset="0"/>
                <a:ea typeface="Aptos Display" pitchFamily="34" charset="-122"/>
                <a:cs typeface="Aptos Display" pitchFamily="34" charset="-120"/>
              </a:rPr>
              <a:t>Outcome</a:t>
            </a:r>
            <a:endParaRPr lang="en-US" sz="1050" dirty="0"/>
          </a:p>
        </p:txBody>
      </p:sp>
      <p:sp>
        <p:nvSpPr>
          <p:cNvPr id="31" name="Text 29"/>
          <p:cNvSpPr/>
          <p:nvPr/>
        </p:nvSpPr>
        <p:spPr>
          <a:xfrm>
            <a:off x="6144768" y="3621024"/>
            <a:ext cx="1618488" cy="457200"/>
          </a:xfrm>
          <a:prstGeom prst="rect">
            <a:avLst/>
          </a:prstGeom>
          <a:noFill/>
          <a:ln/>
        </p:spPr>
        <p:txBody>
          <a:bodyPr wrap="square" lIns="0" tIns="0" rIns="0" bIns="0" rtlCol="0" anchor="ctr">
            <a:normAutofit/>
          </a:bodyPr>
          <a:lstStyle/>
          <a:p>
            <a:pPr marL="0" indent="0">
              <a:buNone/>
            </a:pPr>
            <a:r>
              <a:rPr lang="en-US" sz="880" dirty="0">
                <a:solidFill>
                  <a:srgbClr val="52657A"/>
                </a:solidFill>
              </a:rPr>
              <a:t>Generate structured summary, likely causes and recommended actions.</a:t>
            </a:r>
            <a:endParaRPr lang="en-US" sz="880" dirty="0"/>
          </a:p>
        </p:txBody>
      </p:sp>
      <p:sp>
        <p:nvSpPr>
          <p:cNvPr id="32" name="Shape 30"/>
          <p:cNvSpPr/>
          <p:nvPr/>
        </p:nvSpPr>
        <p:spPr>
          <a:xfrm>
            <a:off x="7891272" y="2596896"/>
            <a:ext cx="530352" cy="0"/>
          </a:xfrm>
          <a:prstGeom prst="line">
            <a:avLst/>
          </a:prstGeom>
          <a:noFill/>
          <a:ln w="17780">
            <a:solidFill>
              <a:srgbClr val="06B6D4"/>
            </a:solidFill>
            <a:prstDash val="solid"/>
            <a:headEnd type="none"/>
            <a:tailEnd type="triangle"/>
          </a:ln>
        </p:spPr>
        <p:txBody>
          <a:bodyPr/>
          <a:lstStyle/>
          <a:p>
            <a:endParaRPr lang="en-GB"/>
          </a:p>
        </p:txBody>
      </p:sp>
      <p:sp>
        <p:nvSpPr>
          <p:cNvPr id="33" name="Shape 31"/>
          <p:cNvSpPr/>
          <p:nvPr/>
        </p:nvSpPr>
        <p:spPr>
          <a:xfrm>
            <a:off x="8513064" y="2286000"/>
            <a:ext cx="1965960" cy="621792"/>
          </a:xfrm>
          <a:prstGeom prst="roundRect">
            <a:avLst>
              <a:gd name="adj" fmla="val 11765"/>
            </a:avLst>
          </a:prstGeom>
          <a:solidFill>
            <a:srgbClr val="F59E0B"/>
          </a:solidFill>
          <a:ln w="12700">
            <a:solidFill>
              <a:srgbClr val="F59E0B">
                <a:alpha val="80000"/>
              </a:srgbClr>
            </a:solidFill>
            <a:prstDash val="solid"/>
          </a:ln>
          <a:effectLst>
            <a:outerShdw blurRad="15240" dist="50800" dir="2700000" algn="bl" rotWithShape="0">
              <a:srgbClr val="B8CDE0">
                <a:alpha val="11000"/>
              </a:srgbClr>
            </a:outerShdw>
          </a:effectLst>
        </p:spPr>
        <p:txBody>
          <a:bodyPr/>
          <a:lstStyle/>
          <a:p>
            <a:endParaRPr lang="en-GB"/>
          </a:p>
        </p:txBody>
      </p:sp>
      <p:sp>
        <p:nvSpPr>
          <p:cNvPr id="34" name="Text 32"/>
          <p:cNvSpPr/>
          <p:nvPr/>
        </p:nvSpPr>
        <p:spPr>
          <a:xfrm>
            <a:off x="8586216" y="2395728"/>
            <a:ext cx="1819656" cy="420624"/>
          </a:xfrm>
          <a:prstGeom prst="rect">
            <a:avLst/>
          </a:prstGeom>
          <a:noFill/>
          <a:ln/>
        </p:spPr>
        <p:txBody>
          <a:bodyPr wrap="square" lIns="0" tIns="0" rIns="0" bIns="0" rtlCol="0" anchor="ctr">
            <a:normAutofit/>
          </a:bodyPr>
          <a:lstStyle/>
          <a:p>
            <a:pPr marL="0" indent="0" algn="ctr">
              <a:buNone/>
            </a:pPr>
            <a:r>
              <a:rPr lang="en-US" sz="1300" b="1" dirty="0">
                <a:solidFill>
                  <a:srgbClr val="FFFFFF"/>
                </a:solidFill>
                <a:latin typeface="Aptos Display" pitchFamily="34" charset="0"/>
                <a:ea typeface="Aptos Display" pitchFamily="34" charset="-122"/>
                <a:cs typeface="Aptos Display" pitchFamily="34" charset="-120"/>
              </a:rPr>
              <a:t>Operate</a:t>
            </a:r>
            <a:endParaRPr lang="en-US" sz="1300" dirty="0"/>
          </a:p>
        </p:txBody>
      </p:sp>
      <p:sp>
        <p:nvSpPr>
          <p:cNvPr id="35" name="Shape 33"/>
          <p:cNvSpPr/>
          <p:nvPr/>
        </p:nvSpPr>
        <p:spPr>
          <a:xfrm>
            <a:off x="8513064" y="3054096"/>
            <a:ext cx="1965960" cy="1170432"/>
          </a:xfrm>
          <a:prstGeom prst="roundRect">
            <a:avLst>
              <a:gd name="adj" fmla="val 9375"/>
            </a:avLst>
          </a:prstGeom>
          <a:solidFill>
            <a:srgbClr val="FFFFFF"/>
          </a:solidFill>
          <a:ln w="12700">
            <a:solidFill>
              <a:srgbClr val="C9DCEB">
                <a:alpha val="85000"/>
              </a:srgbClr>
            </a:solidFill>
            <a:prstDash val="solid"/>
          </a:ln>
          <a:effectLst>
            <a:outerShdw blurRad="19050" dist="50800" dir="2700000" algn="bl" rotWithShape="0">
              <a:srgbClr val="B9CFE0">
                <a:alpha val="13000"/>
              </a:srgbClr>
            </a:outerShdw>
          </a:effectLst>
        </p:spPr>
        <p:txBody>
          <a:bodyPr/>
          <a:lstStyle/>
          <a:p>
            <a:endParaRPr lang="en-GB"/>
          </a:p>
        </p:txBody>
      </p:sp>
      <p:sp>
        <p:nvSpPr>
          <p:cNvPr id="36" name="Shape 34"/>
          <p:cNvSpPr/>
          <p:nvPr/>
        </p:nvSpPr>
        <p:spPr>
          <a:xfrm>
            <a:off x="8513064" y="3054096"/>
            <a:ext cx="73152" cy="1170432"/>
          </a:xfrm>
          <a:prstGeom prst="rect">
            <a:avLst/>
          </a:prstGeom>
          <a:solidFill>
            <a:srgbClr val="F59E0B"/>
          </a:solidFill>
          <a:ln w="12700">
            <a:solidFill>
              <a:srgbClr val="F59E0B">
                <a:alpha val="0"/>
              </a:srgbClr>
            </a:solidFill>
            <a:prstDash val="solid"/>
          </a:ln>
        </p:spPr>
        <p:txBody>
          <a:bodyPr/>
          <a:lstStyle/>
          <a:p>
            <a:endParaRPr lang="en-GB"/>
          </a:p>
        </p:txBody>
      </p:sp>
      <p:sp>
        <p:nvSpPr>
          <p:cNvPr id="37" name="Text 35"/>
          <p:cNvSpPr/>
          <p:nvPr/>
        </p:nvSpPr>
        <p:spPr>
          <a:xfrm>
            <a:off x="8732520" y="3218688"/>
            <a:ext cx="1618488" cy="274320"/>
          </a:xfrm>
          <a:prstGeom prst="rect">
            <a:avLst/>
          </a:prstGeom>
          <a:noFill/>
          <a:ln/>
        </p:spPr>
        <p:txBody>
          <a:bodyPr wrap="square" lIns="0" tIns="0" rIns="0" bIns="0" rtlCol="0" anchor="ctr">
            <a:normAutofit/>
          </a:bodyPr>
          <a:lstStyle/>
          <a:p>
            <a:pPr marL="0" indent="0">
              <a:buNone/>
            </a:pPr>
            <a:r>
              <a:rPr lang="en-US" sz="1050" b="1" dirty="0">
                <a:solidFill>
                  <a:srgbClr val="0B1F33"/>
                </a:solidFill>
                <a:latin typeface="Aptos Display" pitchFamily="34" charset="0"/>
                <a:ea typeface="Aptos Display" pitchFamily="34" charset="-122"/>
                <a:cs typeface="Aptos Display" pitchFamily="34" charset="-120"/>
              </a:rPr>
              <a:t>Outcome</a:t>
            </a:r>
            <a:endParaRPr lang="en-US" sz="1050" dirty="0"/>
          </a:p>
        </p:txBody>
      </p:sp>
      <p:sp>
        <p:nvSpPr>
          <p:cNvPr id="38" name="Text 36"/>
          <p:cNvSpPr/>
          <p:nvPr/>
        </p:nvSpPr>
        <p:spPr>
          <a:xfrm>
            <a:off x="8732520" y="3621024"/>
            <a:ext cx="1618488" cy="457200"/>
          </a:xfrm>
          <a:prstGeom prst="rect">
            <a:avLst/>
          </a:prstGeom>
          <a:noFill/>
          <a:ln/>
        </p:spPr>
        <p:txBody>
          <a:bodyPr wrap="square" lIns="0" tIns="0" rIns="0" bIns="0" rtlCol="0" anchor="ctr">
            <a:normAutofit/>
          </a:bodyPr>
          <a:lstStyle/>
          <a:p>
            <a:pPr marL="0" indent="0">
              <a:buNone/>
            </a:pPr>
            <a:r>
              <a:rPr lang="en-US" sz="880" dirty="0">
                <a:solidFill>
                  <a:srgbClr val="52657A"/>
                </a:solidFill>
              </a:rPr>
              <a:t>Expose evidence, Assistant Q&amp;A, admin recovery and observability.</a:t>
            </a:r>
            <a:endParaRPr lang="en-US" sz="880" dirty="0"/>
          </a:p>
        </p:txBody>
      </p:sp>
      <p:sp>
        <p:nvSpPr>
          <p:cNvPr id="39" name="Shape 37"/>
          <p:cNvSpPr/>
          <p:nvPr/>
        </p:nvSpPr>
        <p:spPr>
          <a:xfrm>
            <a:off x="749808" y="4983480"/>
            <a:ext cx="7315200" cy="713232"/>
          </a:xfrm>
          <a:prstGeom prst="roundRect">
            <a:avLst>
              <a:gd name="adj" fmla="val 12821"/>
            </a:avLst>
          </a:prstGeom>
          <a:solidFill>
            <a:srgbClr val="F8FCFF"/>
          </a:solidFill>
          <a:ln w="12700">
            <a:solidFill>
              <a:srgbClr val="14B8A6">
                <a:alpha val="55000"/>
              </a:srgbClr>
            </a:solidFill>
            <a:prstDash val="solid"/>
          </a:ln>
        </p:spPr>
        <p:txBody>
          <a:bodyPr/>
          <a:lstStyle/>
          <a:p>
            <a:endParaRPr lang="en-GB"/>
          </a:p>
        </p:txBody>
      </p:sp>
      <p:sp>
        <p:nvSpPr>
          <p:cNvPr id="40" name="Text 38"/>
          <p:cNvSpPr/>
          <p:nvPr/>
        </p:nvSpPr>
        <p:spPr>
          <a:xfrm>
            <a:off x="978408" y="5120640"/>
            <a:ext cx="6858000" cy="256032"/>
          </a:xfrm>
          <a:prstGeom prst="rect">
            <a:avLst/>
          </a:prstGeom>
          <a:noFill/>
          <a:ln/>
        </p:spPr>
        <p:txBody>
          <a:bodyPr wrap="square" lIns="0" tIns="0" rIns="0" bIns="0" rtlCol="0" anchor="ctr">
            <a:normAutofit/>
          </a:bodyPr>
          <a:lstStyle/>
          <a:p>
            <a:pPr marL="0" indent="0">
              <a:buNone/>
            </a:pPr>
            <a:r>
              <a:rPr lang="en-US" sz="1040" b="1" dirty="0">
                <a:solidFill>
                  <a:srgbClr val="14B8A6"/>
                </a:solidFill>
              </a:rPr>
              <a:t>Core idea</a:t>
            </a:r>
            <a:endParaRPr lang="en-US" sz="1040" dirty="0"/>
          </a:p>
        </p:txBody>
      </p:sp>
      <p:sp>
        <p:nvSpPr>
          <p:cNvPr id="41" name="Text 39"/>
          <p:cNvSpPr/>
          <p:nvPr/>
        </p:nvSpPr>
        <p:spPr>
          <a:xfrm>
            <a:off x="978408" y="5422392"/>
            <a:ext cx="6858000" cy="210312"/>
          </a:xfrm>
          <a:prstGeom prst="rect">
            <a:avLst/>
          </a:prstGeom>
          <a:noFill/>
          <a:ln/>
        </p:spPr>
        <p:txBody>
          <a:bodyPr wrap="square" lIns="0" tIns="0" rIns="0" bIns="0" rtlCol="0" anchor="ctr">
            <a:normAutofit/>
          </a:bodyPr>
          <a:lstStyle/>
          <a:p>
            <a:pPr marL="0" indent="0">
              <a:buNone/>
            </a:pPr>
            <a:r>
              <a:rPr lang="en-US" sz="830" dirty="0">
                <a:solidFill>
                  <a:srgbClr val="52657A"/>
                </a:solidFill>
              </a:rPr>
              <a:t>Use AI only after retrieval and evidence validation so the answer stays grounded in available operational context.</a:t>
            </a:r>
            <a:endParaRPr lang="en-US" sz="830" dirty="0"/>
          </a:p>
        </p:txBody>
      </p:sp>
      <p:sp>
        <p:nvSpPr>
          <p:cNvPr id="42" name="Text 40"/>
          <p:cNvSpPr/>
          <p:nvPr/>
        </p:nvSpPr>
        <p:spPr>
          <a:xfrm>
            <a:off x="9144000" y="4782312"/>
            <a:ext cx="1463040" cy="393192"/>
          </a:xfrm>
          <a:prstGeom prst="rect">
            <a:avLst/>
          </a:prstGeom>
          <a:noFill/>
          <a:ln/>
        </p:spPr>
        <p:txBody>
          <a:bodyPr wrap="square" lIns="0" tIns="0" rIns="0" bIns="0" rtlCol="0" anchor="ctr"/>
          <a:lstStyle/>
          <a:p>
            <a:pPr marL="0" indent="0" algn="ctr">
              <a:buNone/>
            </a:pPr>
            <a:r>
              <a:rPr lang="en-US" sz="1900" b="1" dirty="0">
                <a:solidFill>
                  <a:srgbClr val="14B8A6"/>
                </a:solidFill>
                <a:latin typeface="Aptos Display" pitchFamily="34" charset="0"/>
                <a:ea typeface="Aptos Display" pitchFamily="34" charset="-122"/>
                <a:cs typeface="Aptos Display" pitchFamily="34" charset="-120"/>
              </a:rPr>
              <a:t>RAG</a:t>
            </a:r>
            <a:endParaRPr lang="en-US" sz="1900" dirty="0"/>
          </a:p>
        </p:txBody>
      </p:sp>
      <p:sp>
        <p:nvSpPr>
          <p:cNvPr id="43" name="Text 41"/>
          <p:cNvSpPr/>
          <p:nvPr/>
        </p:nvSpPr>
        <p:spPr>
          <a:xfrm>
            <a:off x="9144000" y="5193792"/>
            <a:ext cx="1463040" cy="310896"/>
          </a:xfrm>
          <a:prstGeom prst="rect">
            <a:avLst/>
          </a:prstGeom>
          <a:noFill/>
          <a:ln/>
        </p:spPr>
        <p:txBody>
          <a:bodyPr wrap="square" lIns="0" tIns="0" rIns="0" bIns="0" rtlCol="0" anchor="ctr">
            <a:normAutofit/>
          </a:bodyPr>
          <a:lstStyle/>
          <a:p>
            <a:pPr marL="0" indent="0" algn="ctr">
              <a:buNone/>
            </a:pPr>
            <a:r>
              <a:rPr lang="en-US" sz="850" dirty="0">
                <a:solidFill>
                  <a:srgbClr val="52657A"/>
                </a:solidFill>
              </a:rPr>
              <a:t>runbooks + history</a:t>
            </a:r>
            <a:endParaRPr lang="en-US" sz="850" dirty="0"/>
          </a:p>
        </p:txBody>
      </p:sp>
      <p:sp>
        <p:nvSpPr>
          <p:cNvPr id="44" name="Text 42"/>
          <p:cNvSpPr/>
          <p:nvPr/>
        </p:nvSpPr>
        <p:spPr>
          <a:xfrm>
            <a:off x="10561320" y="4782312"/>
            <a:ext cx="1463040" cy="393192"/>
          </a:xfrm>
          <a:prstGeom prst="rect">
            <a:avLst/>
          </a:prstGeom>
          <a:noFill/>
          <a:ln/>
        </p:spPr>
        <p:txBody>
          <a:bodyPr wrap="square" lIns="0" tIns="0" rIns="0" bIns="0" rtlCol="0" anchor="ctr"/>
          <a:lstStyle/>
          <a:p>
            <a:pPr marL="0" indent="0" algn="ctr">
              <a:buNone/>
            </a:pPr>
            <a:r>
              <a:rPr lang="en-US" sz="1900" b="1" dirty="0">
                <a:solidFill>
                  <a:srgbClr val="2563EB"/>
                </a:solidFill>
                <a:latin typeface="Aptos Display" pitchFamily="34" charset="0"/>
                <a:ea typeface="Aptos Display" pitchFamily="34" charset="-122"/>
                <a:cs typeface="Aptos Display" pitchFamily="34" charset="-120"/>
              </a:rPr>
              <a:t>RBAC</a:t>
            </a:r>
            <a:endParaRPr lang="en-US" sz="1900" dirty="0"/>
          </a:p>
        </p:txBody>
      </p:sp>
      <p:sp>
        <p:nvSpPr>
          <p:cNvPr id="45" name="Text 43"/>
          <p:cNvSpPr/>
          <p:nvPr/>
        </p:nvSpPr>
        <p:spPr>
          <a:xfrm>
            <a:off x="10561320" y="5193792"/>
            <a:ext cx="1463040" cy="310896"/>
          </a:xfrm>
          <a:prstGeom prst="rect">
            <a:avLst/>
          </a:prstGeom>
          <a:noFill/>
          <a:ln/>
        </p:spPr>
        <p:txBody>
          <a:bodyPr wrap="square" lIns="0" tIns="0" rIns="0" bIns="0" rtlCol="0" anchor="ctr">
            <a:normAutofit/>
          </a:bodyPr>
          <a:lstStyle/>
          <a:p>
            <a:pPr marL="0" indent="0" algn="ctr">
              <a:buNone/>
            </a:pPr>
            <a:r>
              <a:rPr lang="en-US" sz="850" dirty="0">
                <a:solidFill>
                  <a:srgbClr val="52657A"/>
                </a:solidFill>
              </a:rPr>
              <a:t>Engineer/Admin</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BFF"/>
        </a:solidFill>
        <a:effectLst/>
      </p:bgPr>
    </p:bg>
    <p:spTree>
      <p:nvGrpSpPr>
        <p:cNvPr id="1" name=""/>
        <p:cNvGrpSpPr/>
        <p:nvPr/>
      </p:nvGrpSpPr>
      <p:grpSpPr>
        <a:xfrm>
          <a:off x="0" y="0"/>
          <a:ext cx="0" cy="0"/>
          <a:chOff x="0" y="0"/>
          <a:chExt cx="0" cy="0"/>
        </a:xfrm>
      </p:grpSpPr>
      <p:sp>
        <p:nvSpPr>
          <p:cNvPr id="2" name="Shape 0"/>
          <p:cNvSpPr/>
          <p:nvPr/>
        </p:nvSpPr>
        <p:spPr>
          <a:xfrm>
            <a:off x="-1143000" y="-1143000"/>
            <a:ext cx="3749040" cy="3749040"/>
          </a:xfrm>
          <a:prstGeom prst="arc">
            <a:avLst/>
          </a:prstGeom>
          <a:solidFill>
            <a:srgbClr val="E6FFFA">
              <a:alpha val="94000"/>
            </a:srgbClr>
          </a:solidFill>
          <a:ln w="12700">
            <a:solidFill>
              <a:srgbClr val="E6FFFA">
                <a:alpha val="0"/>
              </a:srgbClr>
            </a:solidFill>
            <a:prstDash val="solid"/>
          </a:ln>
        </p:spPr>
        <p:txBody>
          <a:bodyPr/>
          <a:lstStyle/>
          <a:p>
            <a:endParaRPr lang="en-GB"/>
          </a:p>
        </p:txBody>
      </p:sp>
      <p:sp>
        <p:nvSpPr>
          <p:cNvPr id="3" name="Shape 1"/>
          <p:cNvSpPr/>
          <p:nvPr/>
        </p:nvSpPr>
        <p:spPr>
          <a:xfrm>
            <a:off x="10012680" y="-685800"/>
            <a:ext cx="2926080" cy="2926080"/>
          </a:xfrm>
          <a:prstGeom prst="ellipse">
            <a:avLst/>
          </a:prstGeom>
          <a:solidFill>
            <a:srgbClr val="EAF5FF">
              <a:alpha val="95000"/>
            </a:srgbClr>
          </a:solidFill>
          <a:ln w="12700">
            <a:solidFill>
              <a:srgbClr val="EAF5FF">
                <a:alpha val="0"/>
              </a:srgbClr>
            </a:solidFill>
            <a:prstDash val="solid"/>
          </a:ln>
        </p:spPr>
        <p:txBody>
          <a:bodyPr/>
          <a:lstStyle/>
          <a:p>
            <a:endParaRPr lang="en-GB"/>
          </a:p>
        </p:txBody>
      </p:sp>
      <p:sp>
        <p:nvSpPr>
          <p:cNvPr id="4" name="Shape 2"/>
          <p:cNvSpPr/>
          <p:nvPr/>
        </p:nvSpPr>
        <p:spPr>
          <a:xfrm>
            <a:off x="10652760" y="5120640"/>
            <a:ext cx="2011680" cy="2011680"/>
          </a:xfrm>
          <a:prstGeom prst="ellipse">
            <a:avLst/>
          </a:prstGeom>
          <a:solidFill>
            <a:srgbClr val="E6FFFA">
              <a:alpha val="76000"/>
            </a:srgbClr>
          </a:solidFill>
          <a:ln w="12700">
            <a:solidFill>
              <a:srgbClr val="E6FFFA">
                <a:alpha val="0"/>
              </a:srgbClr>
            </a:solidFill>
            <a:prstDash val="solid"/>
          </a:ln>
        </p:spPr>
        <p:txBody>
          <a:bodyPr/>
          <a:lstStyle/>
          <a:p>
            <a:endParaRPr lang="en-GB"/>
          </a:p>
        </p:txBody>
      </p:sp>
      <p:sp>
        <p:nvSpPr>
          <p:cNvPr id="5" name="Shape 3"/>
          <p:cNvSpPr/>
          <p:nvPr/>
        </p:nvSpPr>
        <p:spPr>
          <a:xfrm>
            <a:off x="0" y="0"/>
            <a:ext cx="12191695" cy="100584"/>
          </a:xfrm>
          <a:prstGeom prst="rect">
            <a:avLst/>
          </a:prstGeom>
          <a:solidFill>
            <a:srgbClr val="14B8A6"/>
          </a:solidFill>
          <a:ln w="12700">
            <a:solidFill>
              <a:srgbClr val="14B8A6">
                <a:alpha val="0"/>
              </a:srgbClr>
            </a:solidFill>
            <a:prstDash val="solid"/>
          </a:ln>
        </p:spPr>
        <p:txBody>
          <a:bodyPr/>
          <a:lstStyle/>
          <a:p>
            <a:endParaRPr lang="en-GB"/>
          </a:p>
        </p:txBody>
      </p:sp>
      <p:sp>
        <p:nvSpPr>
          <p:cNvPr id="6" name="Text 4"/>
          <p:cNvSpPr/>
          <p:nvPr/>
        </p:nvSpPr>
        <p:spPr>
          <a:xfrm>
            <a:off x="548640" y="6336792"/>
            <a:ext cx="1828800" cy="201168"/>
          </a:xfrm>
          <a:prstGeom prst="rect">
            <a:avLst/>
          </a:prstGeom>
          <a:noFill/>
          <a:ln/>
        </p:spPr>
        <p:txBody>
          <a:bodyPr wrap="square" lIns="0" tIns="0" rIns="0" bIns="0" rtlCol="0" anchor="ctr"/>
          <a:lstStyle/>
          <a:p>
            <a:pPr marL="0" indent="0">
              <a:buNone/>
            </a:pPr>
            <a:r>
              <a:rPr lang="en-US" sz="850" b="1" dirty="0">
                <a:solidFill>
                  <a:srgbClr val="12355B"/>
                </a:solidFill>
              </a:rPr>
              <a:t>IncidentIQ</a:t>
            </a:r>
            <a:endParaRPr lang="en-US" sz="850" dirty="0"/>
          </a:p>
        </p:txBody>
      </p:sp>
      <p:sp>
        <p:nvSpPr>
          <p:cNvPr id="7" name="Text 5"/>
          <p:cNvSpPr/>
          <p:nvPr/>
        </p:nvSpPr>
        <p:spPr>
          <a:xfrm>
            <a:off x="1874520" y="6336792"/>
            <a:ext cx="4572000" cy="201168"/>
          </a:xfrm>
          <a:prstGeom prst="rect">
            <a:avLst/>
          </a:prstGeom>
          <a:noFill/>
          <a:ln/>
        </p:spPr>
        <p:txBody>
          <a:bodyPr wrap="square" lIns="0" tIns="0" rIns="0" bIns="0" rtlCol="0" anchor="ctr"/>
          <a:lstStyle/>
          <a:p>
            <a:pPr marL="0" indent="0">
              <a:buNone/>
            </a:pPr>
            <a:r>
              <a:rPr lang="en-US" sz="850" dirty="0">
                <a:solidFill>
                  <a:srgbClr val="64748B"/>
                </a:solidFill>
              </a:rPr>
              <a:t>Architecture</a:t>
            </a:r>
            <a:endParaRPr lang="en-US" sz="850" dirty="0"/>
          </a:p>
        </p:txBody>
      </p:sp>
      <p:sp>
        <p:nvSpPr>
          <p:cNvPr id="8" name="Text 6"/>
          <p:cNvSpPr/>
          <p:nvPr/>
        </p:nvSpPr>
        <p:spPr>
          <a:xfrm>
            <a:off x="11155680" y="6291072"/>
            <a:ext cx="457200" cy="228600"/>
          </a:xfrm>
          <a:prstGeom prst="rect">
            <a:avLst/>
          </a:prstGeom>
          <a:noFill/>
          <a:ln/>
        </p:spPr>
        <p:txBody>
          <a:bodyPr wrap="square" lIns="0" tIns="0" rIns="0" bIns="0" rtlCol="0" anchor="ctr"/>
          <a:lstStyle/>
          <a:p>
            <a:pPr marL="0" indent="0" algn="r">
              <a:buNone/>
            </a:pPr>
            <a:r>
              <a:rPr lang="en-US" sz="850" b="1" dirty="0">
                <a:solidFill>
                  <a:srgbClr val="14B8A6"/>
                </a:solidFill>
              </a:rPr>
              <a:t>03</a:t>
            </a:r>
            <a:endParaRPr lang="en-US" sz="850" dirty="0"/>
          </a:p>
        </p:txBody>
      </p:sp>
      <p:sp>
        <p:nvSpPr>
          <p:cNvPr id="9" name="Text 7"/>
          <p:cNvSpPr/>
          <p:nvPr/>
        </p:nvSpPr>
        <p:spPr>
          <a:xfrm>
            <a:off x="685800" y="603504"/>
            <a:ext cx="5486400" cy="219456"/>
          </a:xfrm>
          <a:prstGeom prst="rect">
            <a:avLst/>
          </a:prstGeom>
          <a:noFill/>
          <a:ln/>
        </p:spPr>
        <p:txBody>
          <a:bodyPr wrap="square" lIns="0" tIns="0" rIns="0" bIns="0" rtlCol="0" anchor="ctr"/>
          <a:lstStyle/>
          <a:p>
            <a:pPr marL="0" indent="0">
              <a:buNone/>
            </a:pPr>
            <a:r>
              <a:rPr lang="en-US" sz="850" b="1" dirty="0">
                <a:solidFill>
                  <a:srgbClr val="14B8A6"/>
                </a:solidFill>
              </a:rPr>
              <a:t>ARCHITECTURE</a:t>
            </a:r>
            <a:endParaRPr lang="en-US" sz="850" dirty="0"/>
          </a:p>
        </p:txBody>
      </p:sp>
      <p:sp>
        <p:nvSpPr>
          <p:cNvPr id="10" name="Text 8"/>
          <p:cNvSpPr/>
          <p:nvPr/>
        </p:nvSpPr>
        <p:spPr>
          <a:xfrm>
            <a:off x="685800" y="914400"/>
            <a:ext cx="9784080" cy="658368"/>
          </a:xfrm>
          <a:prstGeom prst="rect">
            <a:avLst/>
          </a:prstGeom>
          <a:noFill/>
          <a:ln/>
        </p:spPr>
        <p:txBody>
          <a:bodyPr wrap="square" lIns="0" tIns="0" rIns="0" bIns="0" rtlCol="0" anchor="ctr">
            <a:normAutofit/>
          </a:bodyPr>
          <a:lstStyle/>
          <a:p>
            <a:pPr marL="0" indent="0">
              <a:buNone/>
            </a:pPr>
            <a:r>
              <a:rPr lang="en-US" sz="3000" b="1" dirty="0">
                <a:solidFill>
                  <a:srgbClr val="0B1F33"/>
                </a:solidFill>
                <a:latin typeface="Aptos Display" pitchFamily="34" charset="0"/>
                <a:ea typeface="Aptos Display" pitchFamily="34" charset="-122"/>
                <a:cs typeface="Aptos Display" pitchFamily="34" charset="-120"/>
              </a:rPr>
              <a:t>Architecture at a glance</a:t>
            </a:r>
            <a:endParaRPr lang="en-US" sz="3000" dirty="0"/>
          </a:p>
        </p:txBody>
      </p:sp>
      <p:sp>
        <p:nvSpPr>
          <p:cNvPr id="11" name="Text 9"/>
          <p:cNvSpPr/>
          <p:nvPr/>
        </p:nvSpPr>
        <p:spPr>
          <a:xfrm>
            <a:off x="685800" y="1682496"/>
            <a:ext cx="7863840" cy="420624"/>
          </a:xfrm>
          <a:prstGeom prst="rect">
            <a:avLst/>
          </a:prstGeom>
          <a:noFill/>
          <a:ln/>
        </p:spPr>
        <p:txBody>
          <a:bodyPr wrap="square" lIns="254" tIns="254" rIns="254" bIns="254" rtlCol="0" anchor="ctr">
            <a:normAutofit/>
          </a:bodyPr>
          <a:lstStyle/>
          <a:p>
            <a:pPr marL="0" indent="0">
              <a:buNone/>
            </a:pPr>
            <a:r>
              <a:rPr lang="en-US" sz="1320" dirty="0">
                <a:solidFill>
                  <a:srgbClr val="52657A"/>
                </a:solidFill>
              </a:rPr>
              <a:t>React, .NET, Azure, async processing and grounded AI in one verified system.</a:t>
            </a:r>
            <a:endParaRPr lang="en-US" sz="1320" dirty="0"/>
          </a:p>
        </p:txBody>
      </p:sp>
      <p:sp>
        <p:nvSpPr>
          <p:cNvPr id="12" name="Shape 10"/>
          <p:cNvSpPr/>
          <p:nvPr/>
        </p:nvSpPr>
        <p:spPr>
          <a:xfrm>
            <a:off x="1143000" y="2670048"/>
            <a:ext cx="777240" cy="0"/>
          </a:xfrm>
          <a:prstGeom prst="line">
            <a:avLst/>
          </a:prstGeom>
          <a:noFill/>
          <a:ln w="13970">
            <a:solidFill>
              <a:srgbClr val="06B6D4"/>
            </a:solidFill>
            <a:prstDash val="solid"/>
            <a:headEnd type="none"/>
            <a:tailEnd type="triangle"/>
          </a:ln>
        </p:spPr>
        <p:txBody>
          <a:bodyPr/>
          <a:lstStyle/>
          <a:p>
            <a:endParaRPr lang="en-GB"/>
          </a:p>
        </p:txBody>
      </p:sp>
      <p:sp>
        <p:nvSpPr>
          <p:cNvPr id="13" name="Shape 11"/>
          <p:cNvSpPr/>
          <p:nvPr/>
        </p:nvSpPr>
        <p:spPr>
          <a:xfrm>
            <a:off x="2971800" y="2670048"/>
            <a:ext cx="731520" cy="0"/>
          </a:xfrm>
          <a:prstGeom prst="line">
            <a:avLst/>
          </a:prstGeom>
          <a:noFill/>
          <a:ln w="13970">
            <a:solidFill>
              <a:srgbClr val="06B6D4"/>
            </a:solidFill>
            <a:prstDash val="solid"/>
            <a:headEnd type="none"/>
            <a:tailEnd type="triangle"/>
          </a:ln>
        </p:spPr>
        <p:txBody>
          <a:bodyPr/>
          <a:lstStyle/>
          <a:p>
            <a:endParaRPr lang="en-GB"/>
          </a:p>
        </p:txBody>
      </p:sp>
      <p:sp>
        <p:nvSpPr>
          <p:cNvPr id="14" name="Shape 12"/>
          <p:cNvSpPr/>
          <p:nvPr/>
        </p:nvSpPr>
        <p:spPr>
          <a:xfrm>
            <a:off x="4736592" y="2670048"/>
            <a:ext cx="795528" cy="0"/>
          </a:xfrm>
          <a:prstGeom prst="line">
            <a:avLst/>
          </a:prstGeom>
          <a:noFill/>
          <a:ln w="13970">
            <a:solidFill>
              <a:srgbClr val="06B6D4"/>
            </a:solidFill>
            <a:prstDash val="solid"/>
            <a:headEnd type="none"/>
            <a:tailEnd type="triangle"/>
          </a:ln>
        </p:spPr>
        <p:txBody>
          <a:bodyPr/>
          <a:lstStyle/>
          <a:p>
            <a:endParaRPr lang="en-GB"/>
          </a:p>
        </p:txBody>
      </p:sp>
      <p:sp>
        <p:nvSpPr>
          <p:cNvPr id="15" name="Shape 13"/>
          <p:cNvSpPr/>
          <p:nvPr/>
        </p:nvSpPr>
        <p:spPr>
          <a:xfrm>
            <a:off x="6565392" y="2670048"/>
            <a:ext cx="795528" cy="0"/>
          </a:xfrm>
          <a:prstGeom prst="line">
            <a:avLst/>
          </a:prstGeom>
          <a:noFill/>
          <a:ln w="13970">
            <a:solidFill>
              <a:srgbClr val="06B6D4"/>
            </a:solidFill>
            <a:prstDash val="solid"/>
            <a:headEnd type="none"/>
            <a:tailEnd type="triangle"/>
          </a:ln>
        </p:spPr>
        <p:txBody>
          <a:bodyPr/>
          <a:lstStyle/>
          <a:p>
            <a:endParaRPr lang="en-GB"/>
          </a:p>
        </p:txBody>
      </p:sp>
      <p:sp>
        <p:nvSpPr>
          <p:cNvPr id="16" name="Shape 14"/>
          <p:cNvSpPr/>
          <p:nvPr/>
        </p:nvSpPr>
        <p:spPr>
          <a:xfrm>
            <a:off x="8412480" y="2670048"/>
            <a:ext cx="822960" cy="0"/>
          </a:xfrm>
          <a:prstGeom prst="line">
            <a:avLst/>
          </a:prstGeom>
          <a:noFill/>
          <a:ln w="13970">
            <a:solidFill>
              <a:srgbClr val="06B6D4"/>
            </a:solidFill>
            <a:prstDash val="solid"/>
            <a:headEnd type="none"/>
            <a:tailEnd type="triangle"/>
          </a:ln>
        </p:spPr>
        <p:txBody>
          <a:bodyPr/>
          <a:lstStyle/>
          <a:p>
            <a:endParaRPr lang="en-GB"/>
          </a:p>
        </p:txBody>
      </p:sp>
      <p:sp>
        <p:nvSpPr>
          <p:cNvPr id="17" name="Shape 15"/>
          <p:cNvSpPr/>
          <p:nvPr/>
        </p:nvSpPr>
        <p:spPr>
          <a:xfrm>
            <a:off x="594360" y="2286000"/>
            <a:ext cx="1143000" cy="768096"/>
          </a:xfrm>
          <a:prstGeom prst="roundRect">
            <a:avLst>
              <a:gd name="adj" fmla="val 9524"/>
            </a:avLst>
          </a:prstGeom>
          <a:solidFill>
            <a:srgbClr val="2563EB"/>
          </a:solidFill>
          <a:ln w="12700">
            <a:solidFill>
              <a:srgbClr val="2563EB">
                <a:alpha val="80000"/>
              </a:srgbClr>
            </a:solidFill>
            <a:prstDash val="solid"/>
          </a:ln>
          <a:effectLst>
            <a:outerShdw blurRad="15240" dist="50800" dir="2700000" algn="bl" rotWithShape="0">
              <a:srgbClr val="B8CDE0">
                <a:alpha val="11000"/>
              </a:srgbClr>
            </a:outerShdw>
          </a:effectLst>
        </p:spPr>
        <p:txBody>
          <a:bodyPr/>
          <a:lstStyle/>
          <a:p>
            <a:endParaRPr lang="en-GB"/>
          </a:p>
        </p:txBody>
      </p:sp>
      <p:sp>
        <p:nvSpPr>
          <p:cNvPr id="18" name="Text 16"/>
          <p:cNvSpPr/>
          <p:nvPr/>
        </p:nvSpPr>
        <p:spPr>
          <a:xfrm>
            <a:off x="667512" y="2395728"/>
            <a:ext cx="996696" cy="330281"/>
          </a:xfrm>
          <a:prstGeom prst="rect">
            <a:avLst/>
          </a:prstGeom>
          <a:noFill/>
          <a:ln/>
        </p:spPr>
        <p:txBody>
          <a:bodyPr wrap="square" lIns="0" tIns="0" rIns="0" bIns="0" rtlCol="0" anchor="ctr">
            <a:normAutofit/>
          </a:bodyPr>
          <a:lstStyle/>
          <a:p>
            <a:pPr marL="0" indent="0" algn="ctr">
              <a:buNone/>
            </a:pPr>
            <a:r>
              <a:rPr lang="en-US" sz="1120" b="1" dirty="0">
                <a:solidFill>
                  <a:srgbClr val="FFFFFF"/>
                </a:solidFill>
                <a:latin typeface="Aptos Display" pitchFamily="34" charset="0"/>
                <a:ea typeface="Aptos Display" pitchFamily="34" charset="-122"/>
                <a:cs typeface="Aptos Display" pitchFamily="34" charset="-120"/>
              </a:rPr>
              <a:t>React Web</a:t>
            </a:r>
            <a:endParaRPr lang="en-US" sz="1120" dirty="0"/>
          </a:p>
        </p:txBody>
      </p:sp>
      <p:sp>
        <p:nvSpPr>
          <p:cNvPr id="19" name="Text 17"/>
          <p:cNvSpPr/>
          <p:nvPr/>
        </p:nvSpPr>
        <p:spPr>
          <a:xfrm>
            <a:off x="676656" y="2723815"/>
            <a:ext cx="978408" cy="215067"/>
          </a:xfrm>
          <a:prstGeom prst="rect">
            <a:avLst/>
          </a:prstGeom>
          <a:noFill/>
          <a:ln/>
        </p:spPr>
        <p:txBody>
          <a:bodyPr wrap="square" lIns="0" tIns="0" rIns="0" bIns="0" rtlCol="0" anchor="ctr">
            <a:normAutofit/>
          </a:bodyPr>
          <a:lstStyle/>
          <a:p>
            <a:pPr marL="0" indent="0" algn="ctr">
              <a:buNone/>
            </a:pPr>
            <a:r>
              <a:rPr lang="en-US" sz="710" dirty="0">
                <a:solidFill>
                  <a:srgbClr val="E0F2FE"/>
                </a:solidFill>
              </a:rPr>
              <a:t>MSAL SPA</a:t>
            </a:r>
            <a:endParaRPr lang="en-US" sz="710" dirty="0"/>
          </a:p>
        </p:txBody>
      </p:sp>
      <p:sp>
        <p:nvSpPr>
          <p:cNvPr id="20" name="Shape 18"/>
          <p:cNvSpPr/>
          <p:nvPr/>
        </p:nvSpPr>
        <p:spPr>
          <a:xfrm>
            <a:off x="2011680" y="2286000"/>
            <a:ext cx="1143000" cy="768096"/>
          </a:xfrm>
          <a:prstGeom prst="roundRect">
            <a:avLst>
              <a:gd name="adj" fmla="val 9524"/>
            </a:avLst>
          </a:prstGeom>
          <a:solidFill>
            <a:srgbClr val="12355B"/>
          </a:solidFill>
          <a:ln w="12700">
            <a:solidFill>
              <a:srgbClr val="12355B">
                <a:alpha val="80000"/>
              </a:srgbClr>
            </a:solidFill>
            <a:prstDash val="solid"/>
          </a:ln>
          <a:effectLst>
            <a:outerShdw blurRad="15240" dist="50800" dir="2700000" algn="bl" rotWithShape="0">
              <a:srgbClr val="B8CDE0">
                <a:alpha val="11000"/>
              </a:srgbClr>
            </a:outerShdw>
          </a:effectLst>
        </p:spPr>
        <p:txBody>
          <a:bodyPr/>
          <a:lstStyle/>
          <a:p>
            <a:endParaRPr lang="en-GB"/>
          </a:p>
        </p:txBody>
      </p:sp>
      <p:sp>
        <p:nvSpPr>
          <p:cNvPr id="21" name="Text 19"/>
          <p:cNvSpPr/>
          <p:nvPr/>
        </p:nvSpPr>
        <p:spPr>
          <a:xfrm>
            <a:off x="2084832" y="2395728"/>
            <a:ext cx="996696" cy="330281"/>
          </a:xfrm>
          <a:prstGeom prst="rect">
            <a:avLst/>
          </a:prstGeom>
          <a:noFill/>
          <a:ln/>
        </p:spPr>
        <p:txBody>
          <a:bodyPr wrap="square" lIns="0" tIns="0" rIns="0" bIns="0" rtlCol="0" anchor="ctr">
            <a:normAutofit/>
          </a:bodyPr>
          <a:lstStyle/>
          <a:p>
            <a:pPr marL="0" indent="0" algn="ctr">
              <a:buNone/>
            </a:pPr>
            <a:r>
              <a:rPr lang="en-US" sz="1120" b="1" dirty="0">
                <a:solidFill>
                  <a:srgbClr val="FFFFFF"/>
                </a:solidFill>
                <a:latin typeface="Aptos Display" pitchFamily="34" charset="0"/>
                <a:ea typeface="Aptos Display" pitchFamily="34" charset="-122"/>
                <a:cs typeface="Aptos Display" pitchFamily="34" charset="-120"/>
              </a:rPr>
              <a:t>API</a:t>
            </a:r>
            <a:endParaRPr lang="en-US" sz="1120" dirty="0"/>
          </a:p>
        </p:txBody>
      </p:sp>
      <p:sp>
        <p:nvSpPr>
          <p:cNvPr id="22" name="Text 20"/>
          <p:cNvSpPr/>
          <p:nvPr/>
        </p:nvSpPr>
        <p:spPr>
          <a:xfrm>
            <a:off x="2093976" y="2723815"/>
            <a:ext cx="978408" cy="215067"/>
          </a:xfrm>
          <a:prstGeom prst="rect">
            <a:avLst/>
          </a:prstGeom>
          <a:noFill/>
          <a:ln/>
        </p:spPr>
        <p:txBody>
          <a:bodyPr wrap="square" lIns="0" tIns="0" rIns="0" bIns="0" rtlCol="0" anchor="ctr">
            <a:normAutofit/>
          </a:bodyPr>
          <a:lstStyle/>
          <a:p>
            <a:pPr marL="0" indent="0" algn="ctr">
              <a:buNone/>
            </a:pPr>
            <a:r>
              <a:rPr lang="en-US" sz="710" dirty="0">
                <a:solidFill>
                  <a:srgbClr val="E0F2FE"/>
                </a:solidFill>
              </a:rPr>
              <a:t>ASP.NET Core</a:t>
            </a:r>
            <a:endParaRPr lang="en-US" sz="710" dirty="0"/>
          </a:p>
        </p:txBody>
      </p:sp>
      <p:sp>
        <p:nvSpPr>
          <p:cNvPr id="23" name="Shape 21"/>
          <p:cNvSpPr/>
          <p:nvPr/>
        </p:nvSpPr>
        <p:spPr>
          <a:xfrm>
            <a:off x="3794760" y="2286000"/>
            <a:ext cx="1143000" cy="768096"/>
          </a:xfrm>
          <a:prstGeom prst="roundRect">
            <a:avLst>
              <a:gd name="adj" fmla="val 9524"/>
            </a:avLst>
          </a:prstGeom>
          <a:solidFill>
            <a:srgbClr val="22C55E"/>
          </a:solidFill>
          <a:ln w="12700">
            <a:solidFill>
              <a:srgbClr val="22C55E">
                <a:alpha val="80000"/>
              </a:srgbClr>
            </a:solidFill>
            <a:prstDash val="solid"/>
          </a:ln>
          <a:effectLst>
            <a:outerShdw blurRad="15240" dist="50800" dir="2700000" algn="bl" rotWithShape="0">
              <a:srgbClr val="B8CDE0">
                <a:alpha val="11000"/>
              </a:srgbClr>
            </a:outerShdw>
          </a:effectLst>
        </p:spPr>
        <p:txBody>
          <a:bodyPr/>
          <a:lstStyle/>
          <a:p>
            <a:endParaRPr lang="en-GB"/>
          </a:p>
        </p:txBody>
      </p:sp>
      <p:sp>
        <p:nvSpPr>
          <p:cNvPr id="24" name="Text 22"/>
          <p:cNvSpPr/>
          <p:nvPr/>
        </p:nvSpPr>
        <p:spPr>
          <a:xfrm>
            <a:off x="3867912" y="2395728"/>
            <a:ext cx="996696" cy="330281"/>
          </a:xfrm>
          <a:prstGeom prst="rect">
            <a:avLst/>
          </a:prstGeom>
          <a:noFill/>
          <a:ln/>
        </p:spPr>
        <p:txBody>
          <a:bodyPr wrap="square" lIns="0" tIns="0" rIns="0" bIns="0" rtlCol="0" anchor="ctr">
            <a:normAutofit/>
          </a:bodyPr>
          <a:lstStyle/>
          <a:p>
            <a:pPr marL="0" indent="0" algn="ctr">
              <a:buNone/>
            </a:pPr>
            <a:r>
              <a:rPr lang="en-US" sz="1120" b="1" dirty="0">
                <a:solidFill>
                  <a:srgbClr val="FFFFFF"/>
                </a:solidFill>
                <a:latin typeface="Aptos Display" pitchFamily="34" charset="0"/>
                <a:ea typeface="Aptos Display" pitchFamily="34" charset="-122"/>
                <a:cs typeface="Aptos Display" pitchFamily="34" charset="-120"/>
              </a:rPr>
              <a:t>Cosmos</a:t>
            </a:r>
            <a:endParaRPr lang="en-US" sz="1120" dirty="0"/>
          </a:p>
        </p:txBody>
      </p:sp>
      <p:sp>
        <p:nvSpPr>
          <p:cNvPr id="25" name="Text 23"/>
          <p:cNvSpPr/>
          <p:nvPr/>
        </p:nvSpPr>
        <p:spPr>
          <a:xfrm>
            <a:off x="3877056" y="2723815"/>
            <a:ext cx="978408" cy="215067"/>
          </a:xfrm>
          <a:prstGeom prst="rect">
            <a:avLst/>
          </a:prstGeom>
          <a:noFill/>
          <a:ln/>
        </p:spPr>
        <p:txBody>
          <a:bodyPr wrap="square" lIns="0" tIns="0" rIns="0" bIns="0" rtlCol="0" anchor="ctr">
            <a:normAutofit/>
          </a:bodyPr>
          <a:lstStyle/>
          <a:p>
            <a:pPr marL="0" indent="0" algn="ctr">
              <a:buNone/>
            </a:pPr>
            <a:r>
              <a:rPr lang="en-US" sz="710" dirty="0">
                <a:solidFill>
                  <a:srgbClr val="E0F2FE"/>
                </a:solidFill>
              </a:rPr>
              <a:t>source + outbox</a:t>
            </a:r>
            <a:endParaRPr lang="en-US" sz="710" dirty="0"/>
          </a:p>
        </p:txBody>
      </p:sp>
      <p:sp>
        <p:nvSpPr>
          <p:cNvPr id="26" name="Shape 24"/>
          <p:cNvSpPr/>
          <p:nvPr/>
        </p:nvSpPr>
        <p:spPr>
          <a:xfrm>
            <a:off x="5650992" y="2286000"/>
            <a:ext cx="1143000" cy="768096"/>
          </a:xfrm>
          <a:prstGeom prst="roundRect">
            <a:avLst>
              <a:gd name="adj" fmla="val 9524"/>
            </a:avLst>
          </a:prstGeom>
          <a:solidFill>
            <a:srgbClr val="FB923C"/>
          </a:solidFill>
          <a:ln w="12700">
            <a:solidFill>
              <a:srgbClr val="FB923C">
                <a:alpha val="80000"/>
              </a:srgbClr>
            </a:solidFill>
            <a:prstDash val="solid"/>
          </a:ln>
          <a:effectLst>
            <a:outerShdw blurRad="15240" dist="50800" dir="2700000" algn="bl" rotWithShape="0">
              <a:srgbClr val="B8CDE0">
                <a:alpha val="11000"/>
              </a:srgbClr>
            </a:outerShdw>
          </a:effectLst>
        </p:spPr>
        <p:txBody>
          <a:bodyPr/>
          <a:lstStyle/>
          <a:p>
            <a:endParaRPr lang="en-GB"/>
          </a:p>
        </p:txBody>
      </p:sp>
      <p:sp>
        <p:nvSpPr>
          <p:cNvPr id="27" name="Text 25"/>
          <p:cNvSpPr/>
          <p:nvPr/>
        </p:nvSpPr>
        <p:spPr>
          <a:xfrm>
            <a:off x="5724144" y="2395728"/>
            <a:ext cx="996696" cy="330281"/>
          </a:xfrm>
          <a:prstGeom prst="rect">
            <a:avLst/>
          </a:prstGeom>
          <a:noFill/>
          <a:ln/>
        </p:spPr>
        <p:txBody>
          <a:bodyPr wrap="square" lIns="0" tIns="0" rIns="0" bIns="0" rtlCol="0" anchor="ctr">
            <a:normAutofit/>
          </a:bodyPr>
          <a:lstStyle/>
          <a:p>
            <a:pPr marL="0" indent="0" algn="ctr">
              <a:buNone/>
            </a:pPr>
            <a:r>
              <a:rPr lang="en-US" sz="1120" b="1" dirty="0">
                <a:solidFill>
                  <a:srgbClr val="FFFFFF"/>
                </a:solidFill>
                <a:latin typeface="Aptos Display" pitchFamily="34" charset="0"/>
                <a:ea typeface="Aptos Display" pitchFamily="34" charset="-122"/>
                <a:cs typeface="Aptos Display" pitchFamily="34" charset="-120"/>
              </a:rPr>
              <a:t>Service Bus</a:t>
            </a:r>
            <a:endParaRPr lang="en-US" sz="1120" dirty="0"/>
          </a:p>
        </p:txBody>
      </p:sp>
      <p:sp>
        <p:nvSpPr>
          <p:cNvPr id="28" name="Text 26"/>
          <p:cNvSpPr/>
          <p:nvPr/>
        </p:nvSpPr>
        <p:spPr>
          <a:xfrm>
            <a:off x="5733288" y="2723815"/>
            <a:ext cx="978408" cy="215067"/>
          </a:xfrm>
          <a:prstGeom prst="rect">
            <a:avLst/>
          </a:prstGeom>
          <a:noFill/>
          <a:ln/>
        </p:spPr>
        <p:txBody>
          <a:bodyPr wrap="square" lIns="0" tIns="0" rIns="0" bIns="0" rtlCol="0" anchor="ctr">
            <a:normAutofit/>
          </a:bodyPr>
          <a:lstStyle/>
          <a:p>
            <a:pPr marL="0" indent="0" algn="ctr">
              <a:buNone/>
            </a:pPr>
            <a:r>
              <a:rPr lang="en-US" sz="710" dirty="0">
                <a:solidFill>
                  <a:srgbClr val="E0F2FE"/>
                </a:solidFill>
              </a:rPr>
              <a:t>durable queues</a:t>
            </a:r>
            <a:endParaRPr lang="en-US" sz="710" dirty="0"/>
          </a:p>
        </p:txBody>
      </p:sp>
      <p:sp>
        <p:nvSpPr>
          <p:cNvPr id="29" name="Shape 27"/>
          <p:cNvSpPr/>
          <p:nvPr/>
        </p:nvSpPr>
        <p:spPr>
          <a:xfrm>
            <a:off x="7461504" y="2286000"/>
            <a:ext cx="1143000" cy="768096"/>
          </a:xfrm>
          <a:prstGeom prst="roundRect">
            <a:avLst>
              <a:gd name="adj" fmla="val 9524"/>
            </a:avLst>
          </a:prstGeom>
          <a:solidFill>
            <a:srgbClr val="2563EB"/>
          </a:solidFill>
          <a:ln w="12700">
            <a:solidFill>
              <a:srgbClr val="2563EB">
                <a:alpha val="80000"/>
              </a:srgbClr>
            </a:solidFill>
            <a:prstDash val="solid"/>
          </a:ln>
          <a:effectLst>
            <a:outerShdw blurRad="15240" dist="50800" dir="2700000" algn="bl" rotWithShape="0">
              <a:srgbClr val="B8CDE0">
                <a:alpha val="11000"/>
              </a:srgbClr>
            </a:outerShdw>
          </a:effectLst>
        </p:spPr>
        <p:txBody>
          <a:bodyPr/>
          <a:lstStyle/>
          <a:p>
            <a:endParaRPr lang="en-GB"/>
          </a:p>
        </p:txBody>
      </p:sp>
      <p:sp>
        <p:nvSpPr>
          <p:cNvPr id="30" name="Text 28"/>
          <p:cNvSpPr/>
          <p:nvPr/>
        </p:nvSpPr>
        <p:spPr>
          <a:xfrm>
            <a:off x="7534656" y="2395728"/>
            <a:ext cx="996696" cy="330281"/>
          </a:xfrm>
          <a:prstGeom prst="rect">
            <a:avLst/>
          </a:prstGeom>
          <a:noFill/>
          <a:ln/>
        </p:spPr>
        <p:txBody>
          <a:bodyPr wrap="square" lIns="0" tIns="0" rIns="0" bIns="0" rtlCol="0" anchor="ctr">
            <a:normAutofit/>
          </a:bodyPr>
          <a:lstStyle/>
          <a:p>
            <a:pPr marL="0" indent="0" algn="ctr">
              <a:buNone/>
            </a:pPr>
            <a:r>
              <a:rPr lang="en-US" sz="1120" b="1" dirty="0">
                <a:solidFill>
                  <a:srgbClr val="FFFFFF"/>
                </a:solidFill>
                <a:latin typeface="Aptos Display" pitchFamily="34" charset="0"/>
                <a:ea typeface="Aptos Display" pitchFamily="34" charset="-122"/>
                <a:cs typeface="Aptos Display" pitchFamily="34" charset="-120"/>
              </a:rPr>
              <a:t>Worker</a:t>
            </a:r>
            <a:endParaRPr lang="en-US" sz="1120" dirty="0"/>
          </a:p>
        </p:txBody>
      </p:sp>
      <p:sp>
        <p:nvSpPr>
          <p:cNvPr id="31" name="Text 29"/>
          <p:cNvSpPr/>
          <p:nvPr/>
        </p:nvSpPr>
        <p:spPr>
          <a:xfrm>
            <a:off x="7543800" y="2723815"/>
            <a:ext cx="978408" cy="215067"/>
          </a:xfrm>
          <a:prstGeom prst="rect">
            <a:avLst/>
          </a:prstGeom>
          <a:noFill/>
          <a:ln/>
        </p:spPr>
        <p:txBody>
          <a:bodyPr wrap="square" lIns="0" tIns="0" rIns="0" bIns="0" rtlCol="0" anchor="ctr">
            <a:normAutofit/>
          </a:bodyPr>
          <a:lstStyle/>
          <a:p>
            <a:pPr marL="0" indent="0" algn="ctr">
              <a:buNone/>
            </a:pPr>
            <a:r>
              <a:rPr lang="en-US" sz="710" dirty="0">
                <a:solidFill>
                  <a:srgbClr val="E0F2FE"/>
                </a:solidFill>
              </a:rPr>
              <a:t>RAG pipeline</a:t>
            </a:r>
            <a:endParaRPr lang="en-US" sz="710" dirty="0"/>
          </a:p>
        </p:txBody>
      </p:sp>
      <p:sp>
        <p:nvSpPr>
          <p:cNvPr id="32" name="Shape 30"/>
          <p:cNvSpPr/>
          <p:nvPr/>
        </p:nvSpPr>
        <p:spPr>
          <a:xfrm>
            <a:off x="9326880" y="2286000"/>
            <a:ext cx="1143000" cy="768096"/>
          </a:xfrm>
          <a:prstGeom prst="roundRect">
            <a:avLst>
              <a:gd name="adj" fmla="val 9524"/>
            </a:avLst>
          </a:prstGeom>
          <a:solidFill>
            <a:srgbClr val="7C3AED"/>
          </a:solidFill>
          <a:ln w="12700">
            <a:solidFill>
              <a:srgbClr val="7C3AED">
                <a:alpha val="80000"/>
              </a:srgbClr>
            </a:solidFill>
            <a:prstDash val="solid"/>
          </a:ln>
          <a:effectLst>
            <a:outerShdw blurRad="15240" dist="50800" dir="2700000" algn="bl" rotWithShape="0">
              <a:srgbClr val="B8CDE0">
                <a:alpha val="11000"/>
              </a:srgbClr>
            </a:outerShdw>
          </a:effectLst>
        </p:spPr>
        <p:txBody>
          <a:bodyPr/>
          <a:lstStyle/>
          <a:p>
            <a:endParaRPr lang="en-GB"/>
          </a:p>
        </p:txBody>
      </p:sp>
      <p:sp>
        <p:nvSpPr>
          <p:cNvPr id="33" name="Text 31"/>
          <p:cNvSpPr/>
          <p:nvPr/>
        </p:nvSpPr>
        <p:spPr>
          <a:xfrm>
            <a:off x="9400032" y="2395728"/>
            <a:ext cx="996696" cy="330281"/>
          </a:xfrm>
          <a:prstGeom prst="rect">
            <a:avLst/>
          </a:prstGeom>
          <a:noFill/>
          <a:ln/>
        </p:spPr>
        <p:txBody>
          <a:bodyPr wrap="square" lIns="0" tIns="0" rIns="0" bIns="0" rtlCol="0" anchor="ctr">
            <a:normAutofit/>
          </a:bodyPr>
          <a:lstStyle/>
          <a:p>
            <a:pPr marL="0" indent="0" algn="ctr">
              <a:buNone/>
            </a:pPr>
            <a:r>
              <a:rPr lang="en-US" sz="1120" b="1" dirty="0">
                <a:solidFill>
                  <a:srgbClr val="FFFFFF"/>
                </a:solidFill>
                <a:latin typeface="Aptos Display" pitchFamily="34" charset="0"/>
                <a:ea typeface="Aptos Display" pitchFamily="34" charset="-122"/>
                <a:cs typeface="Aptos Display" pitchFamily="34" charset="-120"/>
              </a:rPr>
              <a:t>Azure AI</a:t>
            </a:r>
            <a:endParaRPr lang="en-US" sz="1120" dirty="0"/>
          </a:p>
        </p:txBody>
      </p:sp>
      <p:sp>
        <p:nvSpPr>
          <p:cNvPr id="34" name="Text 32"/>
          <p:cNvSpPr/>
          <p:nvPr/>
        </p:nvSpPr>
        <p:spPr>
          <a:xfrm>
            <a:off x="9409176" y="2723815"/>
            <a:ext cx="978408" cy="215067"/>
          </a:xfrm>
          <a:prstGeom prst="rect">
            <a:avLst/>
          </a:prstGeom>
          <a:noFill/>
          <a:ln/>
        </p:spPr>
        <p:txBody>
          <a:bodyPr wrap="square" lIns="0" tIns="0" rIns="0" bIns="0" rtlCol="0" anchor="ctr">
            <a:normAutofit/>
          </a:bodyPr>
          <a:lstStyle/>
          <a:p>
            <a:pPr marL="0" indent="0" algn="ctr">
              <a:buNone/>
            </a:pPr>
            <a:r>
              <a:rPr lang="en-US" sz="710" dirty="0">
                <a:solidFill>
                  <a:srgbClr val="E0F2FE"/>
                </a:solidFill>
              </a:rPr>
              <a:t>chat + embeddings</a:t>
            </a:r>
            <a:endParaRPr lang="en-US" sz="710" dirty="0"/>
          </a:p>
        </p:txBody>
      </p:sp>
      <p:sp>
        <p:nvSpPr>
          <p:cNvPr id="35" name="Shape 33"/>
          <p:cNvSpPr/>
          <p:nvPr/>
        </p:nvSpPr>
        <p:spPr>
          <a:xfrm>
            <a:off x="621791" y="3840480"/>
            <a:ext cx="2414017" cy="585216"/>
          </a:xfrm>
          <a:prstGeom prst="roundRect">
            <a:avLst>
              <a:gd name="adj" fmla="val 12500"/>
            </a:avLst>
          </a:prstGeom>
          <a:solidFill>
            <a:srgbClr val="FBBF24"/>
          </a:solidFill>
          <a:ln w="12700">
            <a:solidFill>
              <a:srgbClr val="FBBF24">
                <a:alpha val="80000"/>
              </a:srgbClr>
            </a:solidFill>
            <a:prstDash val="solid"/>
          </a:ln>
          <a:effectLst>
            <a:outerShdw blurRad="15240" dist="50800" dir="2700000" algn="bl" rotWithShape="0">
              <a:srgbClr val="B8CDE0">
                <a:alpha val="11000"/>
              </a:srgbClr>
            </a:outerShdw>
          </a:effectLst>
        </p:spPr>
        <p:txBody>
          <a:bodyPr/>
          <a:lstStyle/>
          <a:p>
            <a:pPr algn="ctr"/>
            <a:endParaRPr lang="en-GB" dirty="0"/>
          </a:p>
        </p:txBody>
      </p:sp>
      <p:sp>
        <p:nvSpPr>
          <p:cNvPr id="36" name="Text 34"/>
          <p:cNvSpPr/>
          <p:nvPr/>
        </p:nvSpPr>
        <p:spPr>
          <a:xfrm>
            <a:off x="694943" y="3950208"/>
            <a:ext cx="2276855" cy="251643"/>
          </a:xfrm>
          <a:prstGeom prst="rect">
            <a:avLst/>
          </a:prstGeom>
          <a:noFill/>
          <a:ln/>
        </p:spPr>
        <p:txBody>
          <a:bodyPr wrap="square" lIns="0" tIns="0" rIns="0" bIns="0" rtlCol="0" anchor="ctr">
            <a:normAutofit/>
          </a:bodyPr>
          <a:lstStyle/>
          <a:p>
            <a:pPr marL="0" indent="0" algn="ctr">
              <a:buNone/>
            </a:pPr>
            <a:r>
              <a:rPr lang="en-US" sz="1000" b="1" dirty="0">
                <a:solidFill>
                  <a:srgbClr val="0B1F33"/>
                </a:solidFill>
                <a:latin typeface="Aptos Display" pitchFamily="34" charset="0"/>
                <a:ea typeface="Aptos Display" pitchFamily="34" charset="-122"/>
                <a:cs typeface="Aptos Display" pitchFamily="34" charset="-120"/>
              </a:rPr>
              <a:t>Entra ID</a:t>
            </a:r>
            <a:endParaRPr lang="en-US" sz="1000" dirty="0"/>
          </a:p>
        </p:txBody>
      </p:sp>
      <p:sp>
        <p:nvSpPr>
          <p:cNvPr id="37" name="Text 35"/>
          <p:cNvSpPr/>
          <p:nvPr/>
        </p:nvSpPr>
        <p:spPr>
          <a:xfrm>
            <a:off x="704087" y="4174053"/>
            <a:ext cx="2238589" cy="163860"/>
          </a:xfrm>
          <a:prstGeom prst="rect">
            <a:avLst/>
          </a:prstGeom>
          <a:noFill/>
          <a:ln/>
        </p:spPr>
        <p:txBody>
          <a:bodyPr wrap="square" lIns="0" tIns="0" rIns="0" bIns="0" rtlCol="0" anchor="ctr">
            <a:normAutofit/>
          </a:bodyPr>
          <a:lstStyle/>
          <a:p>
            <a:pPr marL="0" indent="0" algn="ctr">
              <a:buNone/>
            </a:pPr>
            <a:r>
              <a:rPr lang="en-US" sz="710" dirty="0">
                <a:solidFill>
                  <a:srgbClr val="0B1F33"/>
                </a:solidFill>
              </a:rPr>
              <a:t>user auth</a:t>
            </a:r>
            <a:endParaRPr lang="en-US" sz="710" dirty="0"/>
          </a:p>
        </p:txBody>
      </p:sp>
      <p:sp>
        <p:nvSpPr>
          <p:cNvPr id="38" name="Shape 36"/>
          <p:cNvSpPr/>
          <p:nvPr/>
        </p:nvSpPr>
        <p:spPr>
          <a:xfrm flipV="1">
            <a:off x="1234440" y="3171871"/>
            <a:ext cx="0" cy="668609"/>
          </a:xfrm>
          <a:prstGeom prst="line">
            <a:avLst/>
          </a:prstGeom>
          <a:noFill/>
          <a:ln w="13970">
            <a:solidFill>
              <a:srgbClr val="FBBF24"/>
            </a:solidFill>
            <a:prstDash val="solid"/>
            <a:headEnd type="none"/>
            <a:tailEnd type="triangle"/>
          </a:ln>
        </p:spPr>
        <p:txBody>
          <a:bodyPr/>
          <a:lstStyle/>
          <a:p>
            <a:endParaRPr lang="en-GB"/>
          </a:p>
        </p:txBody>
      </p:sp>
      <p:sp>
        <p:nvSpPr>
          <p:cNvPr id="39" name="Shape 37"/>
          <p:cNvSpPr/>
          <p:nvPr/>
        </p:nvSpPr>
        <p:spPr>
          <a:xfrm>
            <a:off x="3767328" y="4480560"/>
            <a:ext cx="1325880" cy="585216"/>
          </a:xfrm>
          <a:prstGeom prst="roundRect">
            <a:avLst>
              <a:gd name="adj" fmla="val 12500"/>
            </a:avLst>
          </a:prstGeom>
          <a:solidFill>
            <a:srgbClr val="14B8A6"/>
          </a:solidFill>
          <a:ln w="12700">
            <a:solidFill>
              <a:srgbClr val="14B8A6">
                <a:alpha val="80000"/>
              </a:srgbClr>
            </a:solidFill>
            <a:prstDash val="solid"/>
          </a:ln>
          <a:effectLst>
            <a:outerShdw blurRad="15240" dist="50800" dir="2700000" algn="bl" rotWithShape="0">
              <a:srgbClr val="B8CDE0">
                <a:alpha val="11000"/>
              </a:srgbClr>
            </a:outerShdw>
          </a:effectLst>
        </p:spPr>
        <p:txBody>
          <a:bodyPr/>
          <a:lstStyle/>
          <a:p>
            <a:endParaRPr lang="en-GB"/>
          </a:p>
        </p:txBody>
      </p:sp>
      <p:sp>
        <p:nvSpPr>
          <p:cNvPr id="40" name="Text 38"/>
          <p:cNvSpPr/>
          <p:nvPr/>
        </p:nvSpPr>
        <p:spPr>
          <a:xfrm>
            <a:off x="3840480" y="4590288"/>
            <a:ext cx="1179576" cy="251643"/>
          </a:xfrm>
          <a:prstGeom prst="rect">
            <a:avLst/>
          </a:prstGeom>
          <a:noFill/>
          <a:ln/>
        </p:spPr>
        <p:txBody>
          <a:bodyPr wrap="square" lIns="0" tIns="0" rIns="0" bIns="0" rtlCol="0" anchor="ctr">
            <a:normAutofit/>
          </a:bodyPr>
          <a:lstStyle/>
          <a:p>
            <a:pPr marL="0" indent="0" algn="ctr">
              <a:buNone/>
            </a:pPr>
            <a:r>
              <a:rPr lang="en-US" sz="1120" b="1" dirty="0">
                <a:solidFill>
                  <a:srgbClr val="FFFFFF"/>
                </a:solidFill>
                <a:latin typeface="Aptos Display" pitchFamily="34" charset="0"/>
                <a:ea typeface="Aptos Display" pitchFamily="34" charset="-122"/>
                <a:cs typeface="Aptos Display" pitchFamily="34" charset="-120"/>
              </a:rPr>
              <a:t>App Insights</a:t>
            </a:r>
            <a:endParaRPr lang="en-US" sz="1120" dirty="0"/>
          </a:p>
        </p:txBody>
      </p:sp>
      <p:sp>
        <p:nvSpPr>
          <p:cNvPr id="41" name="Text 39"/>
          <p:cNvSpPr/>
          <p:nvPr/>
        </p:nvSpPr>
        <p:spPr>
          <a:xfrm>
            <a:off x="3849624" y="4814133"/>
            <a:ext cx="1161288" cy="163860"/>
          </a:xfrm>
          <a:prstGeom prst="rect">
            <a:avLst/>
          </a:prstGeom>
          <a:noFill/>
          <a:ln/>
        </p:spPr>
        <p:txBody>
          <a:bodyPr wrap="square" lIns="0" tIns="0" rIns="0" bIns="0" rtlCol="0" anchor="ctr">
            <a:normAutofit/>
          </a:bodyPr>
          <a:lstStyle/>
          <a:p>
            <a:pPr marL="0" indent="0" algn="ctr">
              <a:buNone/>
            </a:pPr>
            <a:r>
              <a:rPr lang="en-US" sz="710" dirty="0">
                <a:solidFill>
                  <a:srgbClr val="E0F2FE"/>
                </a:solidFill>
              </a:rPr>
              <a:t>trace + metrics</a:t>
            </a:r>
            <a:endParaRPr lang="en-US" sz="710" dirty="0"/>
          </a:p>
        </p:txBody>
      </p:sp>
      <p:sp>
        <p:nvSpPr>
          <p:cNvPr id="42" name="Shape 40"/>
          <p:cNvSpPr/>
          <p:nvPr/>
        </p:nvSpPr>
        <p:spPr>
          <a:xfrm>
            <a:off x="5577839" y="4456707"/>
            <a:ext cx="3343523" cy="585216"/>
          </a:xfrm>
          <a:prstGeom prst="roundRect">
            <a:avLst>
              <a:gd name="adj" fmla="val 12500"/>
            </a:avLst>
          </a:prstGeom>
          <a:solidFill>
            <a:srgbClr val="14B8A6"/>
          </a:solidFill>
          <a:ln w="12700">
            <a:solidFill>
              <a:srgbClr val="14B8A6">
                <a:alpha val="80000"/>
              </a:srgbClr>
            </a:solidFill>
            <a:prstDash val="solid"/>
          </a:ln>
          <a:effectLst>
            <a:outerShdw blurRad="15240" dist="50800" dir="2700000" algn="bl" rotWithShape="0">
              <a:srgbClr val="B8CDE0">
                <a:alpha val="11000"/>
              </a:srgbClr>
            </a:outerShdw>
          </a:effectLst>
        </p:spPr>
        <p:txBody>
          <a:bodyPr/>
          <a:lstStyle/>
          <a:p>
            <a:endParaRPr lang="en-GB"/>
          </a:p>
        </p:txBody>
      </p:sp>
      <p:sp>
        <p:nvSpPr>
          <p:cNvPr id="43" name="Text 41"/>
          <p:cNvSpPr/>
          <p:nvPr/>
        </p:nvSpPr>
        <p:spPr>
          <a:xfrm>
            <a:off x="5650992" y="4590288"/>
            <a:ext cx="3190858" cy="251643"/>
          </a:xfrm>
          <a:prstGeom prst="rect">
            <a:avLst/>
          </a:prstGeom>
          <a:noFill/>
          <a:ln/>
        </p:spPr>
        <p:txBody>
          <a:bodyPr wrap="square" lIns="0" tIns="0" rIns="0" bIns="0" rtlCol="0" anchor="ctr">
            <a:normAutofit/>
          </a:bodyPr>
          <a:lstStyle/>
          <a:p>
            <a:pPr marL="0" indent="0" algn="ctr">
              <a:buNone/>
            </a:pPr>
            <a:r>
              <a:rPr lang="en-US" sz="1120" b="1" dirty="0">
                <a:solidFill>
                  <a:srgbClr val="FFFFFF"/>
                </a:solidFill>
                <a:latin typeface="Aptos Display" pitchFamily="34" charset="0"/>
                <a:ea typeface="Aptos Display" pitchFamily="34" charset="-122"/>
                <a:cs typeface="Aptos Display" pitchFamily="34" charset="-120"/>
              </a:rPr>
              <a:t>KEDA</a:t>
            </a:r>
            <a:endParaRPr lang="en-US" sz="1120" dirty="0"/>
          </a:p>
        </p:txBody>
      </p:sp>
      <p:sp>
        <p:nvSpPr>
          <p:cNvPr id="44" name="Text 42"/>
          <p:cNvSpPr/>
          <p:nvPr/>
        </p:nvSpPr>
        <p:spPr>
          <a:xfrm>
            <a:off x="5660136" y="4814132"/>
            <a:ext cx="3190858" cy="173005"/>
          </a:xfrm>
          <a:prstGeom prst="rect">
            <a:avLst/>
          </a:prstGeom>
          <a:noFill/>
          <a:ln/>
        </p:spPr>
        <p:txBody>
          <a:bodyPr wrap="square" lIns="0" tIns="0" rIns="0" bIns="0" rtlCol="0" anchor="ctr">
            <a:normAutofit/>
          </a:bodyPr>
          <a:lstStyle/>
          <a:p>
            <a:pPr marL="0" indent="0" algn="ctr">
              <a:buNone/>
            </a:pPr>
            <a:r>
              <a:rPr lang="en-US" sz="710" dirty="0">
                <a:solidFill>
                  <a:srgbClr val="E0F2FE"/>
                </a:solidFill>
              </a:rPr>
              <a:t>1–3 replicas</a:t>
            </a:r>
            <a:endParaRPr lang="en-US" sz="710" dirty="0"/>
          </a:p>
        </p:txBody>
      </p:sp>
      <p:sp>
        <p:nvSpPr>
          <p:cNvPr id="45" name="Shape 43"/>
          <p:cNvSpPr/>
          <p:nvPr/>
        </p:nvSpPr>
        <p:spPr>
          <a:xfrm>
            <a:off x="4343400" y="3054096"/>
            <a:ext cx="0" cy="1399032"/>
          </a:xfrm>
          <a:prstGeom prst="line">
            <a:avLst/>
          </a:prstGeom>
          <a:noFill/>
          <a:ln w="12700">
            <a:solidFill>
              <a:srgbClr val="14B8A6"/>
            </a:solidFill>
            <a:prstDash val="solid"/>
            <a:headEnd type="none"/>
            <a:tailEnd type="triangle"/>
          </a:ln>
        </p:spPr>
        <p:txBody>
          <a:bodyPr/>
          <a:lstStyle/>
          <a:p>
            <a:endParaRPr lang="en-GB"/>
          </a:p>
        </p:txBody>
      </p:sp>
      <p:sp>
        <p:nvSpPr>
          <p:cNvPr id="46" name="Shape 44"/>
          <p:cNvSpPr/>
          <p:nvPr/>
        </p:nvSpPr>
        <p:spPr>
          <a:xfrm>
            <a:off x="6217920" y="3054096"/>
            <a:ext cx="0" cy="1399032"/>
          </a:xfrm>
          <a:prstGeom prst="line">
            <a:avLst/>
          </a:prstGeom>
          <a:noFill/>
          <a:ln w="12700">
            <a:solidFill>
              <a:srgbClr val="14B8A6"/>
            </a:solidFill>
            <a:prstDash val="solid"/>
            <a:headEnd type="none"/>
            <a:tailEnd type="triangle"/>
          </a:ln>
        </p:spPr>
        <p:txBody>
          <a:bodyPr/>
          <a:lstStyle/>
          <a:p>
            <a:endParaRPr lang="en-GB"/>
          </a:p>
        </p:txBody>
      </p:sp>
      <p:grpSp>
        <p:nvGrpSpPr>
          <p:cNvPr id="56" name="Group 55">
            <a:extLst>
              <a:ext uri="{FF2B5EF4-FFF2-40B4-BE49-F238E27FC236}">
                <a16:creationId xmlns:a16="http://schemas.microsoft.com/office/drawing/2014/main" id="{7A04AD75-8D78-0D80-60CD-DFA74C45D8A6}"/>
              </a:ext>
            </a:extLst>
          </p:cNvPr>
          <p:cNvGrpSpPr/>
          <p:nvPr/>
        </p:nvGrpSpPr>
        <p:grpSpPr>
          <a:xfrm>
            <a:off x="6266690" y="5067764"/>
            <a:ext cx="3429000" cy="877824"/>
            <a:chOff x="7452360" y="4343400"/>
            <a:chExt cx="3429000" cy="877824"/>
          </a:xfrm>
        </p:grpSpPr>
        <p:sp>
          <p:nvSpPr>
            <p:cNvPr id="48" name="Shape 46"/>
            <p:cNvSpPr/>
            <p:nvPr/>
          </p:nvSpPr>
          <p:spPr>
            <a:xfrm>
              <a:off x="7452360" y="4343400"/>
              <a:ext cx="3429000" cy="877824"/>
            </a:xfrm>
            <a:prstGeom prst="roundRect">
              <a:avLst>
                <a:gd name="adj" fmla="val 10417"/>
              </a:avLst>
            </a:prstGeom>
            <a:solidFill>
              <a:srgbClr val="F8FCFF"/>
            </a:solidFill>
            <a:ln w="12700">
              <a:solidFill>
                <a:srgbClr val="2563EB">
                  <a:alpha val="55000"/>
                </a:srgbClr>
              </a:solidFill>
              <a:prstDash val="solid"/>
            </a:ln>
          </p:spPr>
          <p:txBody>
            <a:bodyPr/>
            <a:lstStyle/>
            <a:p>
              <a:endParaRPr lang="en-GB"/>
            </a:p>
          </p:txBody>
        </p:sp>
        <p:sp>
          <p:nvSpPr>
            <p:cNvPr id="49" name="Text 47"/>
            <p:cNvSpPr/>
            <p:nvPr/>
          </p:nvSpPr>
          <p:spPr>
            <a:xfrm>
              <a:off x="7680960" y="4480560"/>
              <a:ext cx="2971800" cy="256032"/>
            </a:xfrm>
            <a:prstGeom prst="rect">
              <a:avLst/>
            </a:prstGeom>
            <a:noFill/>
            <a:ln/>
          </p:spPr>
          <p:txBody>
            <a:bodyPr wrap="square" lIns="0" tIns="0" rIns="0" bIns="0" rtlCol="0" anchor="ctr">
              <a:normAutofit/>
            </a:bodyPr>
            <a:lstStyle/>
            <a:p>
              <a:pPr marL="0" indent="0">
                <a:buNone/>
              </a:pPr>
              <a:r>
                <a:rPr lang="en-US" sz="1040" b="1" dirty="0">
                  <a:solidFill>
                    <a:srgbClr val="2563EB"/>
                  </a:solidFill>
                </a:rPr>
                <a:t>Identity model</a:t>
              </a:r>
              <a:endParaRPr lang="en-US" sz="1040" dirty="0"/>
            </a:p>
          </p:txBody>
        </p:sp>
        <p:sp>
          <p:nvSpPr>
            <p:cNvPr id="50" name="Text 48"/>
            <p:cNvSpPr/>
            <p:nvPr/>
          </p:nvSpPr>
          <p:spPr>
            <a:xfrm>
              <a:off x="7680960" y="4782312"/>
              <a:ext cx="2971800" cy="374904"/>
            </a:xfrm>
            <a:prstGeom prst="rect">
              <a:avLst/>
            </a:prstGeom>
            <a:noFill/>
            <a:ln/>
          </p:spPr>
          <p:txBody>
            <a:bodyPr wrap="square" lIns="0" tIns="0" rIns="0" bIns="0" rtlCol="0" anchor="ctr">
              <a:normAutofit/>
            </a:bodyPr>
            <a:lstStyle/>
            <a:p>
              <a:pPr marL="0" indent="0">
                <a:buNone/>
              </a:pPr>
              <a:r>
                <a:rPr lang="en-US" sz="830" dirty="0">
                  <a:solidFill>
                    <a:srgbClr val="52657A"/>
                  </a:solidFill>
                </a:rPr>
                <a:t>Users authenticate through Entra. API and Worker use Managed Identity/RBAC for Azure services.</a:t>
              </a:r>
              <a:endParaRPr lang="en-US" sz="830" dirty="0"/>
            </a:p>
          </p:txBody>
        </p:sp>
      </p:grpSp>
      <p:sp>
        <p:nvSpPr>
          <p:cNvPr id="51" name="Shape 49"/>
          <p:cNvSpPr/>
          <p:nvPr/>
        </p:nvSpPr>
        <p:spPr>
          <a:xfrm>
            <a:off x="713232" y="5102352"/>
            <a:ext cx="5212080" cy="822960"/>
          </a:xfrm>
          <a:prstGeom prst="roundRect">
            <a:avLst>
              <a:gd name="adj" fmla="val 11111"/>
            </a:avLst>
          </a:prstGeom>
          <a:solidFill>
            <a:srgbClr val="F8FCFF"/>
          </a:solidFill>
          <a:ln w="12700">
            <a:solidFill>
              <a:srgbClr val="14B8A6">
                <a:alpha val="55000"/>
              </a:srgbClr>
            </a:solidFill>
            <a:prstDash val="solid"/>
          </a:ln>
        </p:spPr>
        <p:txBody>
          <a:bodyPr/>
          <a:lstStyle/>
          <a:p>
            <a:endParaRPr lang="en-GB"/>
          </a:p>
        </p:txBody>
      </p:sp>
      <p:sp>
        <p:nvSpPr>
          <p:cNvPr id="52" name="Text 50"/>
          <p:cNvSpPr/>
          <p:nvPr/>
        </p:nvSpPr>
        <p:spPr>
          <a:xfrm>
            <a:off x="941832" y="5239512"/>
            <a:ext cx="4754880" cy="256032"/>
          </a:xfrm>
          <a:prstGeom prst="rect">
            <a:avLst/>
          </a:prstGeom>
          <a:noFill/>
          <a:ln/>
        </p:spPr>
        <p:txBody>
          <a:bodyPr wrap="square" lIns="0" tIns="0" rIns="0" bIns="0" rtlCol="0" anchor="ctr">
            <a:normAutofit/>
          </a:bodyPr>
          <a:lstStyle/>
          <a:p>
            <a:pPr marL="0" indent="0">
              <a:buNone/>
            </a:pPr>
            <a:r>
              <a:rPr lang="en-US" sz="1040" b="1" dirty="0">
                <a:solidFill>
                  <a:srgbClr val="14B8A6"/>
                </a:solidFill>
              </a:rPr>
              <a:t>Reliability model</a:t>
            </a:r>
            <a:endParaRPr lang="en-US" sz="1040" dirty="0"/>
          </a:p>
        </p:txBody>
      </p:sp>
      <p:sp>
        <p:nvSpPr>
          <p:cNvPr id="53" name="Text 51"/>
          <p:cNvSpPr/>
          <p:nvPr/>
        </p:nvSpPr>
        <p:spPr>
          <a:xfrm>
            <a:off x="941832" y="5541264"/>
            <a:ext cx="4754880" cy="320040"/>
          </a:xfrm>
          <a:prstGeom prst="rect">
            <a:avLst/>
          </a:prstGeom>
          <a:noFill/>
          <a:ln/>
        </p:spPr>
        <p:txBody>
          <a:bodyPr wrap="square" lIns="0" tIns="0" rIns="0" bIns="0" rtlCol="0" anchor="ctr">
            <a:normAutofit/>
          </a:bodyPr>
          <a:lstStyle/>
          <a:p>
            <a:pPr marL="0" indent="0">
              <a:buNone/>
            </a:pPr>
            <a:r>
              <a:rPr lang="en-US" sz="830" dirty="0">
                <a:solidFill>
                  <a:srgbClr val="52657A"/>
                </a:solidFill>
              </a:rPr>
              <a:t>Incident + outbox is committed atomically before Service Bus processing begins.</a:t>
            </a:r>
            <a:endParaRPr lang="en-US" sz="830" dirty="0"/>
          </a:p>
        </p:txBody>
      </p:sp>
      <p:sp>
        <p:nvSpPr>
          <p:cNvPr id="55" name="Shape 36">
            <a:extLst>
              <a:ext uri="{FF2B5EF4-FFF2-40B4-BE49-F238E27FC236}">
                <a16:creationId xmlns:a16="http://schemas.microsoft.com/office/drawing/2014/main" id="{A93EBDB7-9082-5347-1269-F000F2E6CEAB}"/>
              </a:ext>
            </a:extLst>
          </p:cNvPr>
          <p:cNvSpPr/>
          <p:nvPr/>
        </p:nvSpPr>
        <p:spPr>
          <a:xfrm flipV="1">
            <a:off x="2626580" y="3171871"/>
            <a:ext cx="0" cy="668609"/>
          </a:xfrm>
          <a:prstGeom prst="line">
            <a:avLst/>
          </a:prstGeom>
          <a:noFill/>
          <a:ln w="13970">
            <a:solidFill>
              <a:srgbClr val="FBBF24"/>
            </a:solidFill>
            <a:prstDash val="solid"/>
            <a:headEnd type="none"/>
            <a:tailEnd type="triangle"/>
          </a:ln>
        </p:spPr>
        <p:txBody>
          <a:bodyPr/>
          <a:lstStyle/>
          <a:p>
            <a:endParaRPr lang="en-GB"/>
          </a:p>
        </p:txBody>
      </p:sp>
      <p:sp>
        <p:nvSpPr>
          <p:cNvPr id="58" name="Shape 44">
            <a:extLst>
              <a:ext uri="{FF2B5EF4-FFF2-40B4-BE49-F238E27FC236}">
                <a16:creationId xmlns:a16="http://schemas.microsoft.com/office/drawing/2014/main" id="{023FA283-11FD-B21D-8726-47E0A282EE08}"/>
              </a:ext>
            </a:extLst>
          </p:cNvPr>
          <p:cNvSpPr/>
          <p:nvPr/>
        </p:nvSpPr>
        <p:spPr>
          <a:xfrm flipV="1">
            <a:off x="8147436" y="3191256"/>
            <a:ext cx="0" cy="1289304"/>
          </a:xfrm>
          <a:prstGeom prst="line">
            <a:avLst/>
          </a:prstGeom>
          <a:noFill/>
          <a:ln w="12700">
            <a:solidFill>
              <a:srgbClr val="14B8A6"/>
            </a:solidFill>
            <a:prstDash val="solid"/>
            <a:headEnd type="none"/>
            <a:tailEnd type="triangle"/>
          </a:ln>
        </p:spPr>
        <p:txBody>
          <a:bodyPr/>
          <a:lstStyle/>
          <a:p>
            <a:endParaRPr lang="en-GB"/>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BFF"/>
        </a:solidFill>
        <a:effectLst/>
      </p:bgPr>
    </p:bg>
    <p:spTree>
      <p:nvGrpSpPr>
        <p:cNvPr id="1" name=""/>
        <p:cNvGrpSpPr/>
        <p:nvPr/>
      </p:nvGrpSpPr>
      <p:grpSpPr>
        <a:xfrm>
          <a:off x="0" y="0"/>
          <a:ext cx="0" cy="0"/>
          <a:chOff x="0" y="0"/>
          <a:chExt cx="0" cy="0"/>
        </a:xfrm>
      </p:grpSpPr>
      <p:sp>
        <p:nvSpPr>
          <p:cNvPr id="2" name="Shape 0"/>
          <p:cNvSpPr/>
          <p:nvPr/>
        </p:nvSpPr>
        <p:spPr>
          <a:xfrm>
            <a:off x="-1143000" y="-1143000"/>
            <a:ext cx="3749040" cy="3749040"/>
          </a:xfrm>
          <a:prstGeom prst="arc">
            <a:avLst/>
          </a:prstGeom>
          <a:solidFill>
            <a:srgbClr val="E6FFFA">
              <a:alpha val="94000"/>
            </a:srgbClr>
          </a:solidFill>
          <a:ln w="12700">
            <a:solidFill>
              <a:srgbClr val="E6FFFA">
                <a:alpha val="0"/>
              </a:srgbClr>
            </a:solidFill>
            <a:prstDash val="solid"/>
          </a:ln>
        </p:spPr>
        <p:txBody>
          <a:bodyPr/>
          <a:lstStyle/>
          <a:p>
            <a:endParaRPr lang="en-GB"/>
          </a:p>
        </p:txBody>
      </p:sp>
      <p:sp>
        <p:nvSpPr>
          <p:cNvPr id="3" name="Shape 1"/>
          <p:cNvSpPr/>
          <p:nvPr/>
        </p:nvSpPr>
        <p:spPr>
          <a:xfrm>
            <a:off x="10012680" y="-685800"/>
            <a:ext cx="2926080" cy="2926080"/>
          </a:xfrm>
          <a:prstGeom prst="ellipse">
            <a:avLst/>
          </a:prstGeom>
          <a:solidFill>
            <a:srgbClr val="EAF5FF">
              <a:alpha val="95000"/>
            </a:srgbClr>
          </a:solidFill>
          <a:ln w="12700">
            <a:solidFill>
              <a:srgbClr val="EAF5FF">
                <a:alpha val="0"/>
              </a:srgbClr>
            </a:solidFill>
            <a:prstDash val="solid"/>
          </a:ln>
        </p:spPr>
        <p:txBody>
          <a:bodyPr/>
          <a:lstStyle/>
          <a:p>
            <a:endParaRPr lang="en-GB"/>
          </a:p>
        </p:txBody>
      </p:sp>
      <p:sp>
        <p:nvSpPr>
          <p:cNvPr id="4" name="Shape 2"/>
          <p:cNvSpPr/>
          <p:nvPr/>
        </p:nvSpPr>
        <p:spPr>
          <a:xfrm>
            <a:off x="10652760" y="5120640"/>
            <a:ext cx="2011680" cy="2011680"/>
          </a:xfrm>
          <a:prstGeom prst="ellipse">
            <a:avLst/>
          </a:prstGeom>
          <a:solidFill>
            <a:srgbClr val="E6FFFA">
              <a:alpha val="76000"/>
            </a:srgbClr>
          </a:solidFill>
          <a:ln w="12700">
            <a:solidFill>
              <a:srgbClr val="E6FFFA">
                <a:alpha val="0"/>
              </a:srgbClr>
            </a:solidFill>
            <a:prstDash val="solid"/>
          </a:ln>
        </p:spPr>
        <p:txBody>
          <a:bodyPr/>
          <a:lstStyle/>
          <a:p>
            <a:endParaRPr lang="en-GB"/>
          </a:p>
        </p:txBody>
      </p:sp>
      <p:sp>
        <p:nvSpPr>
          <p:cNvPr id="5" name="Shape 3"/>
          <p:cNvSpPr/>
          <p:nvPr/>
        </p:nvSpPr>
        <p:spPr>
          <a:xfrm>
            <a:off x="0" y="0"/>
            <a:ext cx="12191695" cy="100584"/>
          </a:xfrm>
          <a:prstGeom prst="rect">
            <a:avLst/>
          </a:prstGeom>
          <a:solidFill>
            <a:srgbClr val="14B8A6"/>
          </a:solidFill>
          <a:ln w="12700">
            <a:solidFill>
              <a:srgbClr val="14B8A6">
                <a:alpha val="0"/>
              </a:srgbClr>
            </a:solidFill>
            <a:prstDash val="solid"/>
          </a:ln>
        </p:spPr>
        <p:txBody>
          <a:bodyPr/>
          <a:lstStyle/>
          <a:p>
            <a:endParaRPr lang="en-GB"/>
          </a:p>
        </p:txBody>
      </p:sp>
      <p:sp>
        <p:nvSpPr>
          <p:cNvPr id="6" name="Text 4"/>
          <p:cNvSpPr/>
          <p:nvPr/>
        </p:nvSpPr>
        <p:spPr>
          <a:xfrm>
            <a:off x="548640" y="6336792"/>
            <a:ext cx="1828800" cy="201168"/>
          </a:xfrm>
          <a:prstGeom prst="rect">
            <a:avLst/>
          </a:prstGeom>
          <a:noFill/>
          <a:ln/>
        </p:spPr>
        <p:txBody>
          <a:bodyPr wrap="square" lIns="0" tIns="0" rIns="0" bIns="0" rtlCol="0" anchor="ctr"/>
          <a:lstStyle/>
          <a:p>
            <a:pPr marL="0" indent="0">
              <a:buNone/>
            </a:pPr>
            <a:r>
              <a:rPr lang="en-US" sz="850" b="1" dirty="0">
                <a:solidFill>
                  <a:srgbClr val="12355B"/>
                </a:solidFill>
              </a:rPr>
              <a:t>IncidentIQ</a:t>
            </a:r>
            <a:endParaRPr lang="en-US" sz="850" dirty="0"/>
          </a:p>
        </p:txBody>
      </p:sp>
      <p:sp>
        <p:nvSpPr>
          <p:cNvPr id="7" name="Text 5"/>
          <p:cNvSpPr/>
          <p:nvPr/>
        </p:nvSpPr>
        <p:spPr>
          <a:xfrm>
            <a:off x="1874520" y="6336792"/>
            <a:ext cx="4572000" cy="201168"/>
          </a:xfrm>
          <a:prstGeom prst="rect">
            <a:avLst/>
          </a:prstGeom>
          <a:noFill/>
          <a:ln/>
        </p:spPr>
        <p:txBody>
          <a:bodyPr wrap="square" lIns="0" tIns="0" rIns="0" bIns="0" rtlCol="0" anchor="ctr"/>
          <a:lstStyle/>
          <a:p>
            <a:pPr marL="0" indent="0">
              <a:buNone/>
            </a:pPr>
            <a:r>
              <a:rPr lang="en-US" sz="850" dirty="0">
                <a:solidFill>
                  <a:srgbClr val="64748B"/>
                </a:solidFill>
              </a:rPr>
              <a:t>Authentication &amp; authorization</a:t>
            </a:r>
            <a:endParaRPr lang="en-US" sz="850" dirty="0"/>
          </a:p>
        </p:txBody>
      </p:sp>
      <p:sp>
        <p:nvSpPr>
          <p:cNvPr id="8" name="Text 6"/>
          <p:cNvSpPr/>
          <p:nvPr/>
        </p:nvSpPr>
        <p:spPr>
          <a:xfrm>
            <a:off x="11155680" y="6291072"/>
            <a:ext cx="457200" cy="228600"/>
          </a:xfrm>
          <a:prstGeom prst="rect">
            <a:avLst/>
          </a:prstGeom>
          <a:noFill/>
          <a:ln/>
        </p:spPr>
        <p:txBody>
          <a:bodyPr wrap="square" lIns="0" tIns="0" rIns="0" bIns="0" rtlCol="0" anchor="ctr"/>
          <a:lstStyle/>
          <a:p>
            <a:pPr marL="0" indent="0" algn="r">
              <a:buNone/>
            </a:pPr>
            <a:r>
              <a:rPr lang="en-US" sz="850" b="1" dirty="0">
                <a:solidFill>
                  <a:srgbClr val="14B8A6"/>
                </a:solidFill>
              </a:rPr>
              <a:t>04</a:t>
            </a:r>
            <a:endParaRPr lang="en-US" sz="850" dirty="0"/>
          </a:p>
        </p:txBody>
      </p:sp>
      <p:sp>
        <p:nvSpPr>
          <p:cNvPr id="9" name="Text 7"/>
          <p:cNvSpPr/>
          <p:nvPr/>
        </p:nvSpPr>
        <p:spPr>
          <a:xfrm>
            <a:off x="685800" y="603504"/>
            <a:ext cx="5486400" cy="219456"/>
          </a:xfrm>
          <a:prstGeom prst="rect">
            <a:avLst/>
          </a:prstGeom>
          <a:noFill/>
          <a:ln/>
        </p:spPr>
        <p:txBody>
          <a:bodyPr wrap="square" lIns="0" tIns="0" rIns="0" bIns="0" rtlCol="0" anchor="ctr"/>
          <a:lstStyle/>
          <a:p>
            <a:pPr marL="0" indent="0">
              <a:buNone/>
            </a:pPr>
            <a:r>
              <a:rPr lang="en-US" sz="850" b="1" dirty="0">
                <a:solidFill>
                  <a:srgbClr val="14B8A6"/>
                </a:solidFill>
              </a:rPr>
              <a:t>AUTHENTICATION &amp; AUTHORIZATION</a:t>
            </a:r>
            <a:endParaRPr lang="en-US" sz="850" dirty="0"/>
          </a:p>
        </p:txBody>
      </p:sp>
      <p:sp>
        <p:nvSpPr>
          <p:cNvPr id="10" name="Text 8"/>
          <p:cNvSpPr/>
          <p:nvPr/>
        </p:nvSpPr>
        <p:spPr>
          <a:xfrm>
            <a:off x="685800" y="914400"/>
            <a:ext cx="9784080" cy="658368"/>
          </a:xfrm>
          <a:prstGeom prst="rect">
            <a:avLst/>
          </a:prstGeom>
          <a:noFill/>
          <a:ln/>
        </p:spPr>
        <p:txBody>
          <a:bodyPr wrap="square" lIns="0" tIns="0" rIns="0" bIns="0" rtlCol="0" anchor="ctr">
            <a:normAutofit/>
          </a:bodyPr>
          <a:lstStyle/>
          <a:p>
            <a:pPr marL="0" indent="0">
              <a:buNone/>
            </a:pPr>
            <a:r>
              <a:rPr lang="en-US" sz="3000" b="1" dirty="0">
                <a:solidFill>
                  <a:srgbClr val="0B1F33"/>
                </a:solidFill>
                <a:latin typeface="Aptos Display" pitchFamily="34" charset="0"/>
                <a:ea typeface="Aptos Display" pitchFamily="34" charset="-122"/>
                <a:cs typeface="Aptos Display" pitchFamily="34" charset="-120"/>
              </a:rPr>
              <a:t>Secure sign-in with Microsoft Entra</a:t>
            </a:r>
            <a:endParaRPr lang="en-US" sz="3000" dirty="0"/>
          </a:p>
        </p:txBody>
      </p:sp>
      <p:sp>
        <p:nvSpPr>
          <p:cNvPr id="11" name="Text 9"/>
          <p:cNvSpPr/>
          <p:nvPr/>
        </p:nvSpPr>
        <p:spPr>
          <a:xfrm>
            <a:off x="685800" y="1682496"/>
            <a:ext cx="7863840" cy="420624"/>
          </a:xfrm>
          <a:prstGeom prst="rect">
            <a:avLst/>
          </a:prstGeom>
          <a:noFill/>
          <a:ln/>
        </p:spPr>
        <p:txBody>
          <a:bodyPr wrap="square" lIns="254" tIns="254" rIns="254" bIns="254" rtlCol="0" anchor="ctr">
            <a:normAutofit/>
          </a:bodyPr>
          <a:lstStyle/>
          <a:p>
            <a:pPr marL="0" indent="0">
              <a:buNone/>
            </a:pPr>
            <a:r>
              <a:rPr lang="en-US" sz="1320" dirty="0">
                <a:solidFill>
                  <a:srgbClr val="52657A"/>
                </a:solidFill>
              </a:rPr>
              <a:t>The app separates user authorization from workload access to Azure resources.</a:t>
            </a:r>
            <a:endParaRPr lang="en-US" sz="1320" dirty="0"/>
          </a:p>
        </p:txBody>
      </p:sp>
      <p:sp>
        <p:nvSpPr>
          <p:cNvPr id="12" name="Shape 10"/>
          <p:cNvSpPr/>
          <p:nvPr/>
        </p:nvSpPr>
        <p:spPr>
          <a:xfrm>
            <a:off x="6995160" y="1810512"/>
            <a:ext cx="1691640" cy="640080"/>
          </a:xfrm>
          <a:prstGeom prst="roundRect">
            <a:avLst>
              <a:gd name="adj" fmla="val 11429"/>
            </a:avLst>
          </a:prstGeom>
          <a:solidFill>
            <a:srgbClr val="38BDF8"/>
          </a:solidFill>
          <a:ln w="12700">
            <a:solidFill>
              <a:srgbClr val="38BDF8">
                <a:alpha val="80000"/>
              </a:srgbClr>
            </a:solidFill>
            <a:prstDash val="solid"/>
          </a:ln>
          <a:effectLst>
            <a:outerShdw blurRad="15240" dist="50800" dir="2700000" algn="bl" rotWithShape="0">
              <a:srgbClr val="B8CDE0">
                <a:alpha val="11000"/>
              </a:srgbClr>
            </a:outerShdw>
          </a:effectLst>
        </p:spPr>
        <p:txBody>
          <a:bodyPr/>
          <a:lstStyle/>
          <a:p>
            <a:endParaRPr lang="en-GB"/>
          </a:p>
        </p:txBody>
      </p:sp>
      <p:sp>
        <p:nvSpPr>
          <p:cNvPr id="13" name="Text 11"/>
          <p:cNvSpPr/>
          <p:nvPr/>
        </p:nvSpPr>
        <p:spPr>
          <a:xfrm>
            <a:off x="7068312" y="1920240"/>
            <a:ext cx="1545336" cy="275234"/>
          </a:xfrm>
          <a:prstGeom prst="rect">
            <a:avLst/>
          </a:prstGeom>
          <a:noFill/>
          <a:ln/>
        </p:spPr>
        <p:txBody>
          <a:bodyPr wrap="square" lIns="0" tIns="0" rIns="0" bIns="0" rtlCol="0" anchor="ctr">
            <a:normAutofit/>
          </a:bodyPr>
          <a:lstStyle/>
          <a:p>
            <a:pPr marL="0" indent="0" algn="ctr">
              <a:buNone/>
            </a:pPr>
            <a:r>
              <a:rPr lang="en-US" sz="1120" b="1" dirty="0">
                <a:solidFill>
                  <a:srgbClr val="FFFFFF"/>
                </a:solidFill>
                <a:latin typeface="Aptos Display" pitchFamily="34" charset="0"/>
                <a:ea typeface="Aptos Display" pitchFamily="34" charset="-122"/>
                <a:cs typeface="Aptos Display" pitchFamily="34" charset="-120"/>
              </a:rPr>
              <a:t>Browser</a:t>
            </a:r>
            <a:endParaRPr lang="en-US" sz="1120" dirty="0"/>
          </a:p>
        </p:txBody>
      </p:sp>
      <p:sp>
        <p:nvSpPr>
          <p:cNvPr id="14" name="Text 12"/>
          <p:cNvSpPr/>
          <p:nvPr/>
        </p:nvSpPr>
        <p:spPr>
          <a:xfrm>
            <a:off x="7077456" y="2175358"/>
            <a:ext cx="1527048" cy="179222"/>
          </a:xfrm>
          <a:prstGeom prst="rect">
            <a:avLst/>
          </a:prstGeom>
          <a:noFill/>
          <a:ln/>
        </p:spPr>
        <p:txBody>
          <a:bodyPr wrap="square" lIns="0" tIns="0" rIns="0" bIns="0" rtlCol="0" anchor="ctr">
            <a:normAutofit/>
          </a:bodyPr>
          <a:lstStyle/>
          <a:p>
            <a:pPr marL="0" indent="0" algn="ctr">
              <a:buNone/>
            </a:pPr>
            <a:r>
              <a:rPr lang="en-US" sz="710" dirty="0">
                <a:solidFill>
                  <a:srgbClr val="E0F2FE"/>
                </a:solidFill>
              </a:rPr>
              <a:t>MSAL</a:t>
            </a:r>
            <a:endParaRPr lang="en-US" sz="710" dirty="0"/>
          </a:p>
        </p:txBody>
      </p:sp>
      <p:sp>
        <p:nvSpPr>
          <p:cNvPr id="15" name="Shape 13"/>
          <p:cNvSpPr/>
          <p:nvPr/>
        </p:nvSpPr>
        <p:spPr>
          <a:xfrm>
            <a:off x="9326880" y="1810512"/>
            <a:ext cx="1691640" cy="640080"/>
          </a:xfrm>
          <a:prstGeom prst="roundRect">
            <a:avLst>
              <a:gd name="adj" fmla="val 11429"/>
            </a:avLst>
          </a:prstGeom>
          <a:solidFill>
            <a:srgbClr val="FBBF24"/>
          </a:solidFill>
          <a:ln w="12700">
            <a:solidFill>
              <a:srgbClr val="FBBF24">
                <a:alpha val="80000"/>
              </a:srgbClr>
            </a:solidFill>
            <a:prstDash val="solid"/>
          </a:ln>
          <a:effectLst>
            <a:outerShdw blurRad="15240" dist="50800" dir="2700000" algn="bl" rotWithShape="0">
              <a:srgbClr val="B8CDE0">
                <a:alpha val="11000"/>
              </a:srgbClr>
            </a:outerShdw>
          </a:effectLst>
        </p:spPr>
        <p:txBody>
          <a:bodyPr/>
          <a:lstStyle/>
          <a:p>
            <a:endParaRPr lang="en-GB"/>
          </a:p>
        </p:txBody>
      </p:sp>
      <p:sp>
        <p:nvSpPr>
          <p:cNvPr id="16" name="Text 14"/>
          <p:cNvSpPr/>
          <p:nvPr/>
        </p:nvSpPr>
        <p:spPr>
          <a:xfrm>
            <a:off x="9400032" y="1920240"/>
            <a:ext cx="1545336" cy="275234"/>
          </a:xfrm>
          <a:prstGeom prst="rect">
            <a:avLst/>
          </a:prstGeom>
          <a:noFill/>
          <a:ln/>
        </p:spPr>
        <p:txBody>
          <a:bodyPr wrap="square" lIns="0" tIns="0" rIns="0" bIns="0" rtlCol="0" anchor="ctr">
            <a:normAutofit/>
          </a:bodyPr>
          <a:lstStyle/>
          <a:p>
            <a:pPr marL="0" indent="0" algn="ctr">
              <a:buNone/>
            </a:pPr>
            <a:r>
              <a:rPr lang="en-US" sz="1120" b="1" dirty="0">
                <a:solidFill>
                  <a:srgbClr val="0B1F33"/>
                </a:solidFill>
                <a:latin typeface="Aptos Display" pitchFamily="34" charset="0"/>
                <a:ea typeface="Aptos Display" pitchFamily="34" charset="-122"/>
                <a:cs typeface="Aptos Display" pitchFamily="34" charset="-120"/>
              </a:rPr>
              <a:t>Entra ID</a:t>
            </a:r>
            <a:endParaRPr lang="en-US" sz="1120" dirty="0"/>
          </a:p>
        </p:txBody>
      </p:sp>
      <p:sp>
        <p:nvSpPr>
          <p:cNvPr id="17" name="Text 15"/>
          <p:cNvSpPr/>
          <p:nvPr/>
        </p:nvSpPr>
        <p:spPr>
          <a:xfrm>
            <a:off x="9409176" y="2175358"/>
            <a:ext cx="1527048" cy="179222"/>
          </a:xfrm>
          <a:prstGeom prst="rect">
            <a:avLst/>
          </a:prstGeom>
          <a:noFill/>
          <a:ln/>
        </p:spPr>
        <p:txBody>
          <a:bodyPr wrap="square" lIns="0" tIns="0" rIns="0" bIns="0" rtlCol="0" anchor="ctr">
            <a:normAutofit/>
          </a:bodyPr>
          <a:lstStyle/>
          <a:p>
            <a:pPr marL="0" indent="0" algn="ctr">
              <a:buNone/>
            </a:pPr>
            <a:r>
              <a:rPr lang="en-US" sz="710" dirty="0">
                <a:solidFill>
                  <a:srgbClr val="0B1F33"/>
                </a:solidFill>
              </a:rPr>
              <a:t>login / token</a:t>
            </a:r>
            <a:endParaRPr lang="en-US" sz="710" dirty="0"/>
          </a:p>
        </p:txBody>
      </p:sp>
      <p:sp>
        <p:nvSpPr>
          <p:cNvPr id="18" name="Shape 16"/>
          <p:cNvSpPr/>
          <p:nvPr/>
        </p:nvSpPr>
        <p:spPr>
          <a:xfrm>
            <a:off x="8686800" y="2130552"/>
            <a:ext cx="640080" cy="0"/>
          </a:xfrm>
          <a:prstGeom prst="line">
            <a:avLst/>
          </a:prstGeom>
          <a:noFill/>
          <a:ln w="16510">
            <a:solidFill>
              <a:srgbClr val="F59E0B"/>
            </a:solidFill>
            <a:prstDash val="solid"/>
            <a:headEnd type="none"/>
            <a:tailEnd type="triangle"/>
          </a:ln>
        </p:spPr>
        <p:txBody>
          <a:bodyPr/>
          <a:lstStyle/>
          <a:p>
            <a:endParaRPr lang="en-GB"/>
          </a:p>
        </p:txBody>
      </p:sp>
      <p:sp>
        <p:nvSpPr>
          <p:cNvPr id="19" name="Shape 17"/>
          <p:cNvSpPr/>
          <p:nvPr/>
        </p:nvSpPr>
        <p:spPr>
          <a:xfrm>
            <a:off x="6995160" y="3703320"/>
            <a:ext cx="1691640" cy="640080"/>
          </a:xfrm>
          <a:prstGeom prst="roundRect">
            <a:avLst>
              <a:gd name="adj" fmla="val 11429"/>
            </a:avLst>
          </a:prstGeom>
          <a:solidFill>
            <a:srgbClr val="22C55E"/>
          </a:solidFill>
          <a:ln w="12700">
            <a:solidFill>
              <a:srgbClr val="22C55E">
                <a:alpha val="80000"/>
              </a:srgbClr>
            </a:solidFill>
            <a:prstDash val="solid"/>
          </a:ln>
          <a:effectLst>
            <a:outerShdw blurRad="15240" dist="50800" dir="2700000" algn="bl" rotWithShape="0">
              <a:srgbClr val="B8CDE0">
                <a:alpha val="11000"/>
              </a:srgbClr>
            </a:outerShdw>
          </a:effectLst>
        </p:spPr>
        <p:txBody>
          <a:bodyPr/>
          <a:lstStyle/>
          <a:p>
            <a:endParaRPr lang="en-GB" dirty="0"/>
          </a:p>
        </p:txBody>
      </p:sp>
      <p:sp>
        <p:nvSpPr>
          <p:cNvPr id="20" name="Text 18"/>
          <p:cNvSpPr/>
          <p:nvPr/>
        </p:nvSpPr>
        <p:spPr>
          <a:xfrm>
            <a:off x="7068312" y="3813048"/>
            <a:ext cx="1545336" cy="275234"/>
          </a:xfrm>
          <a:prstGeom prst="rect">
            <a:avLst/>
          </a:prstGeom>
          <a:noFill/>
          <a:ln/>
        </p:spPr>
        <p:txBody>
          <a:bodyPr wrap="square" lIns="0" tIns="0" rIns="0" bIns="0" rtlCol="0" anchor="ctr">
            <a:normAutofit/>
          </a:bodyPr>
          <a:lstStyle/>
          <a:p>
            <a:pPr marL="0" indent="0" algn="ctr">
              <a:buNone/>
            </a:pPr>
            <a:r>
              <a:rPr lang="en-US" sz="1120" b="1" dirty="0">
                <a:solidFill>
                  <a:srgbClr val="FFFFFF"/>
                </a:solidFill>
                <a:latin typeface="Aptos Display" pitchFamily="34" charset="0"/>
                <a:ea typeface="Aptos Display" pitchFamily="34" charset="-122"/>
                <a:cs typeface="Aptos Display" pitchFamily="34" charset="-120"/>
              </a:rPr>
              <a:t>Product UI</a:t>
            </a:r>
            <a:endParaRPr lang="en-US" sz="1120" dirty="0"/>
          </a:p>
        </p:txBody>
      </p:sp>
      <p:sp>
        <p:nvSpPr>
          <p:cNvPr id="21" name="Text 19"/>
          <p:cNvSpPr/>
          <p:nvPr/>
        </p:nvSpPr>
        <p:spPr>
          <a:xfrm>
            <a:off x="7077456" y="4068166"/>
            <a:ext cx="1527048" cy="179222"/>
          </a:xfrm>
          <a:prstGeom prst="rect">
            <a:avLst/>
          </a:prstGeom>
          <a:noFill/>
          <a:ln/>
        </p:spPr>
        <p:txBody>
          <a:bodyPr wrap="square" lIns="0" tIns="0" rIns="0" bIns="0" rtlCol="0" anchor="ctr">
            <a:normAutofit/>
          </a:bodyPr>
          <a:lstStyle/>
          <a:p>
            <a:pPr marL="0" indent="0" algn="ctr">
              <a:buNone/>
            </a:pPr>
            <a:r>
              <a:rPr lang="en-US" sz="710" dirty="0">
                <a:solidFill>
                  <a:srgbClr val="E0F2FE"/>
                </a:solidFill>
              </a:rPr>
              <a:t>Engineer/Admin</a:t>
            </a:r>
            <a:endParaRPr lang="en-US" sz="710" dirty="0"/>
          </a:p>
        </p:txBody>
      </p:sp>
      <p:sp>
        <p:nvSpPr>
          <p:cNvPr id="22" name="Shape 20"/>
          <p:cNvSpPr/>
          <p:nvPr/>
        </p:nvSpPr>
        <p:spPr>
          <a:xfrm>
            <a:off x="9326880" y="3703320"/>
            <a:ext cx="1691640" cy="640080"/>
          </a:xfrm>
          <a:prstGeom prst="roundRect">
            <a:avLst>
              <a:gd name="adj" fmla="val 11429"/>
            </a:avLst>
          </a:prstGeom>
          <a:solidFill>
            <a:srgbClr val="12355B"/>
          </a:solidFill>
          <a:ln w="12700">
            <a:solidFill>
              <a:srgbClr val="12355B">
                <a:alpha val="80000"/>
              </a:srgbClr>
            </a:solidFill>
            <a:prstDash val="solid"/>
          </a:ln>
          <a:effectLst>
            <a:outerShdw blurRad="15240" dist="50800" dir="2700000" algn="bl" rotWithShape="0">
              <a:srgbClr val="B8CDE0">
                <a:alpha val="11000"/>
              </a:srgbClr>
            </a:outerShdw>
          </a:effectLst>
        </p:spPr>
        <p:txBody>
          <a:bodyPr/>
          <a:lstStyle/>
          <a:p>
            <a:endParaRPr lang="en-GB"/>
          </a:p>
        </p:txBody>
      </p:sp>
      <p:sp>
        <p:nvSpPr>
          <p:cNvPr id="23" name="Text 21"/>
          <p:cNvSpPr/>
          <p:nvPr/>
        </p:nvSpPr>
        <p:spPr>
          <a:xfrm>
            <a:off x="9400032" y="3813048"/>
            <a:ext cx="1545336" cy="275234"/>
          </a:xfrm>
          <a:prstGeom prst="rect">
            <a:avLst/>
          </a:prstGeom>
          <a:noFill/>
          <a:ln/>
        </p:spPr>
        <p:txBody>
          <a:bodyPr wrap="square" lIns="0" tIns="0" rIns="0" bIns="0" rtlCol="0" anchor="ctr">
            <a:normAutofit/>
          </a:bodyPr>
          <a:lstStyle/>
          <a:p>
            <a:pPr marL="0" indent="0" algn="ctr">
              <a:buNone/>
            </a:pPr>
            <a:r>
              <a:rPr lang="en-US" sz="1120" b="1" dirty="0">
                <a:solidFill>
                  <a:srgbClr val="FFFFFF"/>
                </a:solidFill>
                <a:latin typeface="Aptos Display" pitchFamily="34" charset="0"/>
                <a:ea typeface="Aptos Display" pitchFamily="34" charset="-122"/>
                <a:cs typeface="Aptos Display" pitchFamily="34" charset="-120"/>
              </a:rPr>
              <a:t>API</a:t>
            </a:r>
            <a:endParaRPr lang="en-US" sz="1120" dirty="0"/>
          </a:p>
        </p:txBody>
      </p:sp>
      <p:sp>
        <p:nvSpPr>
          <p:cNvPr id="24" name="Text 22"/>
          <p:cNvSpPr/>
          <p:nvPr/>
        </p:nvSpPr>
        <p:spPr>
          <a:xfrm>
            <a:off x="9409176" y="4068166"/>
            <a:ext cx="1527048" cy="179222"/>
          </a:xfrm>
          <a:prstGeom prst="rect">
            <a:avLst/>
          </a:prstGeom>
          <a:noFill/>
          <a:ln/>
        </p:spPr>
        <p:txBody>
          <a:bodyPr wrap="square" lIns="0" tIns="0" rIns="0" bIns="0" rtlCol="0" anchor="ctr">
            <a:normAutofit/>
          </a:bodyPr>
          <a:lstStyle/>
          <a:p>
            <a:pPr marL="0" indent="0" algn="ctr">
              <a:buNone/>
            </a:pPr>
            <a:r>
              <a:rPr lang="en-US" sz="710" dirty="0">
                <a:solidFill>
                  <a:srgbClr val="E0F2FE"/>
                </a:solidFill>
              </a:rPr>
              <a:t>policy checks</a:t>
            </a:r>
            <a:endParaRPr lang="en-US" sz="710" dirty="0"/>
          </a:p>
        </p:txBody>
      </p:sp>
      <p:sp>
        <p:nvSpPr>
          <p:cNvPr id="25" name="Shape 23"/>
          <p:cNvSpPr/>
          <p:nvPr/>
        </p:nvSpPr>
        <p:spPr>
          <a:xfrm>
            <a:off x="8686800" y="4023360"/>
            <a:ext cx="640080" cy="0"/>
          </a:xfrm>
          <a:prstGeom prst="line">
            <a:avLst/>
          </a:prstGeom>
          <a:noFill/>
          <a:ln w="16510">
            <a:solidFill>
              <a:srgbClr val="06B6D4"/>
            </a:solidFill>
            <a:prstDash val="solid"/>
            <a:headEnd type="none"/>
            <a:tailEnd type="triangle"/>
          </a:ln>
        </p:spPr>
        <p:txBody>
          <a:bodyPr/>
          <a:lstStyle/>
          <a:p>
            <a:endParaRPr lang="en-GB"/>
          </a:p>
        </p:txBody>
      </p:sp>
      <p:sp>
        <p:nvSpPr>
          <p:cNvPr id="26" name="Shape 24"/>
          <p:cNvSpPr/>
          <p:nvPr/>
        </p:nvSpPr>
        <p:spPr>
          <a:xfrm>
            <a:off x="749808" y="2148840"/>
            <a:ext cx="5074920" cy="2240280"/>
          </a:xfrm>
          <a:prstGeom prst="roundRect">
            <a:avLst>
              <a:gd name="adj" fmla="val 4898"/>
            </a:avLst>
          </a:prstGeom>
          <a:solidFill>
            <a:srgbClr val="FFFFFF"/>
          </a:solidFill>
          <a:ln w="12700">
            <a:solidFill>
              <a:srgbClr val="C9DCEB">
                <a:alpha val="85000"/>
              </a:srgbClr>
            </a:solidFill>
            <a:prstDash val="solid"/>
          </a:ln>
          <a:effectLst>
            <a:outerShdw blurRad="19050" dist="50800" dir="2700000" algn="bl" rotWithShape="0">
              <a:srgbClr val="B9CFE0">
                <a:alpha val="13000"/>
              </a:srgbClr>
            </a:outerShdw>
          </a:effectLst>
        </p:spPr>
        <p:txBody>
          <a:bodyPr/>
          <a:lstStyle/>
          <a:p>
            <a:endParaRPr lang="en-GB"/>
          </a:p>
        </p:txBody>
      </p:sp>
      <p:sp>
        <p:nvSpPr>
          <p:cNvPr id="27" name="Shape 25"/>
          <p:cNvSpPr/>
          <p:nvPr/>
        </p:nvSpPr>
        <p:spPr>
          <a:xfrm>
            <a:off x="749808" y="2148840"/>
            <a:ext cx="73152" cy="2240280"/>
          </a:xfrm>
          <a:prstGeom prst="rect">
            <a:avLst/>
          </a:prstGeom>
          <a:solidFill>
            <a:srgbClr val="14B8A6"/>
          </a:solidFill>
          <a:ln w="12700">
            <a:solidFill>
              <a:srgbClr val="14B8A6">
                <a:alpha val="0"/>
              </a:srgbClr>
            </a:solidFill>
            <a:prstDash val="solid"/>
          </a:ln>
        </p:spPr>
        <p:txBody>
          <a:bodyPr/>
          <a:lstStyle/>
          <a:p>
            <a:endParaRPr lang="en-GB"/>
          </a:p>
        </p:txBody>
      </p:sp>
      <p:sp>
        <p:nvSpPr>
          <p:cNvPr id="28" name="Text 26"/>
          <p:cNvSpPr/>
          <p:nvPr/>
        </p:nvSpPr>
        <p:spPr>
          <a:xfrm>
            <a:off x="969264" y="2313432"/>
            <a:ext cx="4727448" cy="274320"/>
          </a:xfrm>
          <a:prstGeom prst="rect">
            <a:avLst/>
          </a:prstGeom>
          <a:noFill/>
          <a:ln/>
        </p:spPr>
        <p:txBody>
          <a:bodyPr wrap="square" lIns="0" tIns="0" rIns="0" bIns="0" rtlCol="0" anchor="ctr">
            <a:normAutofit/>
          </a:bodyPr>
          <a:lstStyle/>
          <a:p>
            <a:pPr marL="0" indent="0">
              <a:buNone/>
            </a:pPr>
            <a:r>
              <a:rPr lang="en-US" sz="1400" b="1" dirty="0">
                <a:solidFill>
                  <a:srgbClr val="0B1F33"/>
                </a:solidFill>
                <a:latin typeface="Aptos Display" pitchFamily="34" charset="0"/>
                <a:ea typeface="Aptos Display" pitchFamily="34" charset="-122"/>
                <a:cs typeface="Aptos Display" pitchFamily="34" charset="-120"/>
              </a:rPr>
              <a:t>What matters technically</a:t>
            </a:r>
            <a:endParaRPr lang="en-US" sz="1400" dirty="0"/>
          </a:p>
        </p:txBody>
      </p:sp>
      <p:sp>
        <p:nvSpPr>
          <p:cNvPr id="29" name="Text 27"/>
          <p:cNvSpPr/>
          <p:nvPr/>
        </p:nvSpPr>
        <p:spPr>
          <a:xfrm>
            <a:off x="969264" y="2715768"/>
            <a:ext cx="4727448" cy="1527048"/>
          </a:xfrm>
          <a:prstGeom prst="rect">
            <a:avLst/>
          </a:prstGeom>
          <a:noFill/>
          <a:ln/>
        </p:spPr>
        <p:txBody>
          <a:bodyPr wrap="square" lIns="0" tIns="0" rIns="0" bIns="0" rtlCol="0" anchor="ctr">
            <a:normAutofit/>
          </a:bodyPr>
          <a:lstStyle/>
          <a:p>
            <a:pPr marL="0" indent="0">
              <a:buNone/>
            </a:pPr>
            <a:r>
              <a:rPr lang="en-US" sz="1120" dirty="0">
                <a:solidFill>
                  <a:srgbClr val="52657A"/>
                </a:solidFill>
              </a:rPr>
              <a:t>SPA acquires an access token for access_as_user</a:t>
            </a:r>
            <a:endParaRPr lang="en-US" sz="1120" dirty="0"/>
          </a:p>
          <a:p>
            <a:pPr marL="0" indent="0">
              <a:buNone/>
            </a:pPr>
            <a:r>
              <a:rPr lang="en-US" sz="1120" dirty="0">
                <a:solidFill>
                  <a:srgbClr val="52657A"/>
                </a:solidFill>
              </a:rPr>
              <a:t>API validates issuer, audience, signature and role claims</a:t>
            </a:r>
            <a:endParaRPr lang="en-US" sz="1120" dirty="0"/>
          </a:p>
          <a:p>
            <a:pPr marL="0" indent="0">
              <a:buNone/>
            </a:pPr>
            <a:r>
              <a:rPr lang="en-US" sz="1120" dirty="0">
                <a:solidFill>
                  <a:srgbClr val="52657A"/>
                </a:solidFill>
              </a:rPr>
              <a:t>Engineer and Administrator policies are enforced server-side</a:t>
            </a:r>
            <a:endParaRPr lang="en-US" sz="1120" dirty="0"/>
          </a:p>
          <a:p>
            <a:pPr marL="0" indent="0">
              <a:buNone/>
            </a:pPr>
            <a:r>
              <a:rPr lang="en-US" sz="1120" dirty="0">
                <a:solidFill>
                  <a:srgbClr val="52657A"/>
                </a:solidFill>
              </a:rPr>
              <a:t>Workloads use Managed Identity; user tokens are not forwarded to Azure</a:t>
            </a:r>
            <a:endParaRPr lang="en-US" sz="1120" dirty="0"/>
          </a:p>
        </p:txBody>
      </p:sp>
      <p:sp>
        <p:nvSpPr>
          <p:cNvPr id="30" name="Shape 28"/>
          <p:cNvSpPr/>
          <p:nvPr/>
        </p:nvSpPr>
        <p:spPr>
          <a:xfrm>
            <a:off x="749808" y="4919472"/>
            <a:ext cx="6035040" cy="749808"/>
          </a:xfrm>
          <a:prstGeom prst="roundRect">
            <a:avLst>
              <a:gd name="adj" fmla="val 12195"/>
            </a:avLst>
          </a:prstGeom>
          <a:solidFill>
            <a:srgbClr val="F8FCFF"/>
          </a:solidFill>
          <a:ln w="12700">
            <a:solidFill>
              <a:srgbClr val="2563EB">
                <a:alpha val="55000"/>
              </a:srgbClr>
            </a:solidFill>
            <a:prstDash val="solid"/>
          </a:ln>
        </p:spPr>
        <p:txBody>
          <a:bodyPr/>
          <a:lstStyle/>
          <a:p>
            <a:endParaRPr lang="en-GB"/>
          </a:p>
        </p:txBody>
      </p:sp>
      <p:sp>
        <p:nvSpPr>
          <p:cNvPr id="31" name="Text 29"/>
          <p:cNvSpPr/>
          <p:nvPr/>
        </p:nvSpPr>
        <p:spPr>
          <a:xfrm>
            <a:off x="978408" y="5056632"/>
            <a:ext cx="5577840" cy="256032"/>
          </a:xfrm>
          <a:prstGeom prst="rect">
            <a:avLst/>
          </a:prstGeom>
          <a:noFill/>
          <a:ln/>
        </p:spPr>
        <p:txBody>
          <a:bodyPr wrap="square" lIns="0" tIns="0" rIns="0" bIns="0" rtlCol="0" anchor="ctr">
            <a:normAutofit/>
          </a:bodyPr>
          <a:lstStyle/>
          <a:p>
            <a:pPr marL="0" indent="0">
              <a:buNone/>
            </a:pPr>
            <a:r>
              <a:rPr lang="en-US" sz="1040" b="1" dirty="0">
                <a:solidFill>
                  <a:srgbClr val="2563EB"/>
                </a:solidFill>
              </a:rPr>
              <a:t>Security boundary</a:t>
            </a:r>
            <a:endParaRPr lang="en-US" sz="1040" dirty="0"/>
          </a:p>
        </p:txBody>
      </p:sp>
      <p:sp>
        <p:nvSpPr>
          <p:cNvPr id="32" name="Text 30"/>
          <p:cNvSpPr/>
          <p:nvPr/>
        </p:nvSpPr>
        <p:spPr>
          <a:xfrm>
            <a:off x="978408" y="5358384"/>
            <a:ext cx="5577840" cy="246888"/>
          </a:xfrm>
          <a:prstGeom prst="rect">
            <a:avLst/>
          </a:prstGeom>
          <a:noFill/>
          <a:ln/>
        </p:spPr>
        <p:txBody>
          <a:bodyPr wrap="square" lIns="0" tIns="0" rIns="0" bIns="0" rtlCol="0" anchor="ctr">
            <a:normAutofit/>
          </a:bodyPr>
          <a:lstStyle/>
          <a:p>
            <a:pPr marL="0" indent="0">
              <a:buNone/>
            </a:pPr>
            <a:r>
              <a:rPr lang="en-US" sz="830" dirty="0">
                <a:solidFill>
                  <a:srgbClr val="52657A"/>
                </a:solidFill>
              </a:rPr>
              <a:t>The UI can hide admin navigation, but backend policies are the real authorization boundary.</a:t>
            </a:r>
            <a:endParaRPr lang="en-US" sz="83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BFF"/>
        </a:solidFill>
        <a:effectLst/>
      </p:bgPr>
    </p:bg>
    <p:spTree>
      <p:nvGrpSpPr>
        <p:cNvPr id="1" name=""/>
        <p:cNvGrpSpPr/>
        <p:nvPr/>
      </p:nvGrpSpPr>
      <p:grpSpPr>
        <a:xfrm>
          <a:off x="0" y="0"/>
          <a:ext cx="0" cy="0"/>
          <a:chOff x="0" y="0"/>
          <a:chExt cx="0" cy="0"/>
        </a:xfrm>
      </p:grpSpPr>
      <p:sp>
        <p:nvSpPr>
          <p:cNvPr id="2" name="Shape 0"/>
          <p:cNvSpPr/>
          <p:nvPr/>
        </p:nvSpPr>
        <p:spPr>
          <a:xfrm>
            <a:off x="-1143000" y="-1143000"/>
            <a:ext cx="3749040" cy="3749040"/>
          </a:xfrm>
          <a:prstGeom prst="arc">
            <a:avLst/>
          </a:prstGeom>
          <a:solidFill>
            <a:srgbClr val="E6FFFA">
              <a:alpha val="94000"/>
            </a:srgbClr>
          </a:solidFill>
          <a:ln w="12700">
            <a:solidFill>
              <a:srgbClr val="E6FFFA">
                <a:alpha val="0"/>
              </a:srgbClr>
            </a:solidFill>
            <a:prstDash val="solid"/>
          </a:ln>
        </p:spPr>
        <p:txBody>
          <a:bodyPr/>
          <a:lstStyle/>
          <a:p>
            <a:endParaRPr lang="en-GB"/>
          </a:p>
        </p:txBody>
      </p:sp>
      <p:sp>
        <p:nvSpPr>
          <p:cNvPr id="3" name="Shape 1"/>
          <p:cNvSpPr/>
          <p:nvPr/>
        </p:nvSpPr>
        <p:spPr>
          <a:xfrm>
            <a:off x="10012680" y="-685800"/>
            <a:ext cx="2926080" cy="2926080"/>
          </a:xfrm>
          <a:prstGeom prst="ellipse">
            <a:avLst/>
          </a:prstGeom>
          <a:solidFill>
            <a:srgbClr val="EAF5FF">
              <a:alpha val="95000"/>
            </a:srgbClr>
          </a:solidFill>
          <a:ln w="12700">
            <a:solidFill>
              <a:srgbClr val="EAF5FF">
                <a:alpha val="0"/>
              </a:srgbClr>
            </a:solidFill>
            <a:prstDash val="solid"/>
          </a:ln>
        </p:spPr>
        <p:txBody>
          <a:bodyPr/>
          <a:lstStyle/>
          <a:p>
            <a:endParaRPr lang="en-GB"/>
          </a:p>
        </p:txBody>
      </p:sp>
      <p:sp>
        <p:nvSpPr>
          <p:cNvPr id="4" name="Shape 2"/>
          <p:cNvSpPr/>
          <p:nvPr/>
        </p:nvSpPr>
        <p:spPr>
          <a:xfrm>
            <a:off x="10652760" y="5120640"/>
            <a:ext cx="2011680" cy="2011680"/>
          </a:xfrm>
          <a:prstGeom prst="ellipse">
            <a:avLst/>
          </a:prstGeom>
          <a:solidFill>
            <a:srgbClr val="E6FFFA">
              <a:alpha val="76000"/>
            </a:srgbClr>
          </a:solidFill>
          <a:ln w="12700">
            <a:solidFill>
              <a:srgbClr val="E6FFFA">
                <a:alpha val="0"/>
              </a:srgbClr>
            </a:solidFill>
            <a:prstDash val="solid"/>
          </a:ln>
        </p:spPr>
        <p:txBody>
          <a:bodyPr/>
          <a:lstStyle/>
          <a:p>
            <a:endParaRPr lang="en-GB"/>
          </a:p>
        </p:txBody>
      </p:sp>
      <p:sp>
        <p:nvSpPr>
          <p:cNvPr id="5" name="Shape 3"/>
          <p:cNvSpPr/>
          <p:nvPr/>
        </p:nvSpPr>
        <p:spPr>
          <a:xfrm>
            <a:off x="0" y="0"/>
            <a:ext cx="12191695" cy="100584"/>
          </a:xfrm>
          <a:prstGeom prst="rect">
            <a:avLst/>
          </a:prstGeom>
          <a:solidFill>
            <a:srgbClr val="14B8A6"/>
          </a:solidFill>
          <a:ln w="12700">
            <a:solidFill>
              <a:srgbClr val="14B8A6">
                <a:alpha val="0"/>
              </a:srgbClr>
            </a:solidFill>
            <a:prstDash val="solid"/>
          </a:ln>
        </p:spPr>
        <p:txBody>
          <a:bodyPr/>
          <a:lstStyle/>
          <a:p>
            <a:endParaRPr lang="en-GB"/>
          </a:p>
        </p:txBody>
      </p:sp>
      <p:sp>
        <p:nvSpPr>
          <p:cNvPr id="6" name="Text 4"/>
          <p:cNvSpPr/>
          <p:nvPr/>
        </p:nvSpPr>
        <p:spPr>
          <a:xfrm>
            <a:off x="548640" y="6336792"/>
            <a:ext cx="1828800" cy="201168"/>
          </a:xfrm>
          <a:prstGeom prst="rect">
            <a:avLst/>
          </a:prstGeom>
          <a:noFill/>
          <a:ln/>
        </p:spPr>
        <p:txBody>
          <a:bodyPr wrap="square" lIns="0" tIns="0" rIns="0" bIns="0" rtlCol="0" anchor="ctr"/>
          <a:lstStyle/>
          <a:p>
            <a:pPr marL="0" indent="0">
              <a:buNone/>
            </a:pPr>
            <a:r>
              <a:rPr lang="en-US" sz="850" b="1" dirty="0">
                <a:solidFill>
                  <a:srgbClr val="12355B"/>
                </a:solidFill>
              </a:rPr>
              <a:t>IncidentIQ</a:t>
            </a:r>
            <a:endParaRPr lang="en-US" sz="850" dirty="0"/>
          </a:p>
        </p:txBody>
      </p:sp>
      <p:sp>
        <p:nvSpPr>
          <p:cNvPr id="7" name="Text 5"/>
          <p:cNvSpPr/>
          <p:nvPr/>
        </p:nvSpPr>
        <p:spPr>
          <a:xfrm>
            <a:off x="1874520" y="6336792"/>
            <a:ext cx="4572000" cy="201168"/>
          </a:xfrm>
          <a:prstGeom prst="rect">
            <a:avLst/>
          </a:prstGeom>
          <a:noFill/>
          <a:ln/>
        </p:spPr>
        <p:txBody>
          <a:bodyPr wrap="square" lIns="0" tIns="0" rIns="0" bIns="0" rtlCol="0" anchor="ctr"/>
          <a:lstStyle/>
          <a:p>
            <a:pPr marL="0" indent="0">
              <a:buNone/>
            </a:pPr>
            <a:r>
              <a:rPr lang="en-US" sz="850" dirty="0">
                <a:solidFill>
                  <a:srgbClr val="64748B"/>
                </a:solidFill>
              </a:rPr>
              <a:t>Dashboard</a:t>
            </a:r>
            <a:endParaRPr lang="en-US" sz="850" dirty="0"/>
          </a:p>
        </p:txBody>
      </p:sp>
      <p:sp>
        <p:nvSpPr>
          <p:cNvPr id="8" name="Text 6"/>
          <p:cNvSpPr/>
          <p:nvPr/>
        </p:nvSpPr>
        <p:spPr>
          <a:xfrm>
            <a:off x="11155680" y="6291072"/>
            <a:ext cx="457200" cy="228600"/>
          </a:xfrm>
          <a:prstGeom prst="rect">
            <a:avLst/>
          </a:prstGeom>
          <a:noFill/>
          <a:ln/>
        </p:spPr>
        <p:txBody>
          <a:bodyPr wrap="square" lIns="0" tIns="0" rIns="0" bIns="0" rtlCol="0" anchor="ctr"/>
          <a:lstStyle/>
          <a:p>
            <a:pPr marL="0" indent="0" algn="r">
              <a:buNone/>
            </a:pPr>
            <a:r>
              <a:rPr lang="en-US" sz="850" b="1" dirty="0">
                <a:solidFill>
                  <a:srgbClr val="14B8A6"/>
                </a:solidFill>
              </a:rPr>
              <a:t>05</a:t>
            </a:r>
            <a:endParaRPr lang="en-US" sz="850" dirty="0"/>
          </a:p>
        </p:txBody>
      </p:sp>
      <p:sp>
        <p:nvSpPr>
          <p:cNvPr id="9" name="Text 7"/>
          <p:cNvSpPr/>
          <p:nvPr/>
        </p:nvSpPr>
        <p:spPr>
          <a:xfrm>
            <a:off x="685800" y="603504"/>
            <a:ext cx="5486400" cy="219456"/>
          </a:xfrm>
          <a:prstGeom prst="rect">
            <a:avLst/>
          </a:prstGeom>
          <a:noFill/>
          <a:ln/>
        </p:spPr>
        <p:txBody>
          <a:bodyPr wrap="square" lIns="0" tIns="0" rIns="0" bIns="0" rtlCol="0" anchor="ctr"/>
          <a:lstStyle/>
          <a:p>
            <a:pPr marL="0" indent="0">
              <a:buNone/>
            </a:pPr>
            <a:r>
              <a:rPr lang="en-US" sz="850" b="1" dirty="0">
                <a:solidFill>
                  <a:srgbClr val="14B8A6"/>
                </a:solidFill>
              </a:rPr>
              <a:t>DASHBOARD</a:t>
            </a:r>
            <a:endParaRPr lang="en-US" sz="850" dirty="0"/>
          </a:p>
        </p:txBody>
      </p:sp>
      <p:sp>
        <p:nvSpPr>
          <p:cNvPr id="10" name="Text 8"/>
          <p:cNvSpPr/>
          <p:nvPr/>
        </p:nvSpPr>
        <p:spPr>
          <a:xfrm>
            <a:off x="685800" y="914400"/>
            <a:ext cx="9784080" cy="658368"/>
          </a:xfrm>
          <a:prstGeom prst="rect">
            <a:avLst/>
          </a:prstGeom>
          <a:noFill/>
          <a:ln/>
        </p:spPr>
        <p:txBody>
          <a:bodyPr wrap="square" lIns="0" tIns="0" rIns="0" bIns="0" rtlCol="0" anchor="ctr">
            <a:normAutofit/>
          </a:bodyPr>
          <a:lstStyle/>
          <a:p>
            <a:pPr marL="0" indent="0">
              <a:buNone/>
            </a:pPr>
            <a:r>
              <a:rPr lang="en-US" sz="3000" b="1" dirty="0">
                <a:solidFill>
                  <a:srgbClr val="0B1F33"/>
                </a:solidFill>
                <a:latin typeface="Aptos Display" pitchFamily="34" charset="0"/>
                <a:ea typeface="Aptos Display" pitchFamily="34" charset="-122"/>
                <a:cs typeface="Aptos Display" pitchFamily="34" charset="-120"/>
              </a:rPr>
              <a:t>Incident dashboard</a:t>
            </a:r>
            <a:endParaRPr lang="en-US" sz="3000" dirty="0"/>
          </a:p>
        </p:txBody>
      </p:sp>
      <p:sp>
        <p:nvSpPr>
          <p:cNvPr id="11" name="Text 9"/>
          <p:cNvSpPr/>
          <p:nvPr/>
        </p:nvSpPr>
        <p:spPr>
          <a:xfrm>
            <a:off x="685800" y="1682496"/>
            <a:ext cx="7863840" cy="420624"/>
          </a:xfrm>
          <a:prstGeom prst="rect">
            <a:avLst/>
          </a:prstGeom>
          <a:noFill/>
          <a:ln/>
        </p:spPr>
        <p:txBody>
          <a:bodyPr wrap="square" lIns="254" tIns="254" rIns="254" bIns="254" rtlCol="0" anchor="ctr">
            <a:normAutofit/>
          </a:bodyPr>
          <a:lstStyle/>
          <a:p>
            <a:pPr marL="0" indent="0">
              <a:buNone/>
            </a:pPr>
            <a:r>
              <a:rPr lang="en-US" sz="1320" dirty="0">
                <a:solidFill>
                  <a:srgbClr val="52657A"/>
                </a:solidFill>
              </a:rPr>
              <a:t>The dashboard is the operator’s starting point for existing incidents, current state and new work.</a:t>
            </a:r>
            <a:endParaRPr lang="en-US" sz="1320" dirty="0"/>
          </a:p>
        </p:txBody>
      </p:sp>
      <p:sp>
        <p:nvSpPr>
          <p:cNvPr id="12" name="Shape 10"/>
          <p:cNvSpPr/>
          <p:nvPr/>
        </p:nvSpPr>
        <p:spPr>
          <a:xfrm>
            <a:off x="822960" y="2103120"/>
            <a:ext cx="2834640" cy="1234440"/>
          </a:xfrm>
          <a:prstGeom prst="roundRect">
            <a:avLst>
              <a:gd name="adj" fmla="val 8889"/>
            </a:avLst>
          </a:prstGeom>
          <a:solidFill>
            <a:srgbClr val="FFFFFF"/>
          </a:solidFill>
          <a:ln w="12700">
            <a:solidFill>
              <a:srgbClr val="C9DCEB">
                <a:alpha val="85000"/>
              </a:srgbClr>
            </a:solidFill>
            <a:prstDash val="solid"/>
          </a:ln>
          <a:effectLst>
            <a:outerShdw blurRad="19050" dist="50800" dir="2700000" algn="bl" rotWithShape="0">
              <a:srgbClr val="B9CFE0">
                <a:alpha val="13000"/>
              </a:srgbClr>
            </a:outerShdw>
          </a:effectLst>
        </p:spPr>
        <p:txBody>
          <a:bodyPr/>
          <a:lstStyle/>
          <a:p>
            <a:endParaRPr lang="en-GB"/>
          </a:p>
        </p:txBody>
      </p:sp>
      <p:sp>
        <p:nvSpPr>
          <p:cNvPr id="13" name="Shape 11"/>
          <p:cNvSpPr/>
          <p:nvPr/>
        </p:nvSpPr>
        <p:spPr>
          <a:xfrm>
            <a:off x="822960" y="2103120"/>
            <a:ext cx="73152" cy="1234440"/>
          </a:xfrm>
          <a:prstGeom prst="rect">
            <a:avLst/>
          </a:prstGeom>
          <a:solidFill>
            <a:srgbClr val="2563EB"/>
          </a:solidFill>
          <a:ln w="12700">
            <a:solidFill>
              <a:srgbClr val="2563EB">
                <a:alpha val="0"/>
              </a:srgbClr>
            </a:solidFill>
            <a:prstDash val="solid"/>
          </a:ln>
        </p:spPr>
        <p:txBody>
          <a:bodyPr/>
          <a:lstStyle/>
          <a:p>
            <a:endParaRPr lang="en-GB"/>
          </a:p>
        </p:txBody>
      </p:sp>
      <p:sp>
        <p:nvSpPr>
          <p:cNvPr id="14" name="Text 12"/>
          <p:cNvSpPr/>
          <p:nvPr/>
        </p:nvSpPr>
        <p:spPr>
          <a:xfrm>
            <a:off x="1042416" y="2267712"/>
            <a:ext cx="2487168" cy="274320"/>
          </a:xfrm>
          <a:prstGeom prst="rect">
            <a:avLst/>
          </a:prstGeom>
          <a:noFill/>
          <a:ln/>
        </p:spPr>
        <p:txBody>
          <a:bodyPr wrap="square" lIns="0" tIns="0" rIns="0" bIns="0" rtlCol="0" anchor="ctr">
            <a:normAutofit/>
          </a:bodyPr>
          <a:lstStyle/>
          <a:p>
            <a:pPr marL="0" indent="0">
              <a:buNone/>
            </a:pPr>
            <a:r>
              <a:rPr lang="en-US" sz="1250" b="1" dirty="0">
                <a:solidFill>
                  <a:srgbClr val="0B1F33"/>
                </a:solidFill>
                <a:latin typeface="Aptos Display" pitchFamily="34" charset="0"/>
                <a:ea typeface="Aptos Display" pitchFamily="34" charset="-122"/>
                <a:cs typeface="Aptos Display" pitchFamily="34" charset="-120"/>
              </a:rPr>
              <a:t>At-a-glance state</a:t>
            </a:r>
            <a:endParaRPr lang="en-US" sz="1250" dirty="0"/>
          </a:p>
        </p:txBody>
      </p:sp>
      <p:sp>
        <p:nvSpPr>
          <p:cNvPr id="15" name="Text 13"/>
          <p:cNvSpPr/>
          <p:nvPr/>
        </p:nvSpPr>
        <p:spPr>
          <a:xfrm>
            <a:off x="1042416" y="2670048"/>
            <a:ext cx="2487168" cy="521208"/>
          </a:xfrm>
          <a:prstGeom prst="rect">
            <a:avLst/>
          </a:prstGeom>
          <a:noFill/>
          <a:ln/>
        </p:spPr>
        <p:txBody>
          <a:bodyPr wrap="square" lIns="0" tIns="0" rIns="0" bIns="0" rtlCol="0" anchor="ctr">
            <a:normAutofit/>
          </a:bodyPr>
          <a:lstStyle/>
          <a:p>
            <a:pPr marL="0" indent="0">
              <a:buNone/>
            </a:pPr>
            <a:r>
              <a:rPr lang="en-US" sz="980" dirty="0">
                <a:solidFill>
                  <a:srgbClr val="52657A"/>
                </a:solidFill>
              </a:rPr>
              <a:t>Queued, Processing, Completed and Failed statuses make asynchronous work visible.</a:t>
            </a:r>
            <a:endParaRPr lang="en-US" sz="980" dirty="0"/>
          </a:p>
        </p:txBody>
      </p:sp>
      <p:sp>
        <p:nvSpPr>
          <p:cNvPr id="16" name="Shape 14"/>
          <p:cNvSpPr/>
          <p:nvPr/>
        </p:nvSpPr>
        <p:spPr>
          <a:xfrm>
            <a:off x="3886200" y="2103120"/>
            <a:ext cx="2834640" cy="1234440"/>
          </a:xfrm>
          <a:prstGeom prst="roundRect">
            <a:avLst>
              <a:gd name="adj" fmla="val 8889"/>
            </a:avLst>
          </a:prstGeom>
          <a:solidFill>
            <a:srgbClr val="FFFFFF"/>
          </a:solidFill>
          <a:ln w="12700">
            <a:solidFill>
              <a:srgbClr val="C9DCEB">
                <a:alpha val="85000"/>
              </a:srgbClr>
            </a:solidFill>
            <a:prstDash val="solid"/>
          </a:ln>
          <a:effectLst>
            <a:outerShdw blurRad="19050" dist="50800" dir="2700000" algn="bl" rotWithShape="0">
              <a:srgbClr val="B9CFE0">
                <a:alpha val="13000"/>
              </a:srgbClr>
            </a:outerShdw>
          </a:effectLst>
        </p:spPr>
        <p:txBody>
          <a:bodyPr/>
          <a:lstStyle/>
          <a:p>
            <a:endParaRPr lang="en-GB"/>
          </a:p>
        </p:txBody>
      </p:sp>
      <p:sp>
        <p:nvSpPr>
          <p:cNvPr id="17" name="Shape 15"/>
          <p:cNvSpPr/>
          <p:nvPr/>
        </p:nvSpPr>
        <p:spPr>
          <a:xfrm>
            <a:off x="3886200" y="2103120"/>
            <a:ext cx="73152" cy="1234440"/>
          </a:xfrm>
          <a:prstGeom prst="rect">
            <a:avLst/>
          </a:prstGeom>
          <a:solidFill>
            <a:srgbClr val="14B8A6"/>
          </a:solidFill>
          <a:ln w="12700">
            <a:solidFill>
              <a:srgbClr val="14B8A6">
                <a:alpha val="0"/>
              </a:srgbClr>
            </a:solidFill>
            <a:prstDash val="solid"/>
          </a:ln>
        </p:spPr>
        <p:txBody>
          <a:bodyPr/>
          <a:lstStyle/>
          <a:p>
            <a:endParaRPr lang="en-GB"/>
          </a:p>
        </p:txBody>
      </p:sp>
      <p:sp>
        <p:nvSpPr>
          <p:cNvPr id="18" name="Text 16"/>
          <p:cNvSpPr/>
          <p:nvPr/>
        </p:nvSpPr>
        <p:spPr>
          <a:xfrm>
            <a:off x="4105656" y="2267712"/>
            <a:ext cx="2487168" cy="274320"/>
          </a:xfrm>
          <a:prstGeom prst="rect">
            <a:avLst/>
          </a:prstGeom>
          <a:noFill/>
          <a:ln/>
        </p:spPr>
        <p:txBody>
          <a:bodyPr wrap="square" lIns="0" tIns="0" rIns="0" bIns="0" rtlCol="0" anchor="ctr">
            <a:normAutofit/>
          </a:bodyPr>
          <a:lstStyle/>
          <a:p>
            <a:pPr marL="0" indent="0">
              <a:buNone/>
            </a:pPr>
            <a:r>
              <a:rPr lang="en-US" sz="1250" b="1" dirty="0">
                <a:solidFill>
                  <a:srgbClr val="0B1F33"/>
                </a:solidFill>
                <a:latin typeface="Aptos Display" pitchFamily="34" charset="0"/>
                <a:ea typeface="Aptos Display" pitchFamily="34" charset="-122"/>
                <a:cs typeface="Aptos Display" pitchFamily="34" charset="-120"/>
              </a:rPr>
              <a:t>Incident history</a:t>
            </a:r>
            <a:endParaRPr lang="en-US" sz="1250" dirty="0"/>
          </a:p>
        </p:txBody>
      </p:sp>
      <p:sp>
        <p:nvSpPr>
          <p:cNvPr id="19" name="Text 17"/>
          <p:cNvSpPr/>
          <p:nvPr/>
        </p:nvSpPr>
        <p:spPr>
          <a:xfrm>
            <a:off x="4105656" y="2670048"/>
            <a:ext cx="2487168" cy="521208"/>
          </a:xfrm>
          <a:prstGeom prst="rect">
            <a:avLst/>
          </a:prstGeom>
          <a:noFill/>
          <a:ln/>
        </p:spPr>
        <p:txBody>
          <a:bodyPr wrap="square" lIns="0" tIns="0" rIns="0" bIns="0" rtlCol="0" anchor="ctr">
            <a:normAutofit/>
          </a:bodyPr>
          <a:lstStyle/>
          <a:p>
            <a:pPr marL="0" indent="0">
              <a:buNone/>
            </a:pPr>
            <a:r>
              <a:rPr lang="en-US" sz="980" dirty="0">
                <a:solidFill>
                  <a:srgbClr val="52657A"/>
                </a:solidFill>
              </a:rPr>
              <a:t>Existing incidents remain searchable and inspectable as future grounding evidence.</a:t>
            </a:r>
            <a:endParaRPr lang="en-US" sz="980" dirty="0"/>
          </a:p>
        </p:txBody>
      </p:sp>
      <p:sp>
        <p:nvSpPr>
          <p:cNvPr id="20" name="Shape 18"/>
          <p:cNvSpPr/>
          <p:nvPr/>
        </p:nvSpPr>
        <p:spPr>
          <a:xfrm>
            <a:off x="6949440" y="2103120"/>
            <a:ext cx="2834640" cy="1234440"/>
          </a:xfrm>
          <a:prstGeom prst="roundRect">
            <a:avLst>
              <a:gd name="adj" fmla="val 8889"/>
            </a:avLst>
          </a:prstGeom>
          <a:solidFill>
            <a:srgbClr val="FFFFFF"/>
          </a:solidFill>
          <a:ln w="12700">
            <a:solidFill>
              <a:srgbClr val="C9DCEB">
                <a:alpha val="85000"/>
              </a:srgbClr>
            </a:solidFill>
            <a:prstDash val="solid"/>
          </a:ln>
          <a:effectLst>
            <a:outerShdw blurRad="19050" dist="50800" dir="2700000" algn="bl" rotWithShape="0">
              <a:srgbClr val="B9CFE0">
                <a:alpha val="13000"/>
              </a:srgbClr>
            </a:outerShdw>
          </a:effectLst>
        </p:spPr>
        <p:txBody>
          <a:bodyPr/>
          <a:lstStyle/>
          <a:p>
            <a:endParaRPr lang="en-GB"/>
          </a:p>
        </p:txBody>
      </p:sp>
      <p:sp>
        <p:nvSpPr>
          <p:cNvPr id="21" name="Shape 19"/>
          <p:cNvSpPr/>
          <p:nvPr/>
        </p:nvSpPr>
        <p:spPr>
          <a:xfrm>
            <a:off x="6949440" y="2103120"/>
            <a:ext cx="73152" cy="1234440"/>
          </a:xfrm>
          <a:prstGeom prst="rect">
            <a:avLst/>
          </a:prstGeom>
          <a:solidFill>
            <a:srgbClr val="7C3AED"/>
          </a:solidFill>
          <a:ln w="12700">
            <a:solidFill>
              <a:srgbClr val="7C3AED">
                <a:alpha val="0"/>
              </a:srgbClr>
            </a:solidFill>
            <a:prstDash val="solid"/>
          </a:ln>
        </p:spPr>
        <p:txBody>
          <a:bodyPr/>
          <a:lstStyle/>
          <a:p>
            <a:endParaRPr lang="en-GB"/>
          </a:p>
        </p:txBody>
      </p:sp>
      <p:sp>
        <p:nvSpPr>
          <p:cNvPr id="22" name="Text 20"/>
          <p:cNvSpPr/>
          <p:nvPr/>
        </p:nvSpPr>
        <p:spPr>
          <a:xfrm>
            <a:off x="7168896" y="2267712"/>
            <a:ext cx="2487168" cy="274320"/>
          </a:xfrm>
          <a:prstGeom prst="rect">
            <a:avLst/>
          </a:prstGeom>
          <a:noFill/>
          <a:ln/>
        </p:spPr>
        <p:txBody>
          <a:bodyPr wrap="square" lIns="0" tIns="0" rIns="0" bIns="0" rtlCol="0" anchor="ctr">
            <a:normAutofit/>
          </a:bodyPr>
          <a:lstStyle/>
          <a:p>
            <a:pPr marL="0" indent="0">
              <a:buNone/>
            </a:pPr>
            <a:r>
              <a:rPr lang="en-US" sz="1250" b="1" dirty="0">
                <a:solidFill>
                  <a:srgbClr val="0B1F33"/>
                </a:solidFill>
                <a:latin typeface="Aptos Display" pitchFamily="34" charset="0"/>
                <a:ea typeface="Aptos Display" pitchFamily="34" charset="-122"/>
                <a:cs typeface="Aptos Display" pitchFamily="34" charset="-120"/>
              </a:rPr>
              <a:t>Submit new work</a:t>
            </a:r>
            <a:endParaRPr lang="en-US" sz="1250" dirty="0"/>
          </a:p>
        </p:txBody>
      </p:sp>
      <p:sp>
        <p:nvSpPr>
          <p:cNvPr id="23" name="Text 21"/>
          <p:cNvSpPr/>
          <p:nvPr/>
        </p:nvSpPr>
        <p:spPr>
          <a:xfrm>
            <a:off x="7168896" y="2670048"/>
            <a:ext cx="2487168" cy="521208"/>
          </a:xfrm>
          <a:prstGeom prst="rect">
            <a:avLst/>
          </a:prstGeom>
          <a:noFill/>
          <a:ln/>
        </p:spPr>
        <p:txBody>
          <a:bodyPr wrap="square" lIns="0" tIns="0" rIns="0" bIns="0" rtlCol="0" anchor="ctr">
            <a:normAutofit/>
          </a:bodyPr>
          <a:lstStyle/>
          <a:p>
            <a:pPr marL="0" indent="0">
              <a:buNone/>
            </a:pPr>
            <a:r>
              <a:rPr lang="en-US" sz="980" dirty="0">
                <a:solidFill>
                  <a:srgbClr val="52657A"/>
                </a:solidFill>
              </a:rPr>
              <a:t>Engineers can report an incident without waiting for AI processing.</a:t>
            </a:r>
            <a:endParaRPr lang="en-US" sz="980" dirty="0"/>
          </a:p>
        </p:txBody>
      </p:sp>
      <p:sp>
        <p:nvSpPr>
          <p:cNvPr id="24" name="Text 22"/>
          <p:cNvSpPr/>
          <p:nvPr/>
        </p:nvSpPr>
        <p:spPr>
          <a:xfrm>
            <a:off x="868680" y="4480560"/>
            <a:ext cx="1280160" cy="201168"/>
          </a:xfrm>
          <a:prstGeom prst="rect">
            <a:avLst/>
          </a:prstGeom>
          <a:noFill/>
          <a:ln/>
        </p:spPr>
        <p:txBody>
          <a:bodyPr wrap="square" lIns="0" tIns="0" rIns="0" bIns="0" rtlCol="0" anchor="ctr"/>
          <a:lstStyle/>
          <a:p>
            <a:pPr marL="0" indent="0">
              <a:buNone/>
            </a:pPr>
            <a:r>
              <a:rPr lang="en-US" sz="750" b="1" dirty="0">
                <a:solidFill>
                  <a:srgbClr val="2563EB"/>
                </a:solidFill>
              </a:rPr>
              <a:t>Status strip</a:t>
            </a:r>
            <a:endParaRPr lang="en-US" sz="750" dirty="0"/>
          </a:p>
        </p:txBody>
      </p:sp>
      <p:sp>
        <p:nvSpPr>
          <p:cNvPr id="25" name="Shape 23"/>
          <p:cNvSpPr/>
          <p:nvPr/>
        </p:nvSpPr>
        <p:spPr>
          <a:xfrm>
            <a:off x="868680" y="4782312"/>
            <a:ext cx="1234440" cy="502920"/>
          </a:xfrm>
          <a:prstGeom prst="roundRect">
            <a:avLst>
              <a:gd name="adj" fmla="val 14545"/>
            </a:avLst>
          </a:prstGeom>
          <a:solidFill>
            <a:srgbClr val="FB923C"/>
          </a:solidFill>
          <a:ln w="12700">
            <a:solidFill>
              <a:srgbClr val="FB923C">
                <a:alpha val="80000"/>
              </a:srgbClr>
            </a:solidFill>
            <a:prstDash val="solid"/>
          </a:ln>
          <a:effectLst>
            <a:outerShdw blurRad="15240" dist="50800" dir="2700000" algn="bl" rotWithShape="0">
              <a:srgbClr val="B8CDE0">
                <a:alpha val="11000"/>
              </a:srgbClr>
            </a:outerShdw>
          </a:effectLst>
        </p:spPr>
        <p:txBody>
          <a:bodyPr/>
          <a:lstStyle/>
          <a:p>
            <a:endParaRPr lang="en-GB"/>
          </a:p>
        </p:txBody>
      </p:sp>
      <p:sp>
        <p:nvSpPr>
          <p:cNvPr id="26" name="Text 24"/>
          <p:cNvSpPr/>
          <p:nvPr/>
        </p:nvSpPr>
        <p:spPr>
          <a:xfrm>
            <a:off x="941832" y="4892040"/>
            <a:ext cx="1088136" cy="301752"/>
          </a:xfrm>
          <a:prstGeom prst="rect">
            <a:avLst/>
          </a:prstGeom>
          <a:noFill/>
          <a:ln/>
        </p:spPr>
        <p:txBody>
          <a:bodyPr wrap="square" lIns="0" tIns="0" rIns="0" bIns="0" rtlCol="0" anchor="ctr">
            <a:normAutofit/>
          </a:bodyPr>
          <a:lstStyle/>
          <a:p>
            <a:pPr marL="0" indent="0" algn="ctr">
              <a:buNone/>
            </a:pPr>
            <a:r>
              <a:rPr lang="en-US" sz="1120" b="1" dirty="0">
                <a:solidFill>
                  <a:srgbClr val="FFFFFF"/>
                </a:solidFill>
                <a:latin typeface="Aptos Display" pitchFamily="34" charset="0"/>
                <a:ea typeface="Aptos Display" pitchFamily="34" charset="-122"/>
                <a:cs typeface="Aptos Display" pitchFamily="34" charset="-120"/>
              </a:rPr>
              <a:t>Queued</a:t>
            </a:r>
            <a:endParaRPr lang="en-US" sz="1120" dirty="0"/>
          </a:p>
        </p:txBody>
      </p:sp>
      <p:sp>
        <p:nvSpPr>
          <p:cNvPr id="27" name="Shape 25"/>
          <p:cNvSpPr/>
          <p:nvPr/>
        </p:nvSpPr>
        <p:spPr>
          <a:xfrm>
            <a:off x="2331720" y="4782312"/>
            <a:ext cx="1508760" cy="502920"/>
          </a:xfrm>
          <a:prstGeom prst="roundRect">
            <a:avLst>
              <a:gd name="adj" fmla="val 14545"/>
            </a:avLst>
          </a:prstGeom>
          <a:solidFill>
            <a:srgbClr val="2563EB"/>
          </a:solidFill>
          <a:ln w="12700">
            <a:solidFill>
              <a:srgbClr val="2563EB">
                <a:alpha val="80000"/>
              </a:srgbClr>
            </a:solidFill>
            <a:prstDash val="solid"/>
          </a:ln>
          <a:effectLst>
            <a:outerShdw blurRad="15240" dist="50800" dir="2700000" algn="bl" rotWithShape="0">
              <a:srgbClr val="B8CDE0">
                <a:alpha val="11000"/>
              </a:srgbClr>
            </a:outerShdw>
          </a:effectLst>
        </p:spPr>
        <p:txBody>
          <a:bodyPr/>
          <a:lstStyle/>
          <a:p>
            <a:endParaRPr lang="en-GB"/>
          </a:p>
        </p:txBody>
      </p:sp>
      <p:sp>
        <p:nvSpPr>
          <p:cNvPr id="28" name="Text 26"/>
          <p:cNvSpPr/>
          <p:nvPr/>
        </p:nvSpPr>
        <p:spPr>
          <a:xfrm>
            <a:off x="2404872" y="4892040"/>
            <a:ext cx="1362456" cy="301752"/>
          </a:xfrm>
          <a:prstGeom prst="rect">
            <a:avLst/>
          </a:prstGeom>
          <a:noFill/>
          <a:ln/>
        </p:spPr>
        <p:txBody>
          <a:bodyPr wrap="square" lIns="0" tIns="0" rIns="0" bIns="0" rtlCol="0" anchor="ctr">
            <a:normAutofit/>
          </a:bodyPr>
          <a:lstStyle/>
          <a:p>
            <a:pPr marL="0" indent="0" algn="ctr">
              <a:buNone/>
            </a:pPr>
            <a:r>
              <a:rPr lang="en-US" sz="1120" b="1" dirty="0">
                <a:solidFill>
                  <a:srgbClr val="FFFFFF"/>
                </a:solidFill>
                <a:latin typeface="Aptos Display" pitchFamily="34" charset="0"/>
                <a:ea typeface="Aptos Display" pitchFamily="34" charset="-122"/>
                <a:cs typeface="Aptos Display" pitchFamily="34" charset="-120"/>
              </a:rPr>
              <a:t>Processing</a:t>
            </a:r>
            <a:endParaRPr lang="en-US" sz="1120" dirty="0"/>
          </a:p>
        </p:txBody>
      </p:sp>
      <p:sp>
        <p:nvSpPr>
          <p:cNvPr id="29" name="Shape 27"/>
          <p:cNvSpPr/>
          <p:nvPr/>
        </p:nvSpPr>
        <p:spPr>
          <a:xfrm>
            <a:off x="4069080" y="4782312"/>
            <a:ext cx="1508760" cy="502920"/>
          </a:xfrm>
          <a:prstGeom prst="roundRect">
            <a:avLst>
              <a:gd name="adj" fmla="val 14545"/>
            </a:avLst>
          </a:prstGeom>
          <a:solidFill>
            <a:srgbClr val="22C55E"/>
          </a:solidFill>
          <a:ln w="12700">
            <a:solidFill>
              <a:srgbClr val="22C55E">
                <a:alpha val="80000"/>
              </a:srgbClr>
            </a:solidFill>
            <a:prstDash val="solid"/>
          </a:ln>
          <a:effectLst>
            <a:outerShdw blurRad="15240" dist="50800" dir="2700000" algn="bl" rotWithShape="0">
              <a:srgbClr val="B8CDE0">
                <a:alpha val="11000"/>
              </a:srgbClr>
            </a:outerShdw>
          </a:effectLst>
        </p:spPr>
        <p:txBody>
          <a:bodyPr/>
          <a:lstStyle/>
          <a:p>
            <a:endParaRPr lang="en-GB"/>
          </a:p>
        </p:txBody>
      </p:sp>
      <p:sp>
        <p:nvSpPr>
          <p:cNvPr id="30" name="Text 28"/>
          <p:cNvSpPr/>
          <p:nvPr/>
        </p:nvSpPr>
        <p:spPr>
          <a:xfrm>
            <a:off x="4142232" y="4892040"/>
            <a:ext cx="1362456" cy="301752"/>
          </a:xfrm>
          <a:prstGeom prst="rect">
            <a:avLst/>
          </a:prstGeom>
          <a:noFill/>
          <a:ln/>
        </p:spPr>
        <p:txBody>
          <a:bodyPr wrap="square" lIns="0" tIns="0" rIns="0" bIns="0" rtlCol="0" anchor="ctr">
            <a:normAutofit/>
          </a:bodyPr>
          <a:lstStyle/>
          <a:p>
            <a:pPr marL="0" indent="0" algn="ctr">
              <a:buNone/>
            </a:pPr>
            <a:r>
              <a:rPr lang="en-US" sz="1120" b="1" dirty="0">
                <a:solidFill>
                  <a:srgbClr val="FFFFFF"/>
                </a:solidFill>
                <a:latin typeface="Aptos Display" pitchFamily="34" charset="0"/>
                <a:ea typeface="Aptos Display" pitchFamily="34" charset="-122"/>
                <a:cs typeface="Aptos Display" pitchFamily="34" charset="-120"/>
              </a:rPr>
              <a:t>Completed</a:t>
            </a:r>
            <a:endParaRPr lang="en-US" sz="1120" dirty="0"/>
          </a:p>
        </p:txBody>
      </p:sp>
      <p:sp>
        <p:nvSpPr>
          <p:cNvPr id="31" name="Shape 29"/>
          <p:cNvSpPr/>
          <p:nvPr/>
        </p:nvSpPr>
        <p:spPr>
          <a:xfrm>
            <a:off x="5806440" y="4782312"/>
            <a:ext cx="1234440" cy="502920"/>
          </a:xfrm>
          <a:prstGeom prst="roundRect">
            <a:avLst>
              <a:gd name="adj" fmla="val 14545"/>
            </a:avLst>
          </a:prstGeom>
          <a:solidFill>
            <a:srgbClr val="FB7185"/>
          </a:solidFill>
          <a:ln w="12700">
            <a:solidFill>
              <a:srgbClr val="FB7185">
                <a:alpha val="80000"/>
              </a:srgbClr>
            </a:solidFill>
            <a:prstDash val="solid"/>
          </a:ln>
          <a:effectLst>
            <a:outerShdw blurRad="15240" dist="50800" dir="2700000" algn="bl" rotWithShape="0">
              <a:srgbClr val="B8CDE0">
                <a:alpha val="11000"/>
              </a:srgbClr>
            </a:outerShdw>
          </a:effectLst>
        </p:spPr>
        <p:txBody>
          <a:bodyPr/>
          <a:lstStyle/>
          <a:p>
            <a:endParaRPr lang="en-GB"/>
          </a:p>
        </p:txBody>
      </p:sp>
      <p:sp>
        <p:nvSpPr>
          <p:cNvPr id="32" name="Text 30"/>
          <p:cNvSpPr/>
          <p:nvPr/>
        </p:nvSpPr>
        <p:spPr>
          <a:xfrm>
            <a:off x="5879592" y="4892040"/>
            <a:ext cx="1088136" cy="301752"/>
          </a:xfrm>
          <a:prstGeom prst="rect">
            <a:avLst/>
          </a:prstGeom>
          <a:noFill/>
          <a:ln/>
        </p:spPr>
        <p:txBody>
          <a:bodyPr wrap="square" lIns="0" tIns="0" rIns="0" bIns="0" rtlCol="0" anchor="ctr">
            <a:normAutofit/>
          </a:bodyPr>
          <a:lstStyle/>
          <a:p>
            <a:pPr marL="0" indent="0" algn="ctr">
              <a:buNone/>
            </a:pPr>
            <a:r>
              <a:rPr lang="en-US" sz="1120" b="1" dirty="0">
                <a:solidFill>
                  <a:srgbClr val="FFFFFF"/>
                </a:solidFill>
                <a:latin typeface="Aptos Display" pitchFamily="34" charset="0"/>
                <a:ea typeface="Aptos Display" pitchFamily="34" charset="-122"/>
                <a:cs typeface="Aptos Display" pitchFamily="34" charset="-120"/>
              </a:rPr>
              <a:t>Failed</a:t>
            </a:r>
            <a:endParaRPr lang="en-US" sz="1120" dirty="0"/>
          </a:p>
        </p:txBody>
      </p:sp>
      <p:sp>
        <p:nvSpPr>
          <p:cNvPr id="33" name="Shape 31"/>
          <p:cNvSpPr/>
          <p:nvPr/>
        </p:nvSpPr>
        <p:spPr>
          <a:xfrm>
            <a:off x="2103120" y="5029200"/>
            <a:ext cx="228600" cy="0"/>
          </a:xfrm>
          <a:prstGeom prst="line">
            <a:avLst/>
          </a:prstGeom>
          <a:noFill/>
          <a:ln w="12700">
            <a:solidFill>
              <a:srgbClr val="06B6D4"/>
            </a:solidFill>
            <a:prstDash val="solid"/>
            <a:headEnd type="none"/>
            <a:tailEnd type="triangle"/>
          </a:ln>
        </p:spPr>
        <p:txBody>
          <a:bodyPr/>
          <a:lstStyle/>
          <a:p>
            <a:endParaRPr lang="en-GB"/>
          </a:p>
        </p:txBody>
      </p:sp>
      <p:sp>
        <p:nvSpPr>
          <p:cNvPr id="34" name="Shape 32"/>
          <p:cNvSpPr/>
          <p:nvPr/>
        </p:nvSpPr>
        <p:spPr>
          <a:xfrm>
            <a:off x="3840480" y="5029200"/>
            <a:ext cx="228600" cy="0"/>
          </a:xfrm>
          <a:prstGeom prst="line">
            <a:avLst/>
          </a:prstGeom>
          <a:noFill/>
          <a:ln w="12700">
            <a:solidFill>
              <a:srgbClr val="06B6D4"/>
            </a:solidFill>
            <a:prstDash val="solid"/>
            <a:headEnd type="none"/>
            <a:tailEnd type="triangle"/>
          </a:ln>
        </p:spPr>
        <p:txBody>
          <a:bodyPr/>
          <a:lstStyle/>
          <a:p>
            <a:endParaRPr lang="en-GB"/>
          </a:p>
        </p:txBody>
      </p:sp>
      <p:sp>
        <p:nvSpPr>
          <p:cNvPr id="35" name="Shape 33"/>
          <p:cNvSpPr/>
          <p:nvPr/>
        </p:nvSpPr>
        <p:spPr>
          <a:xfrm>
            <a:off x="5577840" y="5029200"/>
            <a:ext cx="228600" cy="0"/>
          </a:xfrm>
          <a:prstGeom prst="line">
            <a:avLst/>
          </a:prstGeom>
          <a:noFill/>
          <a:ln w="12700">
            <a:solidFill>
              <a:srgbClr val="06B6D4"/>
            </a:solidFill>
            <a:prstDash val="solid"/>
            <a:headEnd type="none"/>
            <a:tailEnd type="triangle"/>
          </a:ln>
        </p:spPr>
        <p:txBody>
          <a:bodyPr/>
          <a:lstStyle/>
          <a:p>
            <a:endParaRPr lang="en-GB"/>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BFF"/>
        </a:solidFill>
        <a:effectLst/>
      </p:bgPr>
    </p:bg>
    <p:spTree>
      <p:nvGrpSpPr>
        <p:cNvPr id="1" name=""/>
        <p:cNvGrpSpPr/>
        <p:nvPr/>
      </p:nvGrpSpPr>
      <p:grpSpPr>
        <a:xfrm>
          <a:off x="0" y="0"/>
          <a:ext cx="0" cy="0"/>
          <a:chOff x="0" y="0"/>
          <a:chExt cx="0" cy="0"/>
        </a:xfrm>
      </p:grpSpPr>
      <p:sp>
        <p:nvSpPr>
          <p:cNvPr id="2" name="Shape 0"/>
          <p:cNvSpPr/>
          <p:nvPr/>
        </p:nvSpPr>
        <p:spPr>
          <a:xfrm>
            <a:off x="-1143000" y="-1143000"/>
            <a:ext cx="3749040" cy="3749040"/>
          </a:xfrm>
          <a:prstGeom prst="arc">
            <a:avLst/>
          </a:prstGeom>
          <a:solidFill>
            <a:srgbClr val="E6FFFA">
              <a:alpha val="94000"/>
            </a:srgbClr>
          </a:solidFill>
          <a:ln w="12700">
            <a:solidFill>
              <a:srgbClr val="E6FFFA">
                <a:alpha val="0"/>
              </a:srgbClr>
            </a:solidFill>
            <a:prstDash val="solid"/>
          </a:ln>
        </p:spPr>
        <p:txBody>
          <a:bodyPr/>
          <a:lstStyle/>
          <a:p>
            <a:endParaRPr lang="en-GB"/>
          </a:p>
        </p:txBody>
      </p:sp>
      <p:sp>
        <p:nvSpPr>
          <p:cNvPr id="3" name="Shape 1"/>
          <p:cNvSpPr/>
          <p:nvPr/>
        </p:nvSpPr>
        <p:spPr>
          <a:xfrm>
            <a:off x="10012680" y="-685800"/>
            <a:ext cx="2926080" cy="2926080"/>
          </a:xfrm>
          <a:prstGeom prst="ellipse">
            <a:avLst/>
          </a:prstGeom>
          <a:solidFill>
            <a:srgbClr val="EAF5FF">
              <a:alpha val="95000"/>
            </a:srgbClr>
          </a:solidFill>
          <a:ln w="12700">
            <a:solidFill>
              <a:srgbClr val="EAF5FF">
                <a:alpha val="0"/>
              </a:srgbClr>
            </a:solidFill>
            <a:prstDash val="solid"/>
          </a:ln>
        </p:spPr>
        <p:txBody>
          <a:bodyPr/>
          <a:lstStyle/>
          <a:p>
            <a:endParaRPr lang="en-GB"/>
          </a:p>
        </p:txBody>
      </p:sp>
      <p:sp>
        <p:nvSpPr>
          <p:cNvPr id="4" name="Shape 2"/>
          <p:cNvSpPr/>
          <p:nvPr/>
        </p:nvSpPr>
        <p:spPr>
          <a:xfrm>
            <a:off x="10652760" y="5120640"/>
            <a:ext cx="2011680" cy="2011680"/>
          </a:xfrm>
          <a:prstGeom prst="ellipse">
            <a:avLst/>
          </a:prstGeom>
          <a:solidFill>
            <a:srgbClr val="E6FFFA">
              <a:alpha val="76000"/>
            </a:srgbClr>
          </a:solidFill>
          <a:ln w="12700">
            <a:solidFill>
              <a:srgbClr val="E6FFFA">
                <a:alpha val="0"/>
              </a:srgbClr>
            </a:solidFill>
            <a:prstDash val="solid"/>
          </a:ln>
        </p:spPr>
        <p:txBody>
          <a:bodyPr/>
          <a:lstStyle/>
          <a:p>
            <a:endParaRPr lang="en-GB"/>
          </a:p>
        </p:txBody>
      </p:sp>
      <p:sp>
        <p:nvSpPr>
          <p:cNvPr id="5" name="Shape 3"/>
          <p:cNvSpPr/>
          <p:nvPr/>
        </p:nvSpPr>
        <p:spPr>
          <a:xfrm>
            <a:off x="0" y="0"/>
            <a:ext cx="12191695" cy="100584"/>
          </a:xfrm>
          <a:prstGeom prst="rect">
            <a:avLst/>
          </a:prstGeom>
          <a:solidFill>
            <a:srgbClr val="14B8A6"/>
          </a:solidFill>
          <a:ln w="12700">
            <a:solidFill>
              <a:srgbClr val="14B8A6">
                <a:alpha val="0"/>
              </a:srgbClr>
            </a:solidFill>
            <a:prstDash val="solid"/>
          </a:ln>
        </p:spPr>
        <p:txBody>
          <a:bodyPr/>
          <a:lstStyle/>
          <a:p>
            <a:endParaRPr lang="en-GB"/>
          </a:p>
        </p:txBody>
      </p:sp>
      <p:sp>
        <p:nvSpPr>
          <p:cNvPr id="6" name="Text 4"/>
          <p:cNvSpPr/>
          <p:nvPr/>
        </p:nvSpPr>
        <p:spPr>
          <a:xfrm>
            <a:off x="548640" y="6336792"/>
            <a:ext cx="1828800" cy="201168"/>
          </a:xfrm>
          <a:prstGeom prst="rect">
            <a:avLst/>
          </a:prstGeom>
          <a:noFill/>
          <a:ln/>
        </p:spPr>
        <p:txBody>
          <a:bodyPr wrap="square" lIns="0" tIns="0" rIns="0" bIns="0" rtlCol="0" anchor="ctr"/>
          <a:lstStyle/>
          <a:p>
            <a:pPr marL="0" indent="0">
              <a:buNone/>
            </a:pPr>
            <a:r>
              <a:rPr lang="en-US" sz="850" b="1" dirty="0">
                <a:solidFill>
                  <a:srgbClr val="12355B"/>
                </a:solidFill>
              </a:rPr>
              <a:t>IncidentIQ</a:t>
            </a:r>
            <a:endParaRPr lang="en-US" sz="850" dirty="0"/>
          </a:p>
        </p:txBody>
      </p:sp>
      <p:sp>
        <p:nvSpPr>
          <p:cNvPr id="7" name="Text 5"/>
          <p:cNvSpPr/>
          <p:nvPr/>
        </p:nvSpPr>
        <p:spPr>
          <a:xfrm>
            <a:off x="1874520" y="6336792"/>
            <a:ext cx="4572000" cy="201168"/>
          </a:xfrm>
          <a:prstGeom prst="rect">
            <a:avLst/>
          </a:prstGeom>
          <a:noFill/>
          <a:ln/>
        </p:spPr>
        <p:txBody>
          <a:bodyPr wrap="square" lIns="0" tIns="0" rIns="0" bIns="0" rtlCol="0" anchor="ctr"/>
          <a:lstStyle/>
          <a:p>
            <a:pPr marL="0" indent="0">
              <a:buNone/>
            </a:pPr>
            <a:r>
              <a:rPr lang="en-US" sz="850" dirty="0">
                <a:solidFill>
                  <a:srgbClr val="64748B"/>
                </a:solidFill>
              </a:rPr>
              <a:t>Submission &amp; processing</a:t>
            </a:r>
            <a:endParaRPr lang="en-US" sz="850" dirty="0"/>
          </a:p>
        </p:txBody>
      </p:sp>
      <p:sp>
        <p:nvSpPr>
          <p:cNvPr id="8" name="Text 6"/>
          <p:cNvSpPr/>
          <p:nvPr/>
        </p:nvSpPr>
        <p:spPr>
          <a:xfrm>
            <a:off x="11155680" y="6291072"/>
            <a:ext cx="457200" cy="228600"/>
          </a:xfrm>
          <a:prstGeom prst="rect">
            <a:avLst/>
          </a:prstGeom>
          <a:noFill/>
          <a:ln/>
        </p:spPr>
        <p:txBody>
          <a:bodyPr wrap="square" lIns="0" tIns="0" rIns="0" bIns="0" rtlCol="0" anchor="ctr"/>
          <a:lstStyle/>
          <a:p>
            <a:pPr marL="0" indent="0" algn="r">
              <a:buNone/>
            </a:pPr>
            <a:r>
              <a:rPr lang="en-US" sz="850" b="1" dirty="0">
                <a:solidFill>
                  <a:srgbClr val="14B8A6"/>
                </a:solidFill>
              </a:rPr>
              <a:t>06</a:t>
            </a:r>
            <a:endParaRPr lang="en-US" sz="850" dirty="0"/>
          </a:p>
        </p:txBody>
      </p:sp>
      <p:sp>
        <p:nvSpPr>
          <p:cNvPr id="9" name="Text 7"/>
          <p:cNvSpPr/>
          <p:nvPr/>
        </p:nvSpPr>
        <p:spPr>
          <a:xfrm>
            <a:off x="685800" y="603504"/>
            <a:ext cx="5486400" cy="219456"/>
          </a:xfrm>
          <a:prstGeom prst="rect">
            <a:avLst/>
          </a:prstGeom>
          <a:noFill/>
          <a:ln/>
        </p:spPr>
        <p:txBody>
          <a:bodyPr wrap="square" lIns="0" tIns="0" rIns="0" bIns="0" rtlCol="0" anchor="ctr"/>
          <a:lstStyle/>
          <a:p>
            <a:pPr marL="0" indent="0">
              <a:buNone/>
            </a:pPr>
            <a:r>
              <a:rPr lang="en-US" sz="850" b="1" dirty="0">
                <a:solidFill>
                  <a:srgbClr val="14B8A6"/>
                </a:solidFill>
              </a:rPr>
              <a:t>SUBMISSION &amp; PROCESSING</a:t>
            </a:r>
            <a:endParaRPr lang="en-US" sz="850" dirty="0"/>
          </a:p>
        </p:txBody>
      </p:sp>
      <p:sp>
        <p:nvSpPr>
          <p:cNvPr id="10" name="Text 8"/>
          <p:cNvSpPr/>
          <p:nvPr/>
        </p:nvSpPr>
        <p:spPr>
          <a:xfrm>
            <a:off x="685800" y="914400"/>
            <a:ext cx="9784080" cy="658368"/>
          </a:xfrm>
          <a:prstGeom prst="rect">
            <a:avLst/>
          </a:prstGeom>
          <a:noFill/>
          <a:ln/>
        </p:spPr>
        <p:txBody>
          <a:bodyPr wrap="square" lIns="0" tIns="0" rIns="0" bIns="0" rtlCol="0" anchor="ctr">
            <a:normAutofit/>
          </a:bodyPr>
          <a:lstStyle/>
          <a:p>
            <a:pPr marL="0" indent="0">
              <a:buNone/>
            </a:pPr>
            <a:r>
              <a:rPr lang="en-US" sz="3000" b="1" dirty="0">
                <a:solidFill>
                  <a:srgbClr val="0B1F33"/>
                </a:solidFill>
                <a:latin typeface="Aptos Display" pitchFamily="34" charset="0"/>
                <a:ea typeface="Aptos Display" pitchFamily="34" charset="-122"/>
                <a:cs typeface="Aptos Display" pitchFamily="34" charset="-120"/>
              </a:rPr>
              <a:t>Durable asynchronous submission</a:t>
            </a:r>
            <a:endParaRPr lang="en-US" sz="3000" dirty="0"/>
          </a:p>
        </p:txBody>
      </p:sp>
      <p:sp>
        <p:nvSpPr>
          <p:cNvPr id="11" name="Text 9"/>
          <p:cNvSpPr/>
          <p:nvPr/>
        </p:nvSpPr>
        <p:spPr>
          <a:xfrm>
            <a:off x="685800" y="1682496"/>
            <a:ext cx="7863840" cy="420624"/>
          </a:xfrm>
          <a:prstGeom prst="rect">
            <a:avLst/>
          </a:prstGeom>
          <a:noFill/>
          <a:ln/>
        </p:spPr>
        <p:txBody>
          <a:bodyPr wrap="square" lIns="254" tIns="254" rIns="254" bIns="254" rtlCol="0" anchor="ctr">
            <a:normAutofit/>
          </a:bodyPr>
          <a:lstStyle/>
          <a:p>
            <a:pPr marL="0" indent="0">
              <a:buNone/>
            </a:pPr>
            <a:r>
              <a:rPr lang="en-US" sz="1320" dirty="0">
                <a:solidFill>
                  <a:srgbClr val="52657A"/>
                </a:solidFill>
              </a:rPr>
              <a:t>The HTTP request writes the Incident and durable work atomically; background processing does the heavy lifting.</a:t>
            </a:r>
            <a:endParaRPr lang="en-US" sz="1320" dirty="0"/>
          </a:p>
        </p:txBody>
      </p:sp>
      <p:sp>
        <p:nvSpPr>
          <p:cNvPr id="12" name="Shape 10"/>
          <p:cNvSpPr/>
          <p:nvPr/>
        </p:nvSpPr>
        <p:spPr>
          <a:xfrm>
            <a:off x="841248" y="2560320"/>
            <a:ext cx="1078992" cy="566928"/>
          </a:xfrm>
          <a:prstGeom prst="roundRect">
            <a:avLst>
              <a:gd name="adj" fmla="val 12903"/>
            </a:avLst>
          </a:prstGeom>
          <a:solidFill>
            <a:srgbClr val="2563EB"/>
          </a:solidFill>
          <a:ln w="12700">
            <a:solidFill>
              <a:srgbClr val="2563EB">
                <a:alpha val="80000"/>
              </a:srgbClr>
            </a:solidFill>
            <a:prstDash val="solid"/>
          </a:ln>
          <a:effectLst>
            <a:outerShdw blurRad="15240" dist="50800" dir="2700000" algn="bl" rotWithShape="0">
              <a:srgbClr val="B8CDE0">
                <a:alpha val="11000"/>
              </a:srgbClr>
            </a:outerShdw>
          </a:effectLst>
        </p:spPr>
        <p:txBody>
          <a:bodyPr/>
          <a:lstStyle/>
          <a:p>
            <a:endParaRPr lang="en-GB"/>
          </a:p>
        </p:txBody>
      </p:sp>
      <p:sp>
        <p:nvSpPr>
          <p:cNvPr id="13" name="Text 11"/>
          <p:cNvSpPr/>
          <p:nvPr/>
        </p:nvSpPr>
        <p:spPr>
          <a:xfrm>
            <a:off x="914400" y="2670048"/>
            <a:ext cx="932688" cy="243779"/>
          </a:xfrm>
          <a:prstGeom prst="rect">
            <a:avLst/>
          </a:prstGeom>
          <a:noFill/>
          <a:ln/>
        </p:spPr>
        <p:txBody>
          <a:bodyPr wrap="square" lIns="0" tIns="0" rIns="0" bIns="0" rtlCol="0" anchor="ctr">
            <a:normAutofit/>
          </a:bodyPr>
          <a:lstStyle/>
          <a:p>
            <a:pPr marL="0" indent="0" algn="ctr">
              <a:buNone/>
            </a:pPr>
            <a:r>
              <a:rPr lang="en-US" sz="1120" b="1" dirty="0">
                <a:solidFill>
                  <a:srgbClr val="FFFFFF"/>
                </a:solidFill>
                <a:latin typeface="Aptos Display" pitchFamily="34" charset="0"/>
                <a:ea typeface="Aptos Display" pitchFamily="34" charset="-122"/>
                <a:cs typeface="Aptos Display" pitchFamily="34" charset="-120"/>
              </a:rPr>
              <a:t>POST</a:t>
            </a:r>
            <a:endParaRPr lang="en-US" sz="1120" dirty="0"/>
          </a:p>
        </p:txBody>
      </p:sp>
      <p:sp>
        <p:nvSpPr>
          <p:cNvPr id="14" name="Text 12"/>
          <p:cNvSpPr/>
          <p:nvPr/>
        </p:nvSpPr>
        <p:spPr>
          <a:xfrm>
            <a:off x="923544" y="2883469"/>
            <a:ext cx="914400" cy="158740"/>
          </a:xfrm>
          <a:prstGeom prst="rect">
            <a:avLst/>
          </a:prstGeom>
          <a:noFill/>
          <a:ln/>
        </p:spPr>
        <p:txBody>
          <a:bodyPr wrap="square" lIns="0" tIns="0" rIns="0" bIns="0" rtlCol="0" anchor="ctr">
            <a:normAutofit/>
          </a:bodyPr>
          <a:lstStyle/>
          <a:p>
            <a:pPr marL="0" indent="0" algn="ctr">
              <a:buNone/>
            </a:pPr>
            <a:r>
              <a:rPr lang="en-US" sz="710" dirty="0">
                <a:solidFill>
                  <a:srgbClr val="E0F2FE"/>
                </a:solidFill>
              </a:rPr>
              <a:t>API request</a:t>
            </a:r>
            <a:endParaRPr lang="en-US" sz="710" dirty="0"/>
          </a:p>
        </p:txBody>
      </p:sp>
      <p:sp>
        <p:nvSpPr>
          <p:cNvPr id="15" name="Shape 13"/>
          <p:cNvSpPr/>
          <p:nvPr/>
        </p:nvSpPr>
        <p:spPr>
          <a:xfrm>
            <a:off x="2670048" y="2560320"/>
            <a:ext cx="1389888" cy="566928"/>
          </a:xfrm>
          <a:prstGeom prst="roundRect">
            <a:avLst>
              <a:gd name="adj" fmla="val 12903"/>
            </a:avLst>
          </a:prstGeom>
          <a:solidFill>
            <a:srgbClr val="22C55E"/>
          </a:solidFill>
          <a:ln w="12700">
            <a:solidFill>
              <a:srgbClr val="22C55E">
                <a:alpha val="80000"/>
              </a:srgbClr>
            </a:solidFill>
            <a:prstDash val="solid"/>
          </a:ln>
          <a:effectLst>
            <a:outerShdw blurRad="15240" dist="50800" dir="2700000" algn="bl" rotWithShape="0">
              <a:srgbClr val="B8CDE0">
                <a:alpha val="11000"/>
              </a:srgbClr>
            </a:outerShdw>
          </a:effectLst>
        </p:spPr>
        <p:txBody>
          <a:bodyPr/>
          <a:lstStyle/>
          <a:p>
            <a:endParaRPr lang="en-GB"/>
          </a:p>
        </p:txBody>
      </p:sp>
      <p:sp>
        <p:nvSpPr>
          <p:cNvPr id="16" name="Text 14"/>
          <p:cNvSpPr/>
          <p:nvPr/>
        </p:nvSpPr>
        <p:spPr>
          <a:xfrm>
            <a:off x="2743200" y="2670048"/>
            <a:ext cx="1243584" cy="243779"/>
          </a:xfrm>
          <a:prstGeom prst="rect">
            <a:avLst/>
          </a:prstGeom>
          <a:noFill/>
          <a:ln/>
        </p:spPr>
        <p:txBody>
          <a:bodyPr wrap="square" lIns="0" tIns="0" rIns="0" bIns="0" rtlCol="0" anchor="ctr">
            <a:normAutofit/>
          </a:bodyPr>
          <a:lstStyle/>
          <a:p>
            <a:pPr marL="0" indent="0" algn="ctr">
              <a:buNone/>
            </a:pPr>
            <a:r>
              <a:rPr lang="en-US" sz="1120" b="1" dirty="0">
                <a:solidFill>
                  <a:srgbClr val="FFFFFF"/>
                </a:solidFill>
                <a:latin typeface="Aptos Display" pitchFamily="34" charset="0"/>
                <a:ea typeface="Aptos Display" pitchFamily="34" charset="-122"/>
                <a:cs typeface="Aptos Display" pitchFamily="34" charset="-120"/>
              </a:rPr>
              <a:t>Cosmos batch</a:t>
            </a:r>
            <a:endParaRPr lang="en-US" sz="1120" dirty="0"/>
          </a:p>
        </p:txBody>
      </p:sp>
      <p:sp>
        <p:nvSpPr>
          <p:cNvPr id="17" name="Text 15"/>
          <p:cNvSpPr/>
          <p:nvPr/>
        </p:nvSpPr>
        <p:spPr>
          <a:xfrm>
            <a:off x="2752344" y="2883469"/>
            <a:ext cx="1225296" cy="158740"/>
          </a:xfrm>
          <a:prstGeom prst="rect">
            <a:avLst/>
          </a:prstGeom>
          <a:noFill/>
          <a:ln/>
        </p:spPr>
        <p:txBody>
          <a:bodyPr wrap="square" lIns="0" tIns="0" rIns="0" bIns="0" rtlCol="0" anchor="ctr">
            <a:normAutofit/>
          </a:bodyPr>
          <a:lstStyle/>
          <a:p>
            <a:pPr marL="0" indent="0" algn="ctr">
              <a:buNone/>
            </a:pPr>
            <a:r>
              <a:rPr lang="en-US" sz="710" dirty="0">
                <a:solidFill>
                  <a:srgbClr val="E0F2FE"/>
                </a:solidFill>
              </a:rPr>
              <a:t>Incident + outbox</a:t>
            </a:r>
            <a:endParaRPr lang="en-US" sz="710" dirty="0"/>
          </a:p>
        </p:txBody>
      </p:sp>
      <p:sp>
        <p:nvSpPr>
          <p:cNvPr id="18" name="Shape 16"/>
          <p:cNvSpPr/>
          <p:nvPr/>
        </p:nvSpPr>
        <p:spPr>
          <a:xfrm>
            <a:off x="4800600" y="2560320"/>
            <a:ext cx="1389888" cy="566928"/>
          </a:xfrm>
          <a:prstGeom prst="roundRect">
            <a:avLst>
              <a:gd name="adj" fmla="val 12903"/>
            </a:avLst>
          </a:prstGeom>
          <a:solidFill>
            <a:srgbClr val="14B8A6"/>
          </a:solidFill>
          <a:ln w="12700">
            <a:solidFill>
              <a:srgbClr val="14B8A6">
                <a:alpha val="80000"/>
              </a:srgbClr>
            </a:solidFill>
            <a:prstDash val="solid"/>
          </a:ln>
          <a:effectLst>
            <a:outerShdw blurRad="15240" dist="50800" dir="2700000" algn="bl" rotWithShape="0">
              <a:srgbClr val="B8CDE0">
                <a:alpha val="11000"/>
              </a:srgbClr>
            </a:outerShdw>
          </a:effectLst>
        </p:spPr>
        <p:txBody>
          <a:bodyPr/>
          <a:lstStyle/>
          <a:p>
            <a:endParaRPr lang="en-GB"/>
          </a:p>
        </p:txBody>
      </p:sp>
      <p:sp>
        <p:nvSpPr>
          <p:cNvPr id="19" name="Text 17"/>
          <p:cNvSpPr/>
          <p:nvPr/>
        </p:nvSpPr>
        <p:spPr>
          <a:xfrm>
            <a:off x="4873752" y="2670048"/>
            <a:ext cx="1243584" cy="243779"/>
          </a:xfrm>
          <a:prstGeom prst="rect">
            <a:avLst/>
          </a:prstGeom>
          <a:noFill/>
          <a:ln/>
        </p:spPr>
        <p:txBody>
          <a:bodyPr wrap="square" lIns="0" tIns="0" rIns="0" bIns="0" rtlCol="0" anchor="ctr">
            <a:normAutofit/>
          </a:bodyPr>
          <a:lstStyle/>
          <a:p>
            <a:pPr marL="0" indent="0" algn="ctr">
              <a:buNone/>
            </a:pPr>
            <a:r>
              <a:rPr lang="en-US" sz="1120" b="1" dirty="0">
                <a:solidFill>
                  <a:srgbClr val="FFFFFF"/>
                </a:solidFill>
                <a:latin typeface="Aptos Display" pitchFamily="34" charset="0"/>
                <a:ea typeface="Aptos Display" pitchFamily="34" charset="-122"/>
                <a:cs typeface="Aptos Display" pitchFamily="34" charset="-120"/>
              </a:rPr>
              <a:t>Change Feed</a:t>
            </a:r>
            <a:endParaRPr lang="en-US" sz="1120" dirty="0"/>
          </a:p>
        </p:txBody>
      </p:sp>
      <p:sp>
        <p:nvSpPr>
          <p:cNvPr id="20" name="Text 18"/>
          <p:cNvSpPr/>
          <p:nvPr/>
        </p:nvSpPr>
        <p:spPr>
          <a:xfrm>
            <a:off x="4882896" y="2883469"/>
            <a:ext cx="1225296" cy="158740"/>
          </a:xfrm>
          <a:prstGeom prst="rect">
            <a:avLst/>
          </a:prstGeom>
          <a:noFill/>
          <a:ln/>
        </p:spPr>
        <p:txBody>
          <a:bodyPr wrap="square" lIns="0" tIns="0" rIns="0" bIns="0" rtlCol="0" anchor="ctr">
            <a:normAutofit/>
          </a:bodyPr>
          <a:lstStyle/>
          <a:p>
            <a:pPr marL="0" indent="0" algn="ctr">
              <a:buNone/>
            </a:pPr>
            <a:r>
              <a:rPr lang="en-US" sz="710" dirty="0">
                <a:solidFill>
                  <a:srgbClr val="E0F2FE"/>
                </a:solidFill>
              </a:rPr>
              <a:t>relay command</a:t>
            </a:r>
            <a:endParaRPr lang="en-US" sz="710" dirty="0"/>
          </a:p>
        </p:txBody>
      </p:sp>
      <p:sp>
        <p:nvSpPr>
          <p:cNvPr id="21" name="Shape 19"/>
          <p:cNvSpPr/>
          <p:nvPr/>
        </p:nvSpPr>
        <p:spPr>
          <a:xfrm>
            <a:off x="6931152" y="2560320"/>
            <a:ext cx="1353312" cy="566928"/>
          </a:xfrm>
          <a:prstGeom prst="roundRect">
            <a:avLst>
              <a:gd name="adj" fmla="val 12903"/>
            </a:avLst>
          </a:prstGeom>
          <a:solidFill>
            <a:srgbClr val="FB923C"/>
          </a:solidFill>
          <a:ln w="12700">
            <a:solidFill>
              <a:srgbClr val="FB923C">
                <a:alpha val="80000"/>
              </a:srgbClr>
            </a:solidFill>
            <a:prstDash val="solid"/>
          </a:ln>
          <a:effectLst>
            <a:outerShdw blurRad="15240" dist="50800" dir="2700000" algn="bl" rotWithShape="0">
              <a:srgbClr val="B8CDE0">
                <a:alpha val="11000"/>
              </a:srgbClr>
            </a:outerShdw>
          </a:effectLst>
        </p:spPr>
        <p:txBody>
          <a:bodyPr/>
          <a:lstStyle/>
          <a:p>
            <a:endParaRPr lang="en-GB"/>
          </a:p>
        </p:txBody>
      </p:sp>
      <p:sp>
        <p:nvSpPr>
          <p:cNvPr id="22" name="Text 20"/>
          <p:cNvSpPr/>
          <p:nvPr/>
        </p:nvSpPr>
        <p:spPr>
          <a:xfrm>
            <a:off x="7004304" y="2670048"/>
            <a:ext cx="1207008" cy="243779"/>
          </a:xfrm>
          <a:prstGeom prst="rect">
            <a:avLst/>
          </a:prstGeom>
          <a:noFill/>
          <a:ln/>
        </p:spPr>
        <p:txBody>
          <a:bodyPr wrap="square" lIns="0" tIns="0" rIns="0" bIns="0" rtlCol="0" anchor="ctr">
            <a:normAutofit/>
          </a:bodyPr>
          <a:lstStyle/>
          <a:p>
            <a:pPr marL="0" indent="0" algn="ctr">
              <a:buNone/>
            </a:pPr>
            <a:r>
              <a:rPr lang="en-US" sz="1120" b="1" dirty="0">
                <a:solidFill>
                  <a:srgbClr val="FFFFFF"/>
                </a:solidFill>
                <a:latin typeface="Aptos Display" pitchFamily="34" charset="0"/>
                <a:ea typeface="Aptos Display" pitchFamily="34" charset="-122"/>
                <a:cs typeface="Aptos Display" pitchFamily="34" charset="-120"/>
              </a:rPr>
              <a:t>Service Bus</a:t>
            </a:r>
            <a:endParaRPr lang="en-US" sz="1120" dirty="0"/>
          </a:p>
        </p:txBody>
      </p:sp>
      <p:sp>
        <p:nvSpPr>
          <p:cNvPr id="23" name="Text 21"/>
          <p:cNvSpPr/>
          <p:nvPr/>
        </p:nvSpPr>
        <p:spPr>
          <a:xfrm>
            <a:off x="7013448" y="2883469"/>
            <a:ext cx="1188720" cy="158740"/>
          </a:xfrm>
          <a:prstGeom prst="rect">
            <a:avLst/>
          </a:prstGeom>
          <a:noFill/>
          <a:ln/>
        </p:spPr>
        <p:txBody>
          <a:bodyPr wrap="square" lIns="0" tIns="0" rIns="0" bIns="0" rtlCol="0" anchor="ctr">
            <a:normAutofit/>
          </a:bodyPr>
          <a:lstStyle/>
          <a:p>
            <a:pPr marL="0" indent="0" algn="ctr">
              <a:buNone/>
            </a:pPr>
            <a:r>
              <a:rPr lang="en-US" sz="710" dirty="0">
                <a:solidFill>
                  <a:srgbClr val="E0F2FE"/>
                </a:solidFill>
              </a:rPr>
              <a:t>durable queue</a:t>
            </a:r>
            <a:endParaRPr lang="en-US" sz="710" dirty="0"/>
          </a:p>
        </p:txBody>
      </p:sp>
      <p:sp>
        <p:nvSpPr>
          <p:cNvPr id="24" name="Shape 22"/>
          <p:cNvSpPr/>
          <p:nvPr/>
        </p:nvSpPr>
        <p:spPr>
          <a:xfrm>
            <a:off x="9052560" y="2560320"/>
            <a:ext cx="1207008" cy="566928"/>
          </a:xfrm>
          <a:prstGeom prst="roundRect">
            <a:avLst>
              <a:gd name="adj" fmla="val 12903"/>
            </a:avLst>
          </a:prstGeom>
          <a:solidFill>
            <a:srgbClr val="2563EB"/>
          </a:solidFill>
          <a:ln w="12700">
            <a:solidFill>
              <a:srgbClr val="2563EB">
                <a:alpha val="80000"/>
              </a:srgbClr>
            </a:solidFill>
            <a:prstDash val="solid"/>
          </a:ln>
          <a:effectLst>
            <a:outerShdw blurRad="15240" dist="50800" dir="2700000" algn="bl" rotWithShape="0">
              <a:srgbClr val="B8CDE0">
                <a:alpha val="11000"/>
              </a:srgbClr>
            </a:outerShdw>
          </a:effectLst>
        </p:spPr>
        <p:txBody>
          <a:bodyPr/>
          <a:lstStyle/>
          <a:p>
            <a:endParaRPr lang="en-GB"/>
          </a:p>
        </p:txBody>
      </p:sp>
      <p:sp>
        <p:nvSpPr>
          <p:cNvPr id="25" name="Text 23"/>
          <p:cNvSpPr/>
          <p:nvPr/>
        </p:nvSpPr>
        <p:spPr>
          <a:xfrm>
            <a:off x="9125712" y="2670048"/>
            <a:ext cx="1060704" cy="243779"/>
          </a:xfrm>
          <a:prstGeom prst="rect">
            <a:avLst/>
          </a:prstGeom>
          <a:noFill/>
          <a:ln/>
        </p:spPr>
        <p:txBody>
          <a:bodyPr wrap="square" lIns="0" tIns="0" rIns="0" bIns="0" rtlCol="0" anchor="ctr">
            <a:normAutofit/>
          </a:bodyPr>
          <a:lstStyle/>
          <a:p>
            <a:pPr marL="0" indent="0" algn="ctr">
              <a:buNone/>
            </a:pPr>
            <a:r>
              <a:rPr lang="en-US" sz="1120" b="1" dirty="0">
                <a:solidFill>
                  <a:srgbClr val="FFFFFF"/>
                </a:solidFill>
                <a:latin typeface="Aptos Display" pitchFamily="34" charset="0"/>
                <a:ea typeface="Aptos Display" pitchFamily="34" charset="-122"/>
                <a:cs typeface="Aptos Display" pitchFamily="34" charset="-120"/>
              </a:rPr>
              <a:t>Worker</a:t>
            </a:r>
            <a:endParaRPr lang="en-US" sz="1120" dirty="0"/>
          </a:p>
        </p:txBody>
      </p:sp>
      <p:sp>
        <p:nvSpPr>
          <p:cNvPr id="26" name="Text 24"/>
          <p:cNvSpPr/>
          <p:nvPr/>
        </p:nvSpPr>
        <p:spPr>
          <a:xfrm>
            <a:off x="9134856" y="2883469"/>
            <a:ext cx="1042416" cy="158740"/>
          </a:xfrm>
          <a:prstGeom prst="rect">
            <a:avLst/>
          </a:prstGeom>
          <a:noFill/>
          <a:ln/>
        </p:spPr>
        <p:txBody>
          <a:bodyPr wrap="square" lIns="0" tIns="0" rIns="0" bIns="0" rtlCol="0" anchor="ctr">
            <a:normAutofit/>
          </a:bodyPr>
          <a:lstStyle/>
          <a:p>
            <a:pPr marL="0" indent="0" algn="ctr">
              <a:buNone/>
            </a:pPr>
            <a:r>
              <a:rPr lang="en-US" sz="710" dirty="0">
                <a:solidFill>
                  <a:srgbClr val="E0F2FE"/>
                </a:solidFill>
              </a:rPr>
              <a:t>analysis</a:t>
            </a:r>
            <a:endParaRPr lang="en-US" sz="710" dirty="0"/>
          </a:p>
        </p:txBody>
      </p:sp>
      <p:sp>
        <p:nvSpPr>
          <p:cNvPr id="27" name="Shape 25"/>
          <p:cNvSpPr/>
          <p:nvPr/>
        </p:nvSpPr>
        <p:spPr>
          <a:xfrm>
            <a:off x="1920240" y="2843784"/>
            <a:ext cx="749808" cy="0"/>
          </a:xfrm>
          <a:prstGeom prst="line">
            <a:avLst/>
          </a:prstGeom>
          <a:noFill/>
          <a:ln w="15240">
            <a:solidFill>
              <a:srgbClr val="06B6D4"/>
            </a:solidFill>
            <a:prstDash val="solid"/>
            <a:headEnd type="none"/>
            <a:tailEnd type="triangle"/>
          </a:ln>
        </p:spPr>
        <p:txBody>
          <a:bodyPr/>
          <a:lstStyle/>
          <a:p>
            <a:endParaRPr lang="en-GB"/>
          </a:p>
        </p:txBody>
      </p:sp>
      <p:sp>
        <p:nvSpPr>
          <p:cNvPr id="28" name="Shape 26"/>
          <p:cNvSpPr/>
          <p:nvPr/>
        </p:nvSpPr>
        <p:spPr>
          <a:xfrm>
            <a:off x="4059936" y="2843784"/>
            <a:ext cx="740664" cy="0"/>
          </a:xfrm>
          <a:prstGeom prst="line">
            <a:avLst/>
          </a:prstGeom>
          <a:noFill/>
          <a:ln w="15240">
            <a:solidFill>
              <a:srgbClr val="06B6D4"/>
            </a:solidFill>
            <a:prstDash val="solid"/>
            <a:headEnd type="none"/>
            <a:tailEnd type="triangle"/>
          </a:ln>
        </p:spPr>
        <p:txBody>
          <a:bodyPr/>
          <a:lstStyle/>
          <a:p>
            <a:endParaRPr lang="en-GB"/>
          </a:p>
        </p:txBody>
      </p:sp>
      <p:sp>
        <p:nvSpPr>
          <p:cNvPr id="29" name="Shape 27"/>
          <p:cNvSpPr/>
          <p:nvPr/>
        </p:nvSpPr>
        <p:spPr>
          <a:xfrm>
            <a:off x="6190488" y="2843784"/>
            <a:ext cx="740664" cy="0"/>
          </a:xfrm>
          <a:prstGeom prst="line">
            <a:avLst/>
          </a:prstGeom>
          <a:noFill/>
          <a:ln w="15240">
            <a:solidFill>
              <a:srgbClr val="06B6D4"/>
            </a:solidFill>
            <a:prstDash val="solid"/>
            <a:headEnd type="none"/>
            <a:tailEnd type="triangle"/>
          </a:ln>
        </p:spPr>
        <p:txBody>
          <a:bodyPr/>
          <a:lstStyle/>
          <a:p>
            <a:endParaRPr lang="en-GB"/>
          </a:p>
        </p:txBody>
      </p:sp>
      <p:sp>
        <p:nvSpPr>
          <p:cNvPr id="30" name="Shape 28"/>
          <p:cNvSpPr/>
          <p:nvPr/>
        </p:nvSpPr>
        <p:spPr>
          <a:xfrm>
            <a:off x="8284464" y="2843784"/>
            <a:ext cx="768096" cy="0"/>
          </a:xfrm>
          <a:prstGeom prst="line">
            <a:avLst/>
          </a:prstGeom>
          <a:noFill/>
          <a:ln w="15240">
            <a:solidFill>
              <a:srgbClr val="06B6D4"/>
            </a:solidFill>
            <a:prstDash val="solid"/>
            <a:headEnd type="none"/>
            <a:tailEnd type="triangle"/>
          </a:ln>
        </p:spPr>
        <p:txBody>
          <a:bodyPr/>
          <a:lstStyle/>
          <a:p>
            <a:endParaRPr lang="en-GB"/>
          </a:p>
        </p:txBody>
      </p:sp>
      <p:sp>
        <p:nvSpPr>
          <p:cNvPr id="31" name="Shape 29"/>
          <p:cNvSpPr/>
          <p:nvPr/>
        </p:nvSpPr>
        <p:spPr>
          <a:xfrm>
            <a:off x="841248" y="4297680"/>
            <a:ext cx="3108960" cy="960120"/>
          </a:xfrm>
          <a:prstGeom prst="roundRect">
            <a:avLst>
              <a:gd name="adj" fmla="val 11429"/>
            </a:avLst>
          </a:prstGeom>
          <a:solidFill>
            <a:srgbClr val="FFFFFF"/>
          </a:solidFill>
          <a:ln w="12700">
            <a:solidFill>
              <a:srgbClr val="C9DCEB">
                <a:alpha val="85000"/>
              </a:srgbClr>
            </a:solidFill>
            <a:prstDash val="solid"/>
          </a:ln>
          <a:effectLst>
            <a:outerShdw blurRad="19050" dist="50800" dir="2700000" algn="bl" rotWithShape="0">
              <a:srgbClr val="B9CFE0">
                <a:alpha val="13000"/>
              </a:srgbClr>
            </a:outerShdw>
          </a:effectLst>
        </p:spPr>
        <p:txBody>
          <a:bodyPr/>
          <a:lstStyle/>
          <a:p>
            <a:endParaRPr lang="en-GB"/>
          </a:p>
        </p:txBody>
      </p:sp>
      <p:sp>
        <p:nvSpPr>
          <p:cNvPr id="32" name="Shape 30"/>
          <p:cNvSpPr/>
          <p:nvPr/>
        </p:nvSpPr>
        <p:spPr>
          <a:xfrm>
            <a:off x="841248" y="4297680"/>
            <a:ext cx="73152" cy="960120"/>
          </a:xfrm>
          <a:prstGeom prst="rect">
            <a:avLst/>
          </a:prstGeom>
          <a:solidFill>
            <a:srgbClr val="14B8A6"/>
          </a:solidFill>
          <a:ln w="12700">
            <a:solidFill>
              <a:srgbClr val="14B8A6">
                <a:alpha val="0"/>
              </a:srgbClr>
            </a:solidFill>
            <a:prstDash val="solid"/>
          </a:ln>
        </p:spPr>
        <p:txBody>
          <a:bodyPr/>
          <a:lstStyle/>
          <a:p>
            <a:endParaRPr lang="en-GB"/>
          </a:p>
        </p:txBody>
      </p:sp>
      <p:sp>
        <p:nvSpPr>
          <p:cNvPr id="33" name="Text 31"/>
          <p:cNvSpPr/>
          <p:nvPr/>
        </p:nvSpPr>
        <p:spPr>
          <a:xfrm>
            <a:off x="1060704" y="4462272"/>
            <a:ext cx="2761488" cy="274320"/>
          </a:xfrm>
          <a:prstGeom prst="rect">
            <a:avLst/>
          </a:prstGeom>
          <a:noFill/>
          <a:ln/>
        </p:spPr>
        <p:txBody>
          <a:bodyPr wrap="square" lIns="0" tIns="0" rIns="0" bIns="0" rtlCol="0" anchor="ctr">
            <a:normAutofit/>
          </a:bodyPr>
          <a:lstStyle/>
          <a:p>
            <a:pPr marL="0" indent="0">
              <a:buNone/>
            </a:pPr>
            <a:r>
              <a:rPr lang="en-US" sz="1260" b="1" dirty="0">
                <a:solidFill>
                  <a:srgbClr val="0B1F33"/>
                </a:solidFill>
                <a:latin typeface="Aptos Display" pitchFamily="34" charset="0"/>
                <a:ea typeface="Aptos Display" pitchFamily="34" charset="-122"/>
                <a:cs typeface="Aptos Display" pitchFamily="34" charset="-120"/>
              </a:rPr>
              <a:t>Resilient by design</a:t>
            </a:r>
            <a:endParaRPr lang="en-US" sz="1260" dirty="0"/>
          </a:p>
        </p:txBody>
      </p:sp>
      <p:sp>
        <p:nvSpPr>
          <p:cNvPr id="34" name="Text 32"/>
          <p:cNvSpPr/>
          <p:nvPr/>
        </p:nvSpPr>
        <p:spPr>
          <a:xfrm>
            <a:off x="1060704" y="4864608"/>
            <a:ext cx="2761488" cy="246888"/>
          </a:xfrm>
          <a:prstGeom prst="rect">
            <a:avLst/>
          </a:prstGeom>
          <a:noFill/>
          <a:ln/>
        </p:spPr>
        <p:txBody>
          <a:bodyPr wrap="square" lIns="0" tIns="0" rIns="0" bIns="0" rtlCol="0" anchor="ctr">
            <a:normAutofit fontScale="92500" lnSpcReduction="20000"/>
          </a:bodyPr>
          <a:lstStyle/>
          <a:p>
            <a:pPr marL="0" indent="0">
              <a:buNone/>
            </a:pPr>
            <a:r>
              <a:rPr lang="en-US" sz="980" dirty="0">
                <a:solidFill>
                  <a:srgbClr val="52657A"/>
                </a:solidFill>
              </a:rPr>
              <a:t>No long-running HTTP request; Service Bus handles retries and DLQ behaviour.</a:t>
            </a:r>
            <a:endParaRPr lang="en-US" sz="980" dirty="0"/>
          </a:p>
        </p:txBody>
      </p:sp>
      <p:sp>
        <p:nvSpPr>
          <p:cNvPr id="35" name="Shape 33"/>
          <p:cNvSpPr/>
          <p:nvPr/>
        </p:nvSpPr>
        <p:spPr>
          <a:xfrm>
            <a:off x="4224528" y="4297680"/>
            <a:ext cx="3108960" cy="960120"/>
          </a:xfrm>
          <a:prstGeom prst="roundRect">
            <a:avLst>
              <a:gd name="adj" fmla="val 11429"/>
            </a:avLst>
          </a:prstGeom>
          <a:solidFill>
            <a:srgbClr val="FFFFFF"/>
          </a:solidFill>
          <a:ln w="12700">
            <a:solidFill>
              <a:srgbClr val="C9DCEB">
                <a:alpha val="85000"/>
              </a:srgbClr>
            </a:solidFill>
            <a:prstDash val="solid"/>
          </a:ln>
          <a:effectLst>
            <a:outerShdw blurRad="19050" dist="50800" dir="2700000" algn="bl" rotWithShape="0">
              <a:srgbClr val="B9CFE0">
                <a:alpha val="13000"/>
              </a:srgbClr>
            </a:outerShdw>
          </a:effectLst>
        </p:spPr>
        <p:txBody>
          <a:bodyPr/>
          <a:lstStyle/>
          <a:p>
            <a:endParaRPr lang="en-GB"/>
          </a:p>
        </p:txBody>
      </p:sp>
      <p:sp>
        <p:nvSpPr>
          <p:cNvPr id="36" name="Shape 34"/>
          <p:cNvSpPr/>
          <p:nvPr/>
        </p:nvSpPr>
        <p:spPr>
          <a:xfrm>
            <a:off x="4224528" y="4297680"/>
            <a:ext cx="73152" cy="960120"/>
          </a:xfrm>
          <a:prstGeom prst="rect">
            <a:avLst/>
          </a:prstGeom>
          <a:solidFill>
            <a:srgbClr val="2563EB"/>
          </a:solidFill>
          <a:ln w="12700">
            <a:solidFill>
              <a:srgbClr val="2563EB">
                <a:alpha val="0"/>
              </a:srgbClr>
            </a:solidFill>
            <a:prstDash val="solid"/>
          </a:ln>
        </p:spPr>
        <p:txBody>
          <a:bodyPr/>
          <a:lstStyle/>
          <a:p>
            <a:endParaRPr lang="en-GB"/>
          </a:p>
        </p:txBody>
      </p:sp>
      <p:sp>
        <p:nvSpPr>
          <p:cNvPr id="37" name="Text 35"/>
          <p:cNvSpPr/>
          <p:nvPr/>
        </p:nvSpPr>
        <p:spPr>
          <a:xfrm>
            <a:off x="4443984" y="4462272"/>
            <a:ext cx="2761488" cy="274320"/>
          </a:xfrm>
          <a:prstGeom prst="rect">
            <a:avLst/>
          </a:prstGeom>
          <a:noFill/>
          <a:ln/>
        </p:spPr>
        <p:txBody>
          <a:bodyPr wrap="square" lIns="0" tIns="0" rIns="0" bIns="0" rtlCol="0" anchor="ctr">
            <a:normAutofit/>
          </a:bodyPr>
          <a:lstStyle/>
          <a:p>
            <a:pPr marL="0" indent="0">
              <a:buNone/>
            </a:pPr>
            <a:r>
              <a:rPr lang="en-US" sz="1260" b="1" dirty="0">
                <a:solidFill>
                  <a:srgbClr val="0B1F33"/>
                </a:solidFill>
                <a:latin typeface="Aptos Display" pitchFamily="34" charset="0"/>
                <a:ea typeface="Aptos Display" pitchFamily="34" charset="-122"/>
                <a:cs typeface="Aptos Display" pitchFamily="34" charset="-120"/>
              </a:rPr>
              <a:t>Outbox pattern</a:t>
            </a:r>
            <a:endParaRPr lang="en-US" sz="1260" dirty="0"/>
          </a:p>
        </p:txBody>
      </p:sp>
      <p:sp>
        <p:nvSpPr>
          <p:cNvPr id="38" name="Text 36"/>
          <p:cNvSpPr/>
          <p:nvPr/>
        </p:nvSpPr>
        <p:spPr>
          <a:xfrm>
            <a:off x="4443984" y="4864608"/>
            <a:ext cx="2761488" cy="246888"/>
          </a:xfrm>
          <a:prstGeom prst="rect">
            <a:avLst/>
          </a:prstGeom>
          <a:noFill/>
          <a:ln/>
        </p:spPr>
        <p:txBody>
          <a:bodyPr wrap="square" lIns="0" tIns="0" rIns="0" bIns="0" rtlCol="0" anchor="ctr">
            <a:normAutofit fontScale="92500" lnSpcReduction="20000"/>
          </a:bodyPr>
          <a:lstStyle/>
          <a:p>
            <a:pPr marL="0" indent="0">
              <a:buNone/>
            </a:pPr>
            <a:r>
              <a:rPr lang="en-US" sz="980" dirty="0">
                <a:solidFill>
                  <a:srgbClr val="52657A"/>
                </a:solidFill>
              </a:rPr>
              <a:t>Prevents a saved Incident from losing its analysis command.</a:t>
            </a:r>
            <a:endParaRPr lang="en-US" sz="980" dirty="0"/>
          </a:p>
        </p:txBody>
      </p:sp>
      <p:sp>
        <p:nvSpPr>
          <p:cNvPr id="39" name="Shape 37"/>
          <p:cNvSpPr/>
          <p:nvPr/>
        </p:nvSpPr>
        <p:spPr>
          <a:xfrm>
            <a:off x="7607808" y="4297680"/>
            <a:ext cx="3108960" cy="960120"/>
          </a:xfrm>
          <a:prstGeom prst="roundRect">
            <a:avLst>
              <a:gd name="adj" fmla="val 11429"/>
            </a:avLst>
          </a:prstGeom>
          <a:solidFill>
            <a:srgbClr val="FFFFFF"/>
          </a:solidFill>
          <a:ln w="12700">
            <a:solidFill>
              <a:srgbClr val="C9DCEB">
                <a:alpha val="85000"/>
              </a:srgbClr>
            </a:solidFill>
            <a:prstDash val="solid"/>
          </a:ln>
          <a:effectLst>
            <a:outerShdw blurRad="19050" dist="50800" dir="2700000" algn="bl" rotWithShape="0">
              <a:srgbClr val="B9CFE0">
                <a:alpha val="13000"/>
              </a:srgbClr>
            </a:outerShdw>
          </a:effectLst>
        </p:spPr>
        <p:txBody>
          <a:bodyPr/>
          <a:lstStyle/>
          <a:p>
            <a:endParaRPr lang="en-GB"/>
          </a:p>
        </p:txBody>
      </p:sp>
      <p:sp>
        <p:nvSpPr>
          <p:cNvPr id="40" name="Shape 38"/>
          <p:cNvSpPr/>
          <p:nvPr/>
        </p:nvSpPr>
        <p:spPr>
          <a:xfrm>
            <a:off x="7607808" y="4297680"/>
            <a:ext cx="73152" cy="960120"/>
          </a:xfrm>
          <a:prstGeom prst="rect">
            <a:avLst/>
          </a:prstGeom>
          <a:solidFill>
            <a:srgbClr val="7C3AED"/>
          </a:solidFill>
          <a:ln w="12700">
            <a:solidFill>
              <a:srgbClr val="7C3AED">
                <a:alpha val="0"/>
              </a:srgbClr>
            </a:solidFill>
            <a:prstDash val="solid"/>
          </a:ln>
        </p:spPr>
        <p:txBody>
          <a:bodyPr/>
          <a:lstStyle/>
          <a:p>
            <a:endParaRPr lang="en-GB"/>
          </a:p>
        </p:txBody>
      </p:sp>
      <p:sp>
        <p:nvSpPr>
          <p:cNvPr id="41" name="Text 39"/>
          <p:cNvSpPr/>
          <p:nvPr/>
        </p:nvSpPr>
        <p:spPr>
          <a:xfrm>
            <a:off x="7827264" y="4462272"/>
            <a:ext cx="2761488" cy="274320"/>
          </a:xfrm>
          <a:prstGeom prst="rect">
            <a:avLst/>
          </a:prstGeom>
          <a:noFill/>
          <a:ln/>
        </p:spPr>
        <p:txBody>
          <a:bodyPr wrap="square" lIns="0" tIns="0" rIns="0" bIns="0" rtlCol="0" anchor="ctr">
            <a:normAutofit/>
          </a:bodyPr>
          <a:lstStyle/>
          <a:p>
            <a:pPr marL="0" indent="0">
              <a:buNone/>
            </a:pPr>
            <a:r>
              <a:rPr lang="en-US" sz="1260" b="1" dirty="0">
                <a:solidFill>
                  <a:srgbClr val="0B1F33"/>
                </a:solidFill>
                <a:latin typeface="Aptos Display" pitchFamily="34" charset="0"/>
                <a:ea typeface="Aptos Display" pitchFamily="34" charset="-122"/>
                <a:cs typeface="Aptos Display" pitchFamily="34" charset="-120"/>
              </a:rPr>
              <a:t>At-least-once delivery</a:t>
            </a:r>
            <a:endParaRPr lang="en-US" sz="1260" dirty="0"/>
          </a:p>
        </p:txBody>
      </p:sp>
      <p:sp>
        <p:nvSpPr>
          <p:cNvPr id="42" name="Text 40"/>
          <p:cNvSpPr/>
          <p:nvPr/>
        </p:nvSpPr>
        <p:spPr>
          <a:xfrm>
            <a:off x="7827264" y="4864608"/>
            <a:ext cx="2761488" cy="246888"/>
          </a:xfrm>
          <a:prstGeom prst="rect">
            <a:avLst/>
          </a:prstGeom>
          <a:noFill/>
          <a:ln/>
        </p:spPr>
        <p:txBody>
          <a:bodyPr wrap="square" lIns="0" tIns="0" rIns="0" bIns="0" rtlCol="0" anchor="ctr">
            <a:normAutofit fontScale="92500" lnSpcReduction="20000"/>
          </a:bodyPr>
          <a:lstStyle/>
          <a:p>
            <a:pPr marL="0" indent="0">
              <a:buNone/>
            </a:pPr>
            <a:r>
              <a:rPr lang="en-US" sz="980" dirty="0">
                <a:solidFill>
                  <a:srgbClr val="52657A"/>
                </a:solidFill>
              </a:rPr>
              <a:t>Duplicate detection and completed-state checks keep processing safe.</a:t>
            </a:r>
            <a:endParaRPr lang="en-US" sz="98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BFF"/>
        </a:solidFill>
        <a:effectLst/>
      </p:bgPr>
    </p:bg>
    <p:spTree>
      <p:nvGrpSpPr>
        <p:cNvPr id="1" name=""/>
        <p:cNvGrpSpPr/>
        <p:nvPr/>
      </p:nvGrpSpPr>
      <p:grpSpPr>
        <a:xfrm>
          <a:off x="0" y="0"/>
          <a:ext cx="0" cy="0"/>
          <a:chOff x="0" y="0"/>
          <a:chExt cx="0" cy="0"/>
        </a:xfrm>
      </p:grpSpPr>
      <p:sp>
        <p:nvSpPr>
          <p:cNvPr id="2" name="Shape 0"/>
          <p:cNvSpPr/>
          <p:nvPr/>
        </p:nvSpPr>
        <p:spPr>
          <a:xfrm>
            <a:off x="-1143000" y="-1143000"/>
            <a:ext cx="3749040" cy="3749040"/>
          </a:xfrm>
          <a:prstGeom prst="arc">
            <a:avLst/>
          </a:prstGeom>
          <a:solidFill>
            <a:srgbClr val="E6FFFA">
              <a:alpha val="94000"/>
            </a:srgbClr>
          </a:solidFill>
          <a:ln w="12700">
            <a:solidFill>
              <a:srgbClr val="E6FFFA">
                <a:alpha val="0"/>
              </a:srgbClr>
            </a:solidFill>
            <a:prstDash val="solid"/>
          </a:ln>
        </p:spPr>
        <p:txBody>
          <a:bodyPr/>
          <a:lstStyle/>
          <a:p>
            <a:endParaRPr lang="en-GB"/>
          </a:p>
        </p:txBody>
      </p:sp>
      <p:sp>
        <p:nvSpPr>
          <p:cNvPr id="3" name="Shape 1"/>
          <p:cNvSpPr/>
          <p:nvPr/>
        </p:nvSpPr>
        <p:spPr>
          <a:xfrm>
            <a:off x="10012680" y="-685800"/>
            <a:ext cx="2926080" cy="2926080"/>
          </a:xfrm>
          <a:prstGeom prst="ellipse">
            <a:avLst/>
          </a:prstGeom>
          <a:solidFill>
            <a:srgbClr val="EAF5FF">
              <a:alpha val="95000"/>
            </a:srgbClr>
          </a:solidFill>
          <a:ln w="12700">
            <a:solidFill>
              <a:srgbClr val="EAF5FF">
                <a:alpha val="0"/>
              </a:srgbClr>
            </a:solidFill>
            <a:prstDash val="solid"/>
          </a:ln>
        </p:spPr>
        <p:txBody>
          <a:bodyPr/>
          <a:lstStyle/>
          <a:p>
            <a:endParaRPr lang="en-GB"/>
          </a:p>
        </p:txBody>
      </p:sp>
      <p:sp>
        <p:nvSpPr>
          <p:cNvPr id="4" name="Shape 2"/>
          <p:cNvSpPr/>
          <p:nvPr/>
        </p:nvSpPr>
        <p:spPr>
          <a:xfrm>
            <a:off x="10652760" y="5120640"/>
            <a:ext cx="2011680" cy="2011680"/>
          </a:xfrm>
          <a:prstGeom prst="ellipse">
            <a:avLst/>
          </a:prstGeom>
          <a:solidFill>
            <a:srgbClr val="E6FFFA">
              <a:alpha val="76000"/>
            </a:srgbClr>
          </a:solidFill>
          <a:ln w="12700">
            <a:solidFill>
              <a:srgbClr val="E6FFFA">
                <a:alpha val="0"/>
              </a:srgbClr>
            </a:solidFill>
            <a:prstDash val="solid"/>
          </a:ln>
        </p:spPr>
        <p:txBody>
          <a:bodyPr/>
          <a:lstStyle/>
          <a:p>
            <a:endParaRPr lang="en-GB"/>
          </a:p>
        </p:txBody>
      </p:sp>
      <p:sp>
        <p:nvSpPr>
          <p:cNvPr id="5" name="Shape 3"/>
          <p:cNvSpPr/>
          <p:nvPr/>
        </p:nvSpPr>
        <p:spPr>
          <a:xfrm>
            <a:off x="0" y="0"/>
            <a:ext cx="12191695" cy="100584"/>
          </a:xfrm>
          <a:prstGeom prst="rect">
            <a:avLst/>
          </a:prstGeom>
          <a:solidFill>
            <a:srgbClr val="14B8A6"/>
          </a:solidFill>
          <a:ln w="12700">
            <a:solidFill>
              <a:srgbClr val="14B8A6">
                <a:alpha val="0"/>
              </a:srgbClr>
            </a:solidFill>
            <a:prstDash val="solid"/>
          </a:ln>
        </p:spPr>
        <p:txBody>
          <a:bodyPr/>
          <a:lstStyle/>
          <a:p>
            <a:endParaRPr lang="en-GB"/>
          </a:p>
        </p:txBody>
      </p:sp>
      <p:sp>
        <p:nvSpPr>
          <p:cNvPr id="6" name="Text 4"/>
          <p:cNvSpPr/>
          <p:nvPr/>
        </p:nvSpPr>
        <p:spPr>
          <a:xfrm>
            <a:off x="548640" y="6336792"/>
            <a:ext cx="1828800" cy="201168"/>
          </a:xfrm>
          <a:prstGeom prst="rect">
            <a:avLst/>
          </a:prstGeom>
          <a:noFill/>
          <a:ln/>
        </p:spPr>
        <p:txBody>
          <a:bodyPr wrap="square" lIns="0" tIns="0" rIns="0" bIns="0" rtlCol="0" anchor="ctr"/>
          <a:lstStyle/>
          <a:p>
            <a:pPr marL="0" indent="0">
              <a:buNone/>
            </a:pPr>
            <a:r>
              <a:rPr lang="en-US" sz="850" b="1" dirty="0">
                <a:solidFill>
                  <a:srgbClr val="12355B"/>
                </a:solidFill>
              </a:rPr>
              <a:t>IncidentIQ</a:t>
            </a:r>
            <a:endParaRPr lang="en-US" sz="850" dirty="0"/>
          </a:p>
        </p:txBody>
      </p:sp>
      <p:sp>
        <p:nvSpPr>
          <p:cNvPr id="7" name="Text 5"/>
          <p:cNvSpPr/>
          <p:nvPr/>
        </p:nvSpPr>
        <p:spPr>
          <a:xfrm>
            <a:off x="1874520" y="6336792"/>
            <a:ext cx="4572000" cy="201168"/>
          </a:xfrm>
          <a:prstGeom prst="rect">
            <a:avLst/>
          </a:prstGeom>
          <a:noFill/>
          <a:ln/>
        </p:spPr>
        <p:txBody>
          <a:bodyPr wrap="square" lIns="0" tIns="0" rIns="0" bIns="0" rtlCol="0" anchor="ctr"/>
          <a:lstStyle/>
          <a:p>
            <a:pPr marL="0" indent="0">
              <a:buNone/>
            </a:pPr>
            <a:r>
              <a:rPr lang="en-US" sz="850" dirty="0">
                <a:solidFill>
                  <a:srgbClr val="64748B"/>
                </a:solidFill>
              </a:rPr>
              <a:t>Status flow</a:t>
            </a:r>
            <a:endParaRPr lang="en-US" sz="850" dirty="0"/>
          </a:p>
        </p:txBody>
      </p:sp>
      <p:sp>
        <p:nvSpPr>
          <p:cNvPr id="8" name="Text 6"/>
          <p:cNvSpPr/>
          <p:nvPr/>
        </p:nvSpPr>
        <p:spPr>
          <a:xfrm>
            <a:off x="11155680" y="6291072"/>
            <a:ext cx="457200" cy="228600"/>
          </a:xfrm>
          <a:prstGeom prst="rect">
            <a:avLst/>
          </a:prstGeom>
          <a:noFill/>
          <a:ln/>
        </p:spPr>
        <p:txBody>
          <a:bodyPr wrap="square" lIns="0" tIns="0" rIns="0" bIns="0" rtlCol="0" anchor="ctr"/>
          <a:lstStyle/>
          <a:p>
            <a:pPr marL="0" indent="0" algn="r">
              <a:buNone/>
            </a:pPr>
            <a:r>
              <a:rPr lang="en-US" sz="850" b="1" dirty="0">
                <a:solidFill>
                  <a:srgbClr val="14B8A6"/>
                </a:solidFill>
              </a:rPr>
              <a:t>07</a:t>
            </a:r>
            <a:endParaRPr lang="en-US" sz="850" dirty="0"/>
          </a:p>
        </p:txBody>
      </p:sp>
      <p:sp>
        <p:nvSpPr>
          <p:cNvPr id="9" name="Text 7"/>
          <p:cNvSpPr/>
          <p:nvPr/>
        </p:nvSpPr>
        <p:spPr>
          <a:xfrm>
            <a:off x="685800" y="603504"/>
            <a:ext cx="5486400" cy="219456"/>
          </a:xfrm>
          <a:prstGeom prst="rect">
            <a:avLst/>
          </a:prstGeom>
          <a:noFill/>
          <a:ln/>
        </p:spPr>
        <p:txBody>
          <a:bodyPr wrap="square" lIns="0" tIns="0" rIns="0" bIns="0" rtlCol="0" anchor="ctr"/>
          <a:lstStyle/>
          <a:p>
            <a:pPr marL="0" indent="0">
              <a:buNone/>
            </a:pPr>
            <a:r>
              <a:rPr lang="en-US" sz="850" b="1" dirty="0">
                <a:solidFill>
                  <a:srgbClr val="14B8A6"/>
                </a:solidFill>
              </a:rPr>
              <a:t>STATUS FLOW</a:t>
            </a:r>
            <a:endParaRPr lang="en-US" sz="850" dirty="0"/>
          </a:p>
        </p:txBody>
      </p:sp>
      <p:sp>
        <p:nvSpPr>
          <p:cNvPr id="10" name="Text 8"/>
          <p:cNvSpPr/>
          <p:nvPr/>
        </p:nvSpPr>
        <p:spPr>
          <a:xfrm>
            <a:off x="685800" y="914400"/>
            <a:ext cx="9784080" cy="658368"/>
          </a:xfrm>
          <a:prstGeom prst="rect">
            <a:avLst/>
          </a:prstGeom>
          <a:noFill/>
          <a:ln/>
        </p:spPr>
        <p:txBody>
          <a:bodyPr wrap="square" lIns="0" tIns="0" rIns="0" bIns="0" rtlCol="0" anchor="ctr">
            <a:normAutofit/>
          </a:bodyPr>
          <a:lstStyle/>
          <a:p>
            <a:pPr marL="0" indent="0">
              <a:buNone/>
            </a:pPr>
            <a:r>
              <a:rPr lang="en-US" sz="3000" b="1" dirty="0">
                <a:solidFill>
                  <a:srgbClr val="0B1F33"/>
                </a:solidFill>
                <a:latin typeface="Aptos Display" pitchFamily="34" charset="0"/>
                <a:ea typeface="Aptos Display" pitchFamily="34" charset="-122"/>
                <a:cs typeface="Aptos Display" pitchFamily="34" charset="-120"/>
              </a:rPr>
              <a:t>Processing state is visible to the operator</a:t>
            </a:r>
            <a:endParaRPr lang="en-US" sz="3000" dirty="0"/>
          </a:p>
        </p:txBody>
      </p:sp>
      <p:sp>
        <p:nvSpPr>
          <p:cNvPr id="11" name="Text 9"/>
          <p:cNvSpPr/>
          <p:nvPr/>
        </p:nvSpPr>
        <p:spPr>
          <a:xfrm>
            <a:off x="685800" y="1682496"/>
            <a:ext cx="7863840" cy="420624"/>
          </a:xfrm>
          <a:prstGeom prst="rect">
            <a:avLst/>
          </a:prstGeom>
          <a:noFill/>
          <a:ln/>
        </p:spPr>
        <p:txBody>
          <a:bodyPr wrap="square" lIns="254" tIns="254" rIns="254" bIns="254" rtlCol="0" anchor="ctr">
            <a:normAutofit/>
          </a:bodyPr>
          <a:lstStyle/>
          <a:p>
            <a:pPr marL="0" indent="0">
              <a:buNone/>
            </a:pPr>
            <a:r>
              <a:rPr lang="en-US" sz="1320" dirty="0">
                <a:solidFill>
                  <a:srgbClr val="52657A"/>
                </a:solidFill>
              </a:rPr>
              <a:t>IncidentIQ exposes the async workflow as clear states instead of hiding background work.</a:t>
            </a:r>
            <a:endParaRPr lang="en-US" sz="1320" dirty="0"/>
          </a:p>
        </p:txBody>
      </p:sp>
      <p:sp>
        <p:nvSpPr>
          <p:cNvPr id="12" name="Shape 10"/>
          <p:cNvSpPr/>
          <p:nvPr/>
        </p:nvSpPr>
        <p:spPr>
          <a:xfrm>
            <a:off x="1005840" y="2743200"/>
            <a:ext cx="1417320" cy="566928"/>
          </a:xfrm>
          <a:prstGeom prst="roundRect">
            <a:avLst>
              <a:gd name="adj" fmla="val 12903"/>
            </a:avLst>
          </a:prstGeom>
          <a:solidFill>
            <a:srgbClr val="FB923C"/>
          </a:solidFill>
          <a:ln w="12700">
            <a:solidFill>
              <a:srgbClr val="FB923C">
                <a:alpha val="80000"/>
              </a:srgbClr>
            </a:solidFill>
            <a:prstDash val="solid"/>
          </a:ln>
          <a:effectLst>
            <a:outerShdw blurRad="15240" dist="50800" dir="2700000" algn="bl" rotWithShape="0">
              <a:srgbClr val="B8CDE0">
                <a:alpha val="11000"/>
              </a:srgbClr>
            </a:outerShdw>
          </a:effectLst>
        </p:spPr>
        <p:txBody>
          <a:bodyPr/>
          <a:lstStyle/>
          <a:p>
            <a:endParaRPr lang="en-GB"/>
          </a:p>
        </p:txBody>
      </p:sp>
      <p:sp>
        <p:nvSpPr>
          <p:cNvPr id="13" name="Text 11"/>
          <p:cNvSpPr/>
          <p:nvPr/>
        </p:nvSpPr>
        <p:spPr>
          <a:xfrm>
            <a:off x="1078992" y="2852928"/>
            <a:ext cx="1271016" cy="243779"/>
          </a:xfrm>
          <a:prstGeom prst="rect">
            <a:avLst/>
          </a:prstGeom>
          <a:noFill/>
          <a:ln/>
        </p:spPr>
        <p:txBody>
          <a:bodyPr wrap="square" lIns="0" tIns="0" rIns="0" bIns="0" rtlCol="0" anchor="ctr">
            <a:normAutofit/>
          </a:bodyPr>
          <a:lstStyle/>
          <a:p>
            <a:pPr marL="0" indent="0" algn="ctr">
              <a:buNone/>
            </a:pPr>
            <a:r>
              <a:rPr lang="en-US" sz="1120" b="1" dirty="0">
                <a:solidFill>
                  <a:srgbClr val="FFFFFF"/>
                </a:solidFill>
                <a:latin typeface="Aptos Display" pitchFamily="34" charset="0"/>
                <a:ea typeface="Aptos Display" pitchFamily="34" charset="-122"/>
                <a:cs typeface="Aptos Display" pitchFamily="34" charset="-120"/>
              </a:rPr>
              <a:t>Queued</a:t>
            </a:r>
            <a:endParaRPr lang="en-US" sz="1120" dirty="0"/>
          </a:p>
        </p:txBody>
      </p:sp>
      <p:sp>
        <p:nvSpPr>
          <p:cNvPr id="14" name="Text 12"/>
          <p:cNvSpPr/>
          <p:nvPr/>
        </p:nvSpPr>
        <p:spPr>
          <a:xfrm>
            <a:off x="1088136" y="3066349"/>
            <a:ext cx="1252728" cy="158740"/>
          </a:xfrm>
          <a:prstGeom prst="rect">
            <a:avLst/>
          </a:prstGeom>
          <a:noFill/>
          <a:ln/>
        </p:spPr>
        <p:txBody>
          <a:bodyPr wrap="square" lIns="0" tIns="0" rIns="0" bIns="0" rtlCol="0" anchor="ctr">
            <a:normAutofit/>
          </a:bodyPr>
          <a:lstStyle/>
          <a:p>
            <a:pPr marL="0" indent="0" algn="ctr">
              <a:buNone/>
            </a:pPr>
            <a:r>
              <a:rPr lang="en-US" sz="710" dirty="0">
                <a:solidFill>
                  <a:srgbClr val="E0F2FE"/>
                </a:solidFill>
              </a:rPr>
              <a:t>work accepted</a:t>
            </a:r>
            <a:endParaRPr lang="en-US" sz="710" dirty="0"/>
          </a:p>
        </p:txBody>
      </p:sp>
      <p:sp>
        <p:nvSpPr>
          <p:cNvPr id="15" name="Shape 13"/>
          <p:cNvSpPr/>
          <p:nvPr/>
        </p:nvSpPr>
        <p:spPr>
          <a:xfrm>
            <a:off x="3246120" y="2743200"/>
            <a:ext cx="1600200" cy="566928"/>
          </a:xfrm>
          <a:prstGeom prst="roundRect">
            <a:avLst>
              <a:gd name="adj" fmla="val 12903"/>
            </a:avLst>
          </a:prstGeom>
          <a:solidFill>
            <a:srgbClr val="2563EB"/>
          </a:solidFill>
          <a:ln w="12700">
            <a:solidFill>
              <a:srgbClr val="2563EB">
                <a:alpha val="80000"/>
              </a:srgbClr>
            </a:solidFill>
            <a:prstDash val="solid"/>
          </a:ln>
          <a:effectLst>
            <a:outerShdw blurRad="15240" dist="50800" dir="2700000" algn="bl" rotWithShape="0">
              <a:srgbClr val="B8CDE0">
                <a:alpha val="11000"/>
              </a:srgbClr>
            </a:outerShdw>
          </a:effectLst>
        </p:spPr>
        <p:txBody>
          <a:bodyPr/>
          <a:lstStyle/>
          <a:p>
            <a:endParaRPr lang="en-GB"/>
          </a:p>
        </p:txBody>
      </p:sp>
      <p:sp>
        <p:nvSpPr>
          <p:cNvPr id="16" name="Text 14"/>
          <p:cNvSpPr/>
          <p:nvPr/>
        </p:nvSpPr>
        <p:spPr>
          <a:xfrm>
            <a:off x="3319272" y="2852928"/>
            <a:ext cx="1453896" cy="243779"/>
          </a:xfrm>
          <a:prstGeom prst="rect">
            <a:avLst/>
          </a:prstGeom>
          <a:noFill/>
          <a:ln/>
        </p:spPr>
        <p:txBody>
          <a:bodyPr wrap="square" lIns="0" tIns="0" rIns="0" bIns="0" rtlCol="0" anchor="ctr">
            <a:normAutofit/>
          </a:bodyPr>
          <a:lstStyle/>
          <a:p>
            <a:pPr marL="0" indent="0" algn="ctr">
              <a:buNone/>
            </a:pPr>
            <a:r>
              <a:rPr lang="en-US" sz="1120" b="1" dirty="0">
                <a:solidFill>
                  <a:srgbClr val="FFFFFF"/>
                </a:solidFill>
                <a:latin typeface="Aptos Display" pitchFamily="34" charset="0"/>
                <a:ea typeface="Aptos Display" pitchFamily="34" charset="-122"/>
                <a:cs typeface="Aptos Display" pitchFamily="34" charset="-120"/>
              </a:rPr>
              <a:t>Processing</a:t>
            </a:r>
            <a:endParaRPr lang="en-US" sz="1120" dirty="0"/>
          </a:p>
        </p:txBody>
      </p:sp>
      <p:sp>
        <p:nvSpPr>
          <p:cNvPr id="17" name="Text 15"/>
          <p:cNvSpPr/>
          <p:nvPr/>
        </p:nvSpPr>
        <p:spPr>
          <a:xfrm>
            <a:off x="3328416" y="3066349"/>
            <a:ext cx="1435608" cy="158740"/>
          </a:xfrm>
          <a:prstGeom prst="rect">
            <a:avLst/>
          </a:prstGeom>
          <a:noFill/>
          <a:ln/>
        </p:spPr>
        <p:txBody>
          <a:bodyPr wrap="square" lIns="0" tIns="0" rIns="0" bIns="0" rtlCol="0" anchor="ctr">
            <a:normAutofit/>
          </a:bodyPr>
          <a:lstStyle/>
          <a:p>
            <a:pPr marL="0" indent="0" algn="ctr">
              <a:buNone/>
            </a:pPr>
            <a:r>
              <a:rPr lang="en-US" sz="710" dirty="0">
                <a:solidFill>
                  <a:srgbClr val="E0F2FE"/>
                </a:solidFill>
              </a:rPr>
              <a:t>Worker running</a:t>
            </a:r>
            <a:endParaRPr lang="en-US" sz="710" dirty="0"/>
          </a:p>
        </p:txBody>
      </p:sp>
      <p:sp>
        <p:nvSpPr>
          <p:cNvPr id="18" name="Shape 16"/>
          <p:cNvSpPr/>
          <p:nvPr/>
        </p:nvSpPr>
        <p:spPr>
          <a:xfrm>
            <a:off x="5669280" y="2743200"/>
            <a:ext cx="1600200" cy="566928"/>
          </a:xfrm>
          <a:prstGeom prst="roundRect">
            <a:avLst>
              <a:gd name="adj" fmla="val 12903"/>
            </a:avLst>
          </a:prstGeom>
          <a:solidFill>
            <a:srgbClr val="22C55E"/>
          </a:solidFill>
          <a:ln w="12700">
            <a:solidFill>
              <a:srgbClr val="22C55E">
                <a:alpha val="80000"/>
              </a:srgbClr>
            </a:solidFill>
            <a:prstDash val="solid"/>
          </a:ln>
          <a:effectLst>
            <a:outerShdw blurRad="15240" dist="50800" dir="2700000" algn="bl" rotWithShape="0">
              <a:srgbClr val="B8CDE0">
                <a:alpha val="11000"/>
              </a:srgbClr>
            </a:outerShdw>
          </a:effectLst>
        </p:spPr>
        <p:txBody>
          <a:bodyPr/>
          <a:lstStyle/>
          <a:p>
            <a:endParaRPr lang="en-GB"/>
          </a:p>
        </p:txBody>
      </p:sp>
      <p:sp>
        <p:nvSpPr>
          <p:cNvPr id="19" name="Text 17"/>
          <p:cNvSpPr/>
          <p:nvPr/>
        </p:nvSpPr>
        <p:spPr>
          <a:xfrm>
            <a:off x="5742432" y="2852928"/>
            <a:ext cx="1453896" cy="243779"/>
          </a:xfrm>
          <a:prstGeom prst="rect">
            <a:avLst/>
          </a:prstGeom>
          <a:noFill/>
          <a:ln/>
        </p:spPr>
        <p:txBody>
          <a:bodyPr wrap="square" lIns="0" tIns="0" rIns="0" bIns="0" rtlCol="0" anchor="ctr">
            <a:normAutofit/>
          </a:bodyPr>
          <a:lstStyle/>
          <a:p>
            <a:pPr marL="0" indent="0" algn="ctr">
              <a:buNone/>
            </a:pPr>
            <a:r>
              <a:rPr lang="en-US" sz="1120" b="1" dirty="0">
                <a:solidFill>
                  <a:srgbClr val="FFFFFF"/>
                </a:solidFill>
                <a:latin typeface="Aptos Display" pitchFamily="34" charset="0"/>
                <a:ea typeface="Aptos Display" pitchFamily="34" charset="-122"/>
                <a:cs typeface="Aptos Display" pitchFamily="34" charset="-120"/>
              </a:rPr>
              <a:t>Completed</a:t>
            </a:r>
            <a:endParaRPr lang="en-US" sz="1120" dirty="0"/>
          </a:p>
        </p:txBody>
      </p:sp>
      <p:sp>
        <p:nvSpPr>
          <p:cNvPr id="20" name="Text 18"/>
          <p:cNvSpPr/>
          <p:nvPr/>
        </p:nvSpPr>
        <p:spPr>
          <a:xfrm>
            <a:off x="5751576" y="3066349"/>
            <a:ext cx="1435608" cy="158740"/>
          </a:xfrm>
          <a:prstGeom prst="rect">
            <a:avLst/>
          </a:prstGeom>
          <a:noFill/>
          <a:ln/>
        </p:spPr>
        <p:txBody>
          <a:bodyPr wrap="square" lIns="0" tIns="0" rIns="0" bIns="0" rtlCol="0" anchor="ctr">
            <a:normAutofit/>
          </a:bodyPr>
          <a:lstStyle/>
          <a:p>
            <a:pPr marL="0" indent="0" algn="ctr">
              <a:buNone/>
            </a:pPr>
            <a:r>
              <a:rPr lang="en-US" sz="710" dirty="0">
                <a:solidFill>
                  <a:srgbClr val="E0F2FE"/>
                </a:solidFill>
              </a:rPr>
              <a:t>analysis saved</a:t>
            </a:r>
            <a:endParaRPr lang="en-US" sz="710" dirty="0"/>
          </a:p>
        </p:txBody>
      </p:sp>
      <p:sp>
        <p:nvSpPr>
          <p:cNvPr id="21" name="Shape 19"/>
          <p:cNvSpPr/>
          <p:nvPr/>
        </p:nvSpPr>
        <p:spPr>
          <a:xfrm>
            <a:off x="8092440" y="2743200"/>
            <a:ext cx="1417320" cy="566928"/>
          </a:xfrm>
          <a:prstGeom prst="roundRect">
            <a:avLst>
              <a:gd name="adj" fmla="val 12903"/>
            </a:avLst>
          </a:prstGeom>
          <a:solidFill>
            <a:srgbClr val="FB7185"/>
          </a:solidFill>
          <a:ln w="12700">
            <a:solidFill>
              <a:srgbClr val="FB7185">
                <a:alpha val="80000"/>
              </a:srgbClr>
            </a:solidFill>
            <a:prstDash val="solid"/>
          </a:ln>
          <a:effectLst>
            <a:outerShdw blurRad="15240" dist="50800" dir="2700000" algn="bl" rotWithShape="0">
              <a:srgbClr val="B8CDE0">
                <a:alpha val="11000"/>
              </a:srgbClr>
            </a:outerShdw>
          </a:effectLst>
        </p:spPr>
        <p:txBody>
          <a:bodyPr/>
          <a:lstStyle/>
          <a:p>
            <a:endParaRPr lang="en-GB"/>
          </a:p>
        </p:txBody>
      </p:sp>
      <p:sp>
        <p:nvSpPr>
          <p:cNvPr id="22" name="Text 20"/>
          <p:cNvSpPr/>
          <p:nvPr/>
        </p:nvSpPr>
        <p:spPr>
          <a:xfrm>
            <a:off x="8165592" y="2852928"/>
            <a:ext cx="1271016" cy="243779"/>
          </a:xfrm>
          <a:prstGeom prst="rect">
            <a:avLst/>
          </a:prstGeom>
          <a:noFill/>
          <a:ln/>
        </p:spPr>
        <p:txBody>
          <a:bodyPr wrap="square" lIns="0" tIns="0" rIns="0" bIns="0" rtlCol="0" anchor="ctr">
            <a:normAutofit/>
          </a:bodyPr>
          <a:lstStyle/>
          <a:p>
            <a:pPr marL="0" indent="0" algn="ctr">
              <a:buNone/>
            </a:pPr>
            <a:r>
              <a:rPr lang="en-US" sz="1120" b="1" dirty="0">
                <a:solidFill>
                  <a:srgbClr val="FFFFFF"/>
                </a:solidFill>
                <a:latin typeface="Aptos Display" pitchFamily="34" charset="0"/>
                <a:ea typeface="Aptos Display" pitchFamily="34" charset="-122"/>
                <a:cs typeface="Aptos Display" pitchFamily="34" charset="-120"/>
              </a:rPr>
              <a:t>Failed</a:t>
            </a:r>
            <a:endParaRPr lang="en-US" sz="1120" dirty="0"/>
          </a:p>
        </p:txBody>
      </p:sp>
      <p:sp>
        <p:nvSpPr>
          <p:cNvPr id="23" name="Text 21"/>
          <p:cNvSpPr/>
          <p:nvPr/>
        </p:nvSpPr>
        <p:spPr>
          <a:xfrm>
            <a:off x="8174736" y="3066349"/>
            <a:ext cx="1252728" cy="158740"/>
          </a:xfrm>
          <a:prstGeom prst="rect">
            <a:avLst/>
          </a:prstGeom>
          <a:noFill/>
          <a:ln/>
        </p:spPr>
        <p:txBody>
          <a:bodyPr wrap="square" lIns="0" tIns="0" rIns="0" bIns="0" rtlCol="0" anchor="ctr">
            <a:normAutofit/>
          </a:bodyPr>
          <a:lstStyle/>
          <a:p>
            <a:pPr marL="0" indent="0" algn="ctr">
              <a:buNone/>
            </a:pPr>
            <a:r>
              <a:rPr lang="en-US" sz="710" dirty="0">
                <a:solidFill>
                  <a:srgbClr val="E0F2FE"/>
                </a:solidFill>
              </a:rPr>
              <a:t>retryable by admin</a:t>
            </a:r>
            <a:endParaRPr lang="en-US" sz="710" dirty="0"/>
          </a:p>
        </p:txBody>
      </p:sp>
      <p:sp>
        <p:nvSpPr>
          <p:cNvPr id="24" name="Shape 22"/>
          <p:cNvSpPr/>
          <p:nvPr/>
        </p:nvSpPr>
        <p:spPr>
          <a:xfrm>
            <a:off x="2423160" y="3026664"/>
            <a:ext cx="822960" cy="0"/>
          </a:xfrm>
          <a:prstGeom prst="line">
            <a:avLst/>
          </a:prstGeom>
          <a:noFill/>
          <a:ln w="15240">
            <a:solidFill>
              <a:srgbClr val="06B6D4"/>
            </a:solidFill>
            <a:prstDash val="solid"/>
            <a:headEnd type="none"/>
            <a:tailEnd type="triangle"/>
          </a:ln>
        </p:spPr>
        <p:txBody>
          <a:bodyPr/>
          <a:lstStyle/>
          <a:p>
            <a:endParaRPr lang="en-GB"/>
          </a:p>
        </p:txBody>
      </p:sp>
      <p:sp>
        <p:nvSpPr>
          <p:cNvPr id="25" name="Shape 23"/>
          <p:cNvSpPr/>
          <p:nvPr/>
        </p:nvSpPr>
        <p:spPr>
          <a:xfrm>
            <a:off x="4846320" y="3026664"/>
            <a:ext cx="822960" cy="0"/>
          </a:xfrm>
          <a:prstGeom prst="line">
            <a:avLst/>
          </a:prstGeom>
          <a:noFill/>
          <a:ln w="15240">
            <a:solidFill>
              <a:srgbClr val="06B6D4"/>
            </a:solidFill>
            <a:prstDash val="solid"/>
            <a:headEnd type="none"/>
            <a:tailEnd type="triangle"/>
          </a:ln>
        </p:spPr>
        <p:txBody>
          <a:bodyPr/>
          <a:lstStyle/>
          <a:p>
            <a:endParaRPr lang="en-GB"/>
          </a:p>
        </p:txBody>
      </p:sp>
      <p:sp>
        <p:nvSpPr>
          <p:cNvPr id="26" name="Shape 24"/>
          <p:cNvSpPr/>
          <p:nvPr/>
        </p:nvSpPr>
        <p:spPr>
          <a:xfrm>
            <a:off x="7269480" y="3026664"/>
            <a:ext cx="822960" cy="0"/>
          </a:xfrm>
          <a:prstGeom prst="line">
            <a:avLst/>
          </a:prstGeom>
          <a:noFill/>
          <a:ln w="15240">
            <a:solidFill>
              <a:srgbClr val="06B6D4"/>
            </a:solidFill>
            <a:prstDash val="solid"/>
            <a:headEnd type="none"/>
            <a:tailEnd type="triangle"/>
          </a:ln>
        </p:spPr>
        <p:txBody>
          <a:bodyPr/>
          <a:lstStyle/>
          <a:p>
            <a:endParaRPr lang="en-GB"/>
          </a:p>
        </p:txBody>
      </p:sp>
      <p:sp>
        <p:nvSpPr>
          <p:cNvPr id="27" name="Shape 25"/>
          <p:cNvSpPr/>
          <p:nvPr/>
        </p:nvSpPr>
        <p:spPr>
          <a:xfrm>
            <a:off x="1005840" y="4297680"/>
            <a:ext cx="4937760" cy="777240"/>
          </a:xfrm>
          <a:prstGeom prst="roundRect">
            <a:avLst>
              <a:gd name="adj" fmla="val 11765"/>
            </a:avLst>
          </a:prstGeom>
          <a:solidFill>
            <a:srgbClr val="F8FCFF"/>
          </a:solidFill>
          <a:ln w="12700">
            <a:solidFill>
              <a:srgbClr val="14B8A6">
                <a:alpha val="55000"/>
              </a:srgbClr>
            </a:solidFill>
            <a:prstDash val="solid"/>
          </a:ln>
        </p:spPr>
        <p:txBody>
          <a:bodyPr/>
          <a:lstStyle/>
          <a:p>
            <a:endParaRPr lang="en-GB"/>
          </a:p>
        </p:txBody>
      </p:sp>
      <p:sp>
        <p:nvSpPr>
          <p:cNvPr id="28" name="Text 26"/>
          <p:cNvSpPr/>
          <p:nvPr/>
        </p:nvSpPr>
        <p:spPr>
          <a:xfrm>
            <a:off x="1234440" y="4434840"/>
            <a:ext cx="4480560" cy="256032"/>
          </a:xfrm>
          <a:prstGeom prst="rect">
            <a:avLst/>
          </a:prstGeom>
          <a:noFill/>
          <a:ln/>
        </p:spPr>
        <p:txBody>
          <a:bodyPr wrap="square" lIns="0" tIns="0" rIns="0" bIns="0" rtlCol="0" anchor="ctr">
            <a:normAutofit/>
          </a:bodyPr>
          <a:lstStyle/>
          <a:p>
            <a:pPr marL="0" indent="0">
              <a:buNone/>
            </a:pPr>
            <a:r>
              <a:rPr lang="en-US" sz="1040" b="1" dirty="0">
                <a:solidFill>
                  <a:srgbClr val="14B8A6"/>
                </a:solidFill>
              </a:rPr>
              <a:t>Why this matters</a:t>
            </a:r>
            <a:endParaRPr lang="en-US" sz="1040" dirty="0"/>
          </a:p>
        </p:txBody>
      </p:sp>
      <p:sp>
        <p:nvSpPr>
          <p:cNvPr id="29" name="Text 27"/>
          <p:cNvSpPr/>
          <p:nvPr/>
        </p:nvSpPr>
        <p:spPr>
          <a:xfrm>
            <a:off x="1234440" y="4736592"/>
            <a:ext cx="4480560" cy="274320"/>
          </a:xfrm>
          <a:prstGeom prst="rect">
            <a:avLst/>
          </a:prstGeom>
          <a:noFill/>
          <a:ln/>
        </p:spPr>
        <p:txBody>
          <a:bodyPr wrap="square" lIns="0" tIns="0" rIns="0" bIns="0" rtlCol="0" anchor="ctr">
            <a:normAutofit/>
          </a:bodyPr>
          <a:lstStyle/>
          <a:p>
            <a:pPr marL="0" indent="0">
              <a:buNone/>
            </a:pPr>
            <a:r>
              <a:rPr lang="en-US" sz="830" dirty="0">
                <a:solidFill>
                  <a:srgbClr val="52657A"/>
                </a:solidFill>
              </a:rPr>
              <a:t>Operators can see progress and recover terminal failures rather than guessing whether work got stuck.</a:t>
            </a:r>
            <a:endParaRPr lang="en-US" sz="830" dirty="0"/>
          </a:p>
        </p:txBody>
      </p:sp>
      <p:sp>
        <p:nvSpPr>
          <p:cNvPr id="30" name="Text 28"/>
          <p:cNvSpPr/>
          <p:nvPr/>
        </p:nvSpPr>
        <p:spPr>
          <a:xfrm>
            <a:off x="6766560" y="4279392"/>
            <a:ext cx="1463040" cy="393192"/>
          </a:xfrm>
          <a:prstGeom prst="rect">
            <a:avLst/>
          </a:prstGeom>
          <a:noFill/>
          <a:ln/>
        </p:spPr>
        <p:txBody>
          <a:bodyPr wrap="square" lIns="0" tIns="0" rIns="0" bIns="0" rtlCol="0" anchor="ctr"/>
          <a:lstStyle/>
          <a:p>
            <a:pPr marL="0" indent="0" algn="ctr">
              <a:buNone/>
            </a:pPr>
            <a:r>
              <a:rPr lang="en-US" sz="1900" b="1" dirty="0">
                <a:solidFill>
                  <a:srgbClr val="FB923C"/>
                </a:solidFill>
                <a:latin typeface="Aptos Display" pitchFamily="34" charset="0"/>
                <a:ea typeface="Aptos Display" pitchFamily="34" charset="-122"/>
                <a:cs typeface="Aptos Display" pitchFamily="34" charset="-120"/>
              </a:rPr>
              <a:t>5</a:t>
            </a:r>
            <a:endParaRPr lang="en-US" sz="1900" dirty="0"/>
          </a:p>
        </p:txBody>
      </p:sp>
      <p:sp>
        <p:nvSpPr>
          <p:cNvPr id="31" name="Text 29"/>
          <p:cNvSpPr/>
          <p:nvPr/>
        </p:nvSpPr>
        <p:spPr>
          <a:xfrm>
            <a:off x="6766560" y="4690872"/>
            <a:ext cx="1463040" cy="310896"/>
          </a:xfrm>
          <a:prstGeom prst="rect">
            <a:avLst/>
          </a:prstGeom>
          <a:noFill/>
          <a:ln/>
        </p:spPr>
        <p:txBody>
          <a:bodyPr wrap="square" lIns="0" tIns="0" rIns="0" bIns="0" rtlCol="0" anchor="ctr">
            <a:normAutofit/>
          </a:bodyPr>
          <a:lstStyle/>
          <a:p>
            <a:pPr marL="0" indent="0" algn="ctr">
              <a:buNone/>
            </a:pPr>
            <a:r>
              <a:rPr lang="en-US" sz="850" dirty="0">
                <a:solidFill>
                  <a:srgbClr val="52657A"/>
                </a:solidFill>
              </a:rPr>
              <a:t>max deliveries</a:t>
            </a:r>
            <a:endParaRPr lang="en-US" sz="850" dirty="0"/>
          </a:p>
        </p:txBody>
      </p:sp>
      <p:sp>
        <p:nvSpPr>
          <p:cNvPr id="32" name="Text 30"/>
          <p:cNvSpPr/>
          <p:nvPr/>
        </p:nvSpPr>
        <p:spPr>
          <a:xfrm>
            <a:off x="8275320" y="4279392"/>
            <a:ext cx="1463040" cy="393192"/>
          </a:xfrm>
          <a:prstGeom prst="rect">
            <a:avLst/>
          </a:prstGeom>
          <a:noFill/>
          <a:ln/>
        </p:spPr>
        <p:txBody>
          <a:bodyPr wrap="square" lIns="0" tIns="0" rIns="0" bIns="0" rtlCol="0" anchor="ctr"/>
          <a:lstStyle/>
          <a:p>
            <a:pPr marL="0" indent="0" algn="ctr">
              <a:buNone/>
            </a:pPr>
            <a:r>
              <a:rPr lang="en-US" sz="1900" b="1" dirty="0">
                <a:solidFill>
                  <a:srgbClr val="FB7185"/>
                </a:solidFill>
                <a:latin typeface="Aptos Display" pitchFamily="34" charset="0"/>
                <a:ea typeface="Aptos Display" pitchFamily="34" charset="-122"/>
                <a:cs typeface="Aptos Display" pitchFamily="34" charset="-120"/>
              </a:rPr>
              <a:t>DLQ</a:t>
            </a:r>
            <a:endParaRPr lang="en-US" sz="1900" dirty="0"/>
          </a:p>
        </p:txBody>
      </p:sp>
      <p:sp>
        <p:nvSpPr>
          <p:cNvPr id="33" name="Text 31"/>
          <p:cNvSpPr/>
          <p:nvPr/>
        </p:nvSpPr>
        <p:spPr>
          <a:xfrm>
            <a:off x="8275320" y="4690872"/>
            <a:ext cx="1463040" cy="310896"/>
          </a:xfrm>
          <a:prstGeom prst="rect">
            <a:avLst/>
          </a:prstGeom>
          <a:noFill/>
          <a:ln/>
        </p:spPr>
        <p:txBody>
          <a:bodyPr wrap="square" lIns="0" tIns="0" rIns="0" bIns="0" rtlCol="0" anchor="ctr">
            <a:normAutofit/>
          </a:bodyPr>
          <a:lstStyle/>
          <a:p>
            <a:pPr marL="0" indent="0" algn="ctr">
              <a:buNone/>
            </a:pPr>
            <a:r>
              <a:rPr lang="en-US" sz="850" dirty="0">
                <a:solidFill>
                  <a:srgbClr val="52657A"/>
                </a:solidFill>
              </a:rPr>
              <a:t>terminal work</a:t>
            </a:r>
            <a:endParaRPr lang="en-US" sz="850" dirty="0"/>
          </a:p>
        </p:txBody>
      </p:sp>
      <p:sp>
        <p:nvSpPr>
          <p:cNvPr id="34" name="Text 32"/>
          <p:cNvSpPr/>
          <p:nvPr/>
        </p:nvSpPr>
        <p:spPr>
          <a:xfrm>
            <a:off x="9738360" y="4279392"/>
            <a:ext cx="1463040" cy="393192"/>
          </a:xfrm>
          <a:prstGeom prst="rect">
            <a:avLst/>
          </a:prstGeom>
          <a:noFill/>
          <a:ln/>
        </p:spPr>
        <p:txBody>
          <a:bodyPr wrap="square" lIns="0" tIns="0" rIns="0" bIns="0" rtlCol="0" anchor="ctr"/>
          <a:lstStyle/>
          <a:p>
            <a:pPr marL="0" indent="0" algn="ctr">
              <a:buNone/>
            </a:pPr>
            <a:r>
              <a:rPr lang="en-US" sz="1900" b="1" dirty="0">
                <a:solidFill>
                  <a:srgbClr val="2563EB"/>
                </a:solidFill>
                <a:latin typeface="Aptos Display" pitchFamily="34" charset="0"/>
                <a:ea typeface="Aptos Display" pitchFamily="34" charset="-122"/>
                <a:cs typeface="Aptos Display" pitchFamily="34" charset="-120"/>
              </a:rPr>
              <a:t>Retry</a:t>
            </a:r>
            <a:endParaRPr lang="en-US" sz="1900" dirty="0"/>
          </a:p>
        </p:txBody>
      </p:sp>
      <p:sp>
        <p:nvSpPr>
          <p:cNvPr id="35" name="Text 33"/>
          <p:cNvSpPr/>
          <p:nvPr/>
        </p:nvSpPr>
        <p:spPr>
          <a:xfrm>
            <a:off x="9738360" y="4690872"/>
            <a:ext cx="1463040" cy="310896"/>
          </a:xfrm>
          <a:prstGeom prst="rect">
            <a:avLst/>
          </a:prstGeom>
          <a:noFill/>
          <a:ln/>
        </p:spPr>
        <p:txBody>
          <a:bodyPr wrap="square" lIns="0" tIns="0" rIns="0" bIns="0" rtlCol="0" anchor="ctr">
            <a:normAutofit/>
          </a:bodyPr>
          <a:lstStyle/>
          <a:p>
            <a:pPr marL="0" indent="0" algn="ctr">
              <a:buNone/>
            </a:pPr>
            <a:r>
              <a:rPr lang="en-US" sz="850" dirty="0">
                <a:solidFill>
                  <a:srgbClr val="52657A"/>
                </a:solidFill>
              </a:rPr>
              <a:t>admin action</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BFF"/>
        </a:solidFill>
        <a:effectLst/>
      </p:bgPr>
    </p:bg>
    <p:spTree>
      <p:nvGrpSpPr>
        <p:cNvPr id="1" name=""/>
        <p:cNvGrpSpPr/>
        <p:nvPr/>
      </p:nvGrpSpPr>
      <p:grpSpPr>
        <a:xfrm>
          <a:off x="0" y="0"/>
          <a:ext cx="0" cy="0"/>
          <a:chOff x="0" y="0"/>
          <a:chExt cx="0" cy="0"/>
        </a:xfrm>
      </p:grpSpPr>
      <p:sp>
        <p:nvSpPr>
          <p:cNvPr id="2" name="Shape 0"/>
          <p:cNvSpPr/>
          <p:nvPr/>
        </p:nvSpPr>
        <p:spPr>
          <a:xfrm>
            <a:off x="-1143000" y="-1143000"/>
            <a:ext cx="3749040" cy="3749040"/>
          </a:xfrm>
          <a:prstGeom prst="arc">
            <a:avLst/>
          </a:prstGeom>
          <a:solidFill>
            <a:srgbClr val="E6FFFA">
              <a:alpha val="94000"/>
            </a:srgbClr>
          </a:solidFill>
          <a:ln w="12700">
            <a:solidFill>
              <a:srgbClr val="E6FFFA">
                <a:alpha val="0"/>
              </a:srgbClr>
            </a:solidFill>
            <a:prstDash val="solid"/>
          </a:ln>
        </p:spPr>
        <p:txBody>
          <a:bodyPr/>
          <a:lstStyle/>
          <a:p>
            <a:endParaRPr lang="en-GB"/>
          </a:p>
        </p:txBody>
      </p:sp>
      <p:sp>
        <p:nvSpPr>
          <p:cNvPr id="3" name="Shape 1"/>
          <p:cNvSpPr/>
          <p:nvPr/>
        </p:nvSpPr>
        <p:spPr>
          <a:xfrm>
            <a:off x="10012680" y="-685800"/>
            <a:ext cx="2926080" cy="2926080"/>
          </a:xfrm>
          <a:prstGeom prst="ellipse">
            <a:avLst/>
          </a:prstGeom>
          <a:solidFill>
            <a:srgbClr val="EAF5FF">
              <a:alpha val="95000"/>
            </a:srgbClr>
          </a:solidFill>
          <a:ln w="12700">
            <a:solidFill>
              <a:srgbClr val="EAF5FF">
                <a:alpha val="0"/>
              </a:srgbClr>
            </a:solidFill>
            <a:prstDash val="solid"/>
          </a:ln>
        </p:spPr>
        <p:txBody>
          <a:bodyPr/>
          <a:lstStyle/>
          <a:p>
            <a:endParaRPr lang="en-GB"/>
          </a:p>
        </p:txBody>
      </p:sp>
      <p:sp>
        <p:nvSpPr>
          <p:cNvPr id="4" name="Shape 2"/>
          <p:cNvSpPr/>
          <p:nvPr/>
        </p:nvSpPr>
        <p:spPr>
          <a:xfrm>
            <a:off x="10652760" y="5120640"/>
            <a:ext cx="2011680" cy="2011680"/>
          </a:xfrm>
          <a:prstGeom prst="ellipse">
            <a:avLst/>
          </a:prstGeom>
          <a:solidFill>
            <a:srgbClr val="E6FFFA">
              <a:alpha val="76000"/>
            </a:srgbClr>
          </a:solidFill>
          <a:ln w="12700">
            <a:solidFill>
              <a:srgbClr val="E6FFFA">
                <a:alpha val="0"/>
              </a:srgbClr>
            </a:solidFill>
            <a:prstDash val="solid"/>
          </a:ln>
        </p:spPr>
        <p:txBody>
          <a:bodyPr/>
          <a:lstStyle/>
          <a:p>
            <a:endParaRPr lang="en-GB"/>
          </a:p>
        </p:txBody>
      </p:sp>
      <p:sp>
        <p:nvSpPr>
          <p:cNvPr id="5" name="Shape 3"/>
          <p:cNvSpPr/>
          <p:nvPr/>
        </p:nvSpPr>
        <p:spPr>
          <a:xfrm>
            <a:off x="0" y="0"/>
            <a:ext cx="12191695" cy="100584"/>
          </a:xfrm>
          <a:prstGeom prst="rect">
            <a:avLst/>
          </a:prstGeom>
          <a:solidFill>
            <a:srgbClr val="14B8A6"/>
          </a:solidFill>
          <a:ln w="12700">
            <a:solidFill>
              <a:srgbClr val="14B8A6">
                <a:alpha val="0"/>
              </a:srgbClr>
            </a:solidFill>
            <a:prstDash val="solid"/>
          </a:ln>
        </p:spPr>
        <p:txBody>
          <a:bodyPr/>
          <a:lstStyle/>
          <a:p>
            <a:endParaRPr lang="en-GB"/>
          </a:p>
        </p:txBody>
      </p:sp>
      <p:sp>
        <p:nvSpPr>
          <p:cNvPr id="6" name="Text 4"/>
          <p:cNvSpPr/>
          <p:nvPr/>
        </p:nvSpPr>
        <p:spPr>
          <a:xfrm>
            <a:off x="548640" y="6336792"/>
            <a:ext cx="1828800" cy="201168"/>
          </a:xfrm>
          <a:prstGeom prst="rect">
            <a:avLst/>
          </a:prstGeom>
          <a:noFill/>
          <a:ln/>
        </p:spPr>
        <p:txBody>
          <a:bodyPr wrap="square" lIns="0" tIns="0" rIns="0" bIns="0" rtlCol="0" anchor="ctr"/>
          <a:lstStyle/>
          <a:p>
            <a:pPr marL="0" indent="0">
              <a:buNone/>
            </a:pPr>
            <a:r>
              <a:rPr lang="en-US" sz="850" b="1" dirty="0">
                <a:solidFill>
                  <a:srgbClr val="12355B"/>
                </a:solidFill>
              </a:rPr>
              <a:t>IncidentIQ</a:t>
            </a:r>
            <a:endParaRPr lang="en-US" sz="850" dirty="0"/>
          </a:p>
        </p:txBody>
      </p:sp>
      <p:sp>
        <p:nvSpPr>
          <p:cNvPr id="7" name="Text 5"/>
          <p:cNvSpPr/>
          <p:nvPr/>
        </p:nvSpPr>
        <p:spPr>
          <a:xfrm>
            <a:off x="1874520" y="6336792"/>
            <a:ext cx="4572000" cy="201168"/>
          </a:xfrm>
          <a:prstGeom prst="rect">
            <a:avLst/>
          </a:prstGeom>
          <a:noFill/>
          <a:ln/>
        </p:spPr>
        <p:txBody>
          <a:bodyPr wrap="square" lIns="0" tIns="0" rIns="0" bIns="0" rtlCol="0" anchor="ctr"/>
          <a:lstStyle/>
          <a:p>
            <a:pPr marL="0" indent="0">
              <a:buNone/>
            </a:pPr>
            <a:r>
              <a:rPr lang="en-US" sz="850" dirty="0">
                <a:solidFill>
                  <a:srgbClr val="64748B"/>
                </a:solidFill>
              </a:rPr>
              <a:t>Grounded RAG</a:t>
            </a:r>
            <a:endParaRPr lang="en-US" sz="850" dirty="0"/>
          </a:p>
        </p:txBody>
      </p:sp>
      <p:sp>
        <p:nvSpPr>
          <p:cNvPr id="8" name="Text 6"/>
          <p:cNvSpPr/>
          <p:nvPr/>
        </p:nvSpPr>
        <p:spPr>
          <a:xfrm>
            <a:off x="11155680" y="6291072"/>
            <a:ext cx="457200" cy="228600"/>
          </a:xfrm>
          <a:prstGeom prst="rect">
            <a:avLst/>
          </a:prstGeom>
          <a:noFill/>
          <a:ln/>
        </p:spPr>
        <p:txBody>
          <a:bodyPr wrap="square" lIns="0" tIns="0" rIns="0" bIns="0" rtlCol="0" anchor="ctr"/>
          <a:lstStyle/>
          <a:p>
            <a:pPr marL="0" indent="0" algn="r">
              <a:buNone/>
            </a:pPr>
            <a:r>
              <a:rPr lang="en-US" sz="850" b="1" dirty="0">
                <a:solidFill>
                  <a:srgbClr val="14B8A6"/>
                </a:solidFill>
              </a:rPr>
              <a:t>08</a:t>
            </a:r>
            <a:endParaRPr lang="en-US" sz="850" dirty="0"/>
          </a:p>
        </p:txBody>
      </p:sp>
      <p:sp>
        <p:nvSpPr>
          <p:cNvPr id="9" name="Text 7"/>
          <p:cNvSpPr/>
          <p:nvPr/>
        </p:nvSpPr>
        <p:spPr>
          <a:xfrm>
            <a:off x="685800" y="603504"/>
            <a:ext cx="5486400" cy="219456"/>
          </a:xfrm>
          <a:prstGeom prst="rect">
            <a:avLst/>
          </a:prstGeom>
          <a:noFill/>
          <a:ln/>
        </p:spPr>
        <p:txBody>
          <a:bodyPr wrap="square" lIns="0" tIns="0" rIns="0" bIns="0" rtlCol="0" anchor="ctr"/>
          <a:lstStyle/>
          <a:p>
            <a:pPr marL="0" indent="0">
              <a:buNone/>
            </a:pPr>
            <a:r>
              <a:rPr lang="en-US" sz="850" b="1" dirty="0">
                <a:solidFill>
                  <a:srgbClr val="14B8A6"/>
                </a:solidFill>
              </a:rPr>
              <a:t>GROUNDED RAG</a:t>
            </a:r>
            <a:endParaRPr lang="en-US" sz="850" dirty="0"/>
          </a:p>
        </p:txBody>
      </p:sp>
      <p:sp>
        <p:nvSpPr>
          <p:cNvPr id="10" name="Text 8"/>
          <p:cNvSpPr/>
          <p:nvPr/>
        </p:nvSpPr>
        <p:spPr>
          <a:xfrm>
            <a:off x="685800" y="914400"/>
            <a:ext cx="9784080" cy="658368"/>
          </a:xfrm>
          <a:prstGeom prst="rect">
            <a:avLst/>
          </a:prstGeom>
          <a:noFill/>
          <a:ln/>
        </p:spPr>
        <p:txBody>
          <a:bodyPr wrap="square" lIns="0" tIns="0" rIns="0" bIns="0" rtlCol="0" anchor="ctr">
            <a:normAutofit/>
          </a:bodyPr>
          <a:lstStyle/>
          <a:p>
            <a:pPr marL="0" indent="0">
              <a:buNone/>
            </a:pPr>
            <a:r>
              <a:rPr lang="en-US" sz="3000" b="1" dirty="0">
                <a:solidFill>
                  <a:srgbClr val="0B1F33"/>
                </a:solidFill>
                <a:latin typeface="Aptos Display" pitchFamily="34" charset="0"/>
                <a:ea typeface="Aptos Display" pitchFamily="34" charset="-122"/>
                <a:cs typeface="Aptos Display" pitchFamily="34" charset="-120"/>
              </a:rPr>
              <a:t>Grounded AI analysis</a:t>
            </a:r>
            <a:endParaRPr lang="en-US" sz="3000" dirty="0"/>
          </a:p>
        </p:txBody>
      </p:sp>
      <p:sp>
        <p:nvSpPr>
          <p:cNvPr id="11" name="Text 9"/>
          <p:cNvSpPr/>
          <p:nvPr/>
        </p:nvSpPr>
        <p:spPr>
          <a:xfrm>
            <a:off x="685800" y="1682496"/>
            <a:ext cx="7863840" cy="420624"/>
          </a:xfrm>
          <a:prstGeom prst="rect">
            <a:avLst/>
          </a:prstGeom>
          <a:noFill/>
          <a:ln/>
        </p:spPr>
        <p:txBody>
          <a:bodyPr wrap="square" lIns="254" tIns="254" rIns="254" bIns="254" rtlCol="0" anchor="ctr">
            <a:normAutofit/>
          </a:bodyPr>
          <a:lstStyle/>
          <a:p>
            <a:pPr marL="0" indent="0">
              <a:buNone/>
            </a:pPr>
            <a:r>
              <a:rPr lang="en-US" sz="1320" dirty="0">
                <a:solidFill>
                  <a:srgbClr val="52657A"/>
                </a:solidFill>
              </a:rPr>
              <a:t>Azure OpenAI produces structured output, but the answer is grounded in retrieved historical incidents and Runbooks.</a:t>
            </a:r>
            <a:endParaRPr lang="en-US" sz="1320" dirty="0"/>
          </a:p>
        </p:txBody>
      </p:sp>
      <p:sp>
        <p:nvSpPr>
          <p:cNvPr id="12" name="Shape 10"/>
          <p:cNvSpPr/>
          <p:nvPr/>
        </p:nvSpPr>
        <p:spPr>
          <a:xfrm>
            <a:off x="777240" y="2148840"/>
            <a:ext cx="2212848" cy="1280160"/>
          </a:xfrm>
          <a:prstGeom prst="roundRect">
            <a:avLst>
              <a:gd name="adj" fmla="val 8571"/>
            </a:avLst>
          </a:prstGeom>
          <a:solidFill>
            <a:srgbClr val="FFFFFF"/>
          </a:solidFill>
          <a:ln w="12700">
            <a:solidFill>
              <a:srgbClr val="C9DCEB">
                <a:alpha val="85000"/>
              </a:srgbClr>
            </a:solidFill>
            <a:prstDash val="solid"/>
          </a:ln>
          <a:effectLst>
            <a:outerShdw blurRad="19050" dist="50800" dir="2700000" algn="bl" rotWithShape="0">
              <a:srgbClr val="B9CFE0">
                <a:alpha val="13000"/>
              </a:srgbClr>
            </a:outerShdw>
          </a:effectLst>
        </p:spPr>
        <p:txBody>
          <a:bodyPr/>
          <a:lstStyle/>
          <a:p>
            <a:endParaRPr lang="en-GB"/>
          </a:p>
        </p:txBody>
      </p:sp>
      <p:sp>
        <p:nvSpPr>
          <p:cNvPr id="13" name="Shape 11"/>
          <p:cNvSpPr/>
          <p:nvPr/>
        </p:nvSpPr>
        <p:spPr>
          <a:xfrm>
            <a:off x="777240" y="2148840"/>
            <a:ext cx="73152" cy="1280160"/>
          </a:xfrm>
          <a:prstGeom prst="rect">
            <a:avLst/>
          </a:prstGeom>
          <a:solidFill>
            <a:srgbClr val="2563EB"/>
          </a:solidFill>
          <a:ln w="12700">
            <a:solidFill>
              <a:srgbClr val="2563EB">
                <a:alpha val="0"/>
              </a:srgbClr>
            </a:solidFill>
            <a:prstDash val="solid"/>
          </a:ln>
        </p:spPr>
        <p:txBody>
          <a:bodyPr/>
          <a:lstStyle/>
          <a:p>
            <a:endParaRPr lang="en-GB"/>
          </a:p>
        </p:txBody>
      </p:sp>
      <p:sp>
        <p:nvSpPr>
          <p:cNvPr id="14" name="Text 12"/>
          <p:cNvSpPr/>
          <p:nvPr/>
        </p:nvSpPr>
        <p:spPr>
          <a:xfrm>
            <a:off x="996696" y="2313432"/>
            <a:ext cx="1865376" cy="274320"/>
          </a:xfrm>
          <a:prstGeom prst="rect">
            <a:avLst/>
          </a:prstGeom>
          <a:noFill/>
          <a:ln/>
        </p:spPr>
        <p:txBody>
          <a:bodyPr wrap="square" lIns="0" tIns="0" rIns="0" bIns="0" rtlCol="0" anchor="ctr">
            <a:normAutofit/>
          </a:bodyPr>
          <a:lstStyle/>
          <a:p>
            <a:pPr marL="0" indent="0">
              <a:buNone/>
            </a:pPr>
            <a:r>
              <a:rPr lang="en-US" sz="1230" b="1" dirty="0">
                <a:solidFill>
                  <a:srgbClr val="0B1F33"/>
                </a:solidFill>
                <a:latin typeface="Aptos Display" pitchFamily="34" charset="0"/>
                <a:ea typeface="Aptos Display" pitchFamily="34" charset="-122"/>
                <a:cs typeface="Aptos Display" pitchFamily="34" charset="-120"/>
              </a:rPr>
              <a:t>Summary</a:t>
            </a:r>
            <a:endParaRPr lang="en-US" sz="1230" dirty="0"/>
          </a:p>
        </p:txBody>
      </p:sp>
      <p:sp>
        <p:nvSpPr>
          <p:cNvPr id="15" name="Text 13"/>
          <p:cNvSpPr/>
          <p:nvPr/>
        </p:nvSpPr>
        <p:spPr>
          <a:xfrm>
            <a:off x="996696" y="2715768"/>
            <a:ext cx="1865376" cy="566928"/>
          </a:xfrm>
          <a:prstGeom prst="rect">
            <a:avLst/>
          </a:prstGeom>
          <a:noFill/>
          <a:ln/>
        </p:spPr>
        <p:txBody>
          <a:bodyPr wrap="square" lIns="0" tIns="0" rIns="0" bIns="0" rtlCol="0" anchor="ctr">
            <a:normAutofit/>
          </a:bodyPr>
          <a:lstStyle/>
          <a:p>
            <a:pPr marL="0" indent="0">
              <a:buNone/>
            </a:pPr>
            <a:r>
              <a:rPr lang="en-US" sz="980" dirty="0">
                <a:solidFill>
                  <a:srgbClr val="52657A"/>
                </a:solidFill>
              </a:rPr>
              <a:t>Concise operational explanation of what is likely happening.</a:t>
            </a:r>
            <a:endParaRPr lang="en-US" sz="980" dirty="0"/>
          </a:p>
        </p:txBody>
      </p:sp>
      <p:sp>
        <p:nvSpPr>
          <p:cNvPr id="16" name="Shape 14"/>
          <p:cNvSpPr/>
          <p:nvPr/>
        </p:nvSpPr>
        <p:spPr>
          <a:xfrm>
            <a:off x="3218688" y="2148840"/>
            <a:ext cx="2212848" cy="1280160"/>
          </a:xfrm>
          <a:prstGeom prst="roundRect">
            <a:avLst>
              <a:gd name="adj" fmla="val 8571"/>
            </a:avLst>
          </a:prstGeom>
          <a:solidFill>
            <a:srgbClr val="FFFFFF"/>
          </a:solidFill>
          <a:ln w="12700">
            <a:solidFill>
              <a:srgbClr val="C9DCEB">
                <a:alpha val="85000"/>
              </a:srgbClr>
            </a:solidFill>
            <a:prstDash val="solid"/>
          </a:ln>
          <a:effectLst>
            <a:outerShdw blurRad="19050" dist="50800" dir="2700000" algn="bl" rotWithShape="0">
              <a:srgbClr val="B9CFE0">
                <a:alpha val="13000"/>
              </a:srgbClr>
            </a:outerShdw>
          </a:effectLst>
        </p:spPr>
        <p:txBody>
          <a:bodyPr/>
          <a:lstStyle/>
          <a:p>
            <a:endParaRPr lang="en-GB"/>
          </a:p>
        </p:txBody>
      </p:sp>
      <p:sp>
        <p:nvSpPr>
          <p:cNvPr id="17" name="Shape 15"/>
          <p:cNvSpPr/>
          <p:nvPr/>
        </p:nvSpPr>
        <p:spPr>
          <a:xfrm>
            <a:off x="3218688" y="2148840"/>
            <a:ext cx="73152" cy="1280160"/>
          </a:xfrm>
          <a:prstGeom prst="rect">
            <a:avLst/>
          </a:prstGeom>
          <a:solidFill>
            <a:srgbClr val="7C3AED"/>
          </a:solidFill>
          <a:ln w="12700">
            <a:solidFill>
              <a:srgbClr val="7C3AED">
                <a:alpha val="0"/>
              </a:srgbClr>
            </a:solidFill>
            <a:prstDash val="solid"/>
          </a:ln>
        </p:spPr>
        <p:txBody>
          <a:bodyPr/>
          <a:lstStyle/>
          <a:p>
            <a:endParaRPr lang="en-GB"/>
          </a:p>
        </p:txBody>
      </p:sp>
      <p:sp>
        <p:nvSpPr>
          <p:cNvPr id="18" name="Text 16"/>
          <p:cNvSpPr/>
          <p:nvPr/>
        </p:nvSpPr>
        <p:spPr>
          <a:xfrm>
            <a:off x="3438144" y="2313432"/>
            <a:ext cx="1865376" cy="274320"/>
          </a:xfrm>
          <a:prstGeom prst="rect">
            <a:avLst/>
          </a:prstGeom>
          <a:noFill/>
          <a:ln/>
        </p:spPr>
        <p:txBody>
          <a:bodyPr wrap="square" lIns="0" tIns="0" rIns="0" bIns="0" rtlCol="0" anchor="ctr">
            <a:normAutofit/>
          </a:bodyPr>
          <a:lstStyle/>
          <a:p>
            <a:pPr marL="0" indent="0">
              <a:buNone/>
            </a:pPr>
            <a:r>
              <a:rPr lang="en-US" sz="1230" b="1" dirty="0">
                <a:solidFill>
                  <a:srgbClr val="0B1F33"/>
                </a:solidFill>
                <a:latin typeface="Aptos Display" pitchFamily="34" charset="0"/>
                <a:ea typeface="Aptos Display" pitchFamily="34" charset="-122"/>
                <a:cs typeface="Aptos Display" pitchFamily="34" charset="-120"/>
              </a:rPr>
              <a:t>Likely causes</a:t>
            </a:r>
            <a:endParaRPr lang="en-US" sz="1230" dirty="0"/>
          </a:p>
        </p:txBody>
      </p:sp>
      <p:sp>
        <p:nvSpPr>
          <p:cNvPr id="19" name="Text 17"/>
          <p:cNvSpPr/>
          <p:nvPr/>
        </p:nvSpPr>
        <p:spPr>
          <a:xfrm>
            <a:off x="3438144" y="2715768"/>
            <a:ext cx="1865376" cy="566928"/>
          </a:xfrm>
          <a:prstGeom prst="rect">
            <a:avLst/>
          </a:prstGeom>
          <a:noFill/>
          <a:ln/>
        </p:spPr>
        <p:txBody>
          <a:bodyPr wrap="square" lIns="0" tIns="0" rIns="0" bIns="0" rtlCol="0" anchor="ctr">
            <a:normAutofit/>
          </a:bodyPr>
          <a:lstStyle/>
          <a:p>
            <a:pPr marL="0" indent="0">
              <a:buNone/>
            </a:pPr>
            <a:r>
              <a:rPr lang="en-US" sz="980" dirty="0">
                <a:solidFill>
                  <a:srgbClr val="52657A"/>
                </a:solidFill>
              </a:rPr>
              <a:t>Confidence-scored hypotheses with evidence references.</a:t>
            </a:r>
            <a:endParaRPr lang="en-US" sz="980" dirty="0"/>
          </a:p>
        </p:txBody>
      </p:sp>
      <p:sp>
        <p:nvSpPr>
          <p:cNvPr id="20" name="Shape 18"/>
          <p:cNvSpPr/>
          <p:nvPr/>
        </p:nvSpPr>
        <p:spPr>
          <a:xfrm>
            <a:off x="5660136" y="2148840"/>
            <a:ext cx="2212848" cy="1280160"/>
          </a:xfrm>
          <a:prstGeom prst="roundRect">
            <a:avLst>
              <a:gd name="adj" fmla="val 8571"/>
            </a:avLst>
          </a:prstGeom>
          <a:solidFill>
            <a:srgbClr val="FFFFFF"/>
          </a:solidFill>
          <a:ln w="12700">
            <a:solidFill>
              <a:srgbClr val="C9DCEB">
                <a:alpha val="85000"/>
              </a:srgbClr>
            </a:solidFill>
            <a:prstDash val="solid"/>
          </a:ln>
          <a:effectLst>
            <a:outerShdw blurRad="19050" dist="50800" dir="2700000" algn="bl" rotWithShape="0">
              <a:srgbClr val="B9CFE0">
                <a:alpha val="13000"/>
              </a:srgbClr>
            </a:outerShdw>
          </a:effectLst>
        </p:spPr>
        <p:txBody>
          <a:bodyPr/>
          <a:lstStyle/>
          <a:p>
            <a:endParaRPr lang="en-GB"/>
          </a:p>
        </p:txBody>
      </p:sp>
      <p:sp>
        <p:nvSpPr>
          <p:cNvPr id="21" name="Shape 19"/>
          <p:cNvSpPr/>
          <p:nvPr/>
        </p:nvSpPr>
        <p:spPr>
          <a:xfrm>
            <a:off x="5660136" y="2148840"/>
            <a:ext cx="73152" cy="1280160"/>
          </a:xfrm>
          <a:prstGeom prst="rect">
            <a:avLst/>
          </a:prstGeom>
          <a:solidFill>
            <a:srgbClr val="22C55E"/>
          </a:solidFill>
          <a:ln w="12700">
            <a:solidFill>
              <a:srgbClr val="22C55E">
                <a:alpha val="0"/>
              </a:srgbClr>
            </a:solidFill>
            <a:prstDash val="solid"/>
          </a:ln>
        </p:spPr>
        <p:txBody>
          <a:bodyPr/>
          <a:lstStyle/>
          <a:p>
            <a:endParaRPr lang="en-GB"/>
          </a:p>
        </p:txBody>
      </p:sp>
      <p:sp>
        <p:nvSpPr>
          <p:cNvPr id="22" name="Text 20"/>
          <p:cNvSpPr/>
          <p:nvPr/>
        </p:nvSpPr>
        <p:spPr>
          <a:xfrm>
            <a:off x="5879592" y="2313432"/>
            <a:ext cx="1865376" cy="274320"/>
          </a:xfrm>
          <a:prstGeom prst="rect">
            <a:avLst/>
          </a:prstGeom>
          <a:noFill/>
          <a:ln/>
        </p:spPr>
        <p:txBody>
          <a:bodyPr wrap="square" lIns="0" tIns="0" rIns="0" bIns="0" rtlCol="0" anchor="ctr">
            <a:normAutofit/>
          </a:bodyPr>
          <a:lstStyle/>
          <a:p>
            <a:pPr marL="0" indent="0">
              <a:buNone/>
            </a:pPr>
            <a:r>
              <a:rPr lang="en-US" sz="1230" b="1" dirty="0">
                <a:solidFill>
                  <a:srgbClr val="0B1F33"/>
                </a:solidFill>
                <a:latin typeface="Aptos Display" pitchFamily="34" charset="0"/>
                <a:ea typeface="Aptos Display" pitchFamily="34" charset="-122"/>
                <a:cs typeface="Aptos Display" pitchFamily="34" charset="-120"/>
              </a:rPr>
              <a:t>Actions</a:t>
            </a:r>
            <a:endParaRPr lang="en-US" sz="1230" dirty="0"/>
          </a:p>
        </p:txBody>
      </p:sp>
      <p:sp>
        <p:nvSpPr>
          <p:cNvPr id="23" name="Text 21"/>
          <p:cNvSpPr/>
          <p:nvPr/>
        </p:nvSpPr>
        <p:spPr>
          <a:xfrm>
            <a:off x="5879592" y="2715768"/>
            <a:ext cx="1865376" cy="566928"/>
          </a:xfrm>
          <a:prstGeom prst="rect">
            <a:avLst/>
          </a:prstGeom>
          <a:noFill/>
          <a:ln/>
        </p:spPr>
        <p:txBody>
          <a:bodyPr wrap="square" lIns="0" tIns="0" rIns="0" bIns="0" rtlCol="0" anchor="ctr">
            <a:normAutofit/>
          </a:bodyPr>
          <a:lstStyle/>
          <a:p>
            <a:pPr marL="0" indent="0">
              <a:buNone/>
            </a:pPr>
            <a:r>
              <a:rPr lang="en-US" sz="980" dirty="0">
                <a:solidFill>
                  <a:srgbClr val="52657A"/>
                </a:solidFill>
              </a:rPr>
              <a:t>Recommended steps linked back to Runbook guidance.</a:t>
            </a:r>
            <a:endParaRPr lang="en-US" sz="980" dirty="0"/>
          </a:p>
        </p:txBody>
      </p:sp>
      <p:sp>
        <p:nvSpPr>
          <p:cNvPr id="24" name="Shape 22"/>
          <p:cNvSpPr/>
          <p:nvPr/>
        </p:nvSpPr>
        <p:spPr>
          <a:xfrm>
            <a:off x="8101584" y="2148840"/>
            <a:ext cx="2212848" cy="1280160"/>
          </a:xfrm>
          <a:prstGeom prst="roundRect">
            <a:avLst>
              <a:gd name="adj" fmla="val 8571"/>
            </a:avLst>
          </a:prstGeom>
          <a:solidFill>
            <a:srgbClr val="FFFFFF"/>
          </a:solidFill>
          <a:ln w="12700">
            <a:solidFill>
              <a:srgbClr val="C9DCEB">
                <a:alpha val="85000"/>
              </a:srgbClr>
            </a:solidFill>
            <a:prstDash val="solid"/>
          </a:ln>
          <a:effectLst>
            <a:outerShdw blurRad="19050" dist="50800" dir="2700000" algn="bl" rotWithShape="0">
              <a:srgbClr val="B9CFE0">
                <a:alpha val="13000"/>
              </a:srgbClr>
            </a:outerShdw>
          </a:effectLst>
        </p:spPr>
        <p:txBody>
          <a:bodyPr/>
          <a:lstStyle/>
          <a:p>
            <a:endParaRPr lang="en-GB"/>
          </a:p>
        </p:txBody>
      </p:sp>
      <p:sp>
        <p:nvSpPr>
          <p:cNvPr id="25" name="Shape 23"/>
          <p:cNvSpPr/>
          <p:nvPr/>
        </p:nvSpPr>
        <p:spPr>
          <a:xfrm>
            <a:off x="8101584" y="2148840"/>
            <a:ext cx="73152" cy="1280160"/>
          </a:xfrm>
          <a:prstGeom prst="rect">
            <a:avLst/>
          </a:prstGeom>
          <a:solidFill>
            <a:srgbClr val="14B8A6"/>
          </a:solidFill>
          <a:ln w="12700">
            <a:solidFill>
              <a:srgbClr val="14B8A6">
                <a:alpha val="0"/>
              </a:srgbClr>
            </a:solidFill>
            <a:prstDash val="solid"/>
          </a:ln>
        </p:spPr>
        <p:txBody>
          <a:bodyPr/>
          <a:lstStyle/>
          <a:p>
            <a:endParaRPr lang="en-GB"/>
          </a:p>
        </p:txBody>
      </p:sp>
      <p:sp>
        <p:nvSpPr>
          <p:cNvPr id="26" name="Text 24"/>
          <p:cNvSpPr/>
          <p:nvPr/>
        </p:nvSpPr>
        <p:spPr>
          <a:xfrm>
            <a:off x="8321040" y="2313432"/>
            <a:ext cx="1865376" cy="274320"/>
          </a:xfrm>
          <a:prstGeom prst="rect">
            <a:avLst/>
          </a:prstGeom>
          <a:noFill/>
          <a:ln/>
        </p:spPr>
        <p:txBody>
          <a:bodyPr wrap="square" lIns="0" tIns="0" rIns="0" bIns="0" rtlCol="0" anchor="ctr">
            <a:normAutofit/>
          </a:bodyPr>
          <a:lstStyle/>
          <a:p>
            <a:pPr marL="0" indent="0">
              <a:buNone/>
            </a:pPr>
            <a:r>
              <a:rPr lang="en-US" sz="1230" b="1" dirty="0">
                <a:solidFill>
                  <a:srgbClr val="0B1F33"/>
                </a:solidFill>
                <a:latin typeface="Aptos Display" pitchFamily="34" charset="0"/>
                <a:ea typeface="Aptos Display" pitchFamily="34" charset="-122"/>
                <a:cs typeface="Aptos Display" pitchFamily="34" charset="-120"/>
              </a:rPr>
              <a:t>Evidence</a:t>
            </a:r>
            <a:endParaRPr lang="en-US" sz="1230" dirty="0"/>
          </a:p>
        </p:txBody>
      </p:sp>
      <p:sp>
        <p:nvSpPr>
          <p:cNvPr id="27" name="Text 25"/>
          <p:cNvSpPr/>
          <p:nvPr/>
        </p:nvSpPr>
        <p:spPr>
          <a:xfrm>
            <a:off x="8321040" y="2715768"/>
            <a:ext cx="1865376" cy="566928"/>
          </a:xfrm>
          <a:prstGeom prst="rect">
            <a:avLst/>
          </a:prstGeom>
          <a:noFill/>
          <a:ln/>
        </p:spPr>
        <p:txBody>
          <a:bodyPr wrap="square" lIns="0" tIns="0" rIns="0" bIns="0" rtlCol="0" anchor="ctr">
            <a:normAutofit/>
          </a:bodyPr>
          <a:lstStyle/>
          <a:p>
            <a:pPr marL="0" indent="0">
              <a:buNone/>
            </a:pPr>
            <a:r>
              <a:rPr lang="en-US" sz="980" dirty="0">
                <a:solidFill>
                  <a:srgbClr val="52657A"/>
                </a:solidFill>
              </a:rPr>
              <a:t>Historical Incident and Runbook snapshots persisted with the analysis.</a:t>
            </a:r>
            <a:endParaRPr lang="en-US" sz="980" dirty="0"/>
          </a:p>
        </p:txBody>
      </p:sp>
      <p:sp>
        <p:nvSpPr>
          <p:cNvPr id="28" name="Shape 26"/>
          <p:cNvSpPr/>
          <p:nvPr/>
        </p:nvSpPr>
        <p:spPr>
          <a:xfrm>
            <a:off x="804672" y="4315968"/>
            <a:ext cx="7132320" cy="777240"/>
          </a:xfrm>
          <a:prstGeom prst="roundRect">
            <a:avLst>
              <a:gd name="adj" fmla="val 11765"/>
            </a:avLst>
          </a:prstGeom>
          <a:solidFill>
            <a:srgbClr val="F8FCFF"/>
          </a:solidFill>
          <a:ln w="12700">
            <a:solidFill>
              <a:srgbClr val="14B8A6">
                <a:alpha val="55000"/>
              </a:srgbClr>
            </a:solidFill>
            <a:prstDash val="solid"/>
          </a:ln>
        </p:spPr>
        <p:txBody>
          <a:bodyPr/>
          <a:lstStyle/>
          <a:p>
            <a:endParaRPr lang="en-GB"/>
          </a:p>
        </p:txBody>
      </p:sp>
      <p:sp>
        <p:nvSpPr>
          <p:cNvPr id="29" name="Text 27"/>
          <p:cNvSpPr/>
          <p:nvPr/>
        </p:nvSpPr>
        <p:spPr>
          <a:xfrm>
            <a:off x="1033272" y="4453128"/>
            <a:ext cx="6675120" cy="256032"/>
          </a:xfrm>
          <a:prstGeom prst="rect">
            <a:avLst/>
          </a:prstGeom>
          <a:noFill/>
          <a:ln/>
        </p:spPr>
        <p:txBody>
          <a:bodyPr wrap="square" lIns="0" tIns="0" rIns="0" bIns="0" rtlCol="0" anchor="ctr">
            <a:normAutofit/>
          </a:bodyPr>
          <a:lstStyle/>
          <a:p>
            <a:pPr marL="0" indent="0">
              <a:buNone/>
            </a:pPr>
            <a:r>
              <a:rPr lang="en-US" sz="1040" b="1" dirty="0">
                <a:solidFill>
                  <a:srgbClr val="14B8A6"/>
                </a:solidFill>
              </a:rPr>
              <a:t>Validation layer</a:t>
            </a:r>
            <a:endParaRPr lang="en-US" sz="1040" dirty="0"/>
          </a:p>
        </p:txBody>
      </p:sp>
      <p:sp>
        <p:nvSpPr>
          <p:cNvPr id="30" name="Text 28"/>
          <p:cNvSpPr/>
          <p:nvPr/>
        </p:nvSpPr>
        <p:spPr>
          <a:xfrm>
            <a:off x="1033272" y="4754880"/>
            <a:ext cx="6675120" cy="274320"/>
          </a:xfrm>
          <a:prstGeom prst="rect">
            <a:avLst/>
          </a:prstGeom>
          <a:noFill/>
          <a:ln/>
        </p:spPr>
        <p:txBody>
          <a:bodyPr wrap="square" lIns="0" tIns="0" rIns="0" bIns="0" rtlCol="0" anchor="ctr">
            <a:normAutofit/>
          </a:bodyPr>
          <a:lstStyle/>
          <a:p>
            <a:pPr marL="0" indent="0">
              <a:buNone/>
            </a:pPr>
            <a:r>
              <a:rPr lang="en-US" sz="830" dirty="0">
                <a:solidFill>
                  <a:srgbClr val="52657A"/>
                </a:solidFill>
              </a:rPr>
              <a:t>Evidence identifiers are request-scoped. Returned HI-* and RB-* references are validated against the retrieved context before persistence.</a:t>
            </a:r>
            <a:endParaRPr lang="en-US" sz="830" dirty="0"/>
          </a:p>
        </p:txBody>
      </p:sp>
      <p:sp>
        <p:nvSpPr>
          <p:cNvPr id="31" name="Shape 29"/>
          <p:cNvSpPr/>
          <p:nvPr/>
        </p:nvSpPr>
        <p:spPr>
          <a:xfrm>
            <a:off x="8412480" y="4407408"/>
            <a:ext cx="749808" cy="438912"/>
          </a:xfrm>
          <a:prstGeom prst="roundRect">
            <a:avLst>
              <a:gd name="adj" fmla="val 16667"/>
            </a:avLst>
          </a:prstGeom>
          <a:solidFill>
            <a:srgbClr val="2563EB"/>
          </a:solidFill>
          <a:ln w="12700">
            <a:solidFill>
              <a:srgbClr val="2563EB">
                <a:alpha val="80000"/>
              </a:srgbClr>
            </a:solidFill>
            <a:prstDash val="solid"/>
          </a:ln>
          <a:effectLst>
            <a:outerShdw blurRad="15240" dist="50800" dir="2700000" algn="bl" rotWithShape="0">
              <a:srgbClr val="B8CDE0">
                <a:alpha val="11000"/>
              </a:srgbClr>
            </a:outerShdw>
          </a:effectLst>
        </p:spPr>
        <p:txBody>
          <a:bodyPr/>
          <a:lstStyle/>
          <a:p>
            <a:endParaRPr lang="en-GB"/>
          </a:p>
        </p:txBody>
      </p:sp>
      <p:sp>
        <p:nvSpPr>
          <p:cNvPr id="32" name="Text 30"/>
          <p:cNvSpPr/>
          <p:nvPr/>
        </p:nvSpPr>
        <p:spPr>
          <a:xfrm>
            <a:off x="8485632" y="4517136"/>
            <a:ext cx="603504" cy="188732"/>
          </a:xfrm>
          <a:prstGeom prst="rect">
            <a:avLst/>
          </a:prstGeom>
          <a:noFill/>
          <a:ln/>
        </p:spPr>
        <p:txBody>
          <a:bodyPr wrap="square" lIns="0" tIns="0" rIns="0" bIns="0" rtlCol="0" anchor="ctr">
            <a:normAutofit/>
          </a:bodyPr>
          <a:lstStyle/>
          <a:p>
            <a:pPr marL="0" indent="0" algn="ctr">
              <a:buNone/>
            </a:pPr>
            <a:r>
              <a:rPr lang="en-US" sz="1000" b="1" dirty="0">
                <a:solidFill>
                  <a:srgbClr val="FFFFFF"/>
                </a:solidFill>
                <a:latin typeface="Aptos Display" pitchFamily="34" charset="0"/>
                <a:ea typeface="Aptos Display" pitchFamily="34" charset="-122"/>
                <a:cs typeface="Aptos Display" pitchFamily="34" charset="-120"/>
              </a:rPr>
              <a:t>HI-*</a:t>
            </a:r>
            <a:endParaRPr lang="en-US" sz="1000" dirty="0"/>
          </a:p>
        </p:txBody>
      </p:sp>
      <p:sp>
        <p:nvSpPr>
          <p:cNvPr id="33" name="Text 31"/>
          <p:cNvSpPr/>
          <p:nvPr/>
        </p:nvSpPr>
        <p:spPr>
          <a:xfrm>
            <a:off x="8494776" y="4657588"/>
            <a:ext cx="585216" cy="122895"/>
          </a:xfrm>
          <a:prstGeom prst="rect">
            <a:avLst/>
          </a:prstGeom>
          <a:noFill/>
          <a:ln/>
        </p:spPr>
        <p:txBody>
          <a:bodyPr wrap="square" lIns="0" tIns="0" rIns="0" bIns="0" rtlCol="0" anchor="ctr">
            <a:normAutofit/>
          </a:bodyPr>
          <a:lstStyle/>
          <a:p>
            <a:pPr marL="0" indent="0" algn="ctr">
              <a:buNone/>
            </a:pPr>
            <a:r>
              <a:rPr lang="en-US" sz="650" dirty="0">
                <a:solidFill>
                  <a:srgbClr val="E0F2FE"/>
                </a:solidFill>
              </a:rPr>
              <a:t>history</a:t>
            </a:r>
            <a:endParaRPr lang="en-US" sz="650" dirty="0"/>
          </a:p>
        </p:txBody>
      </p:sp>
      <p:sp>
        <p:nvSpPr>
          <p:cNvPr id="34" name="Shape 32"/>
          <p:cNvSpPr/>
          <p:nvPr/>
        </p:nvSpPr>
        <p:spPr>
          <a:xfrm>
            <a:off x="9400032" y="4407408"/>
            <a:ext cx="749808" cy="438912"/>
          </a:xfrm>
          <a:prstGeom prst="roundRect">
            <a:avLst>
              <a:gd name="adj" fmla="val 16667"/>
            </a:avLst>
          </a:prstGeom>
          <a:solidFill>
            <a:srgbClr val="14B8A6"/>
          </a:solidFill>
          <a:ln w="12700">
            <a:solidFill>
              <a:srgbClr val="14B8A6">
                <a:alpha val="80000"/>
              </a:srgbClr>
            </a:solidFill>
            <a:prstDash val="solid"/>
          </a:ln>
          <a:effectLst>
            <a:outerShdw blurRad="15240" dist="50800" dir="2700000" algn="bl" rotWithShape="0">
              <a:srgbClr val="B8CDE0">
                <a:alpha val="11000"/>
              </a:srgbClr>
            </a:outerShdw>
          </a:effectLst>
        </p:spPr>
        <p:txBody>
          <a:bodyPr/>
          <a:lstStyle/>
          <a:p>
            <a:endParaRPr lang="en-GB"/>
          </a:p>
        </p:txBody>
      </p:sp>
      <p:sp>
        <p:nvSpPr>
          <p:cNvPr id="35" name="Text 33"/>
          <p:cNvSpPr/>
          <p:nvPr/>
        </p:nvSpPr>
        <p:spPr>
          <a:xfrm>
            <a:off x="9473184" y="4517136"/>
            <a:ext cx="603504" cy="188732"/>
          </a:xfrm>
          <a:prstGeom prst="rect">
            <a:avLst/>
          </a:prstGeom>
          <a:noFill/>
          <a:ln/>
        </p:spPr>
        <p:txBody>
          <a:bodyPr wrap="square" lIns="0" tIns="0" rIns="0" bIns="0" rtlCol="0" anchor="ctr">
            <a:normAutofit/>
          </a:bodyPr>
          <a:lstStyle/>
          <a:p>
            <a:pPr marL="0" indent="0" algn="ctr">
              <a:buNone/>
            </a:pPr>
            <a:r>
              <a:rPr lang="en-US" sz="1000" b="1" dirty="0">
                <a:solidFill>
                  <a:srgbClr val="FFFFFF"/>
                </a:solidFill>
                <a:latin typeface="Aptos Display" pitchFamily="34" charset="0"/>
                <a:ea typeface="Aptos Display" pitchFamily="34" charset="-122"/>
                <a:cs typeface="Aptos Display" pitchFamily="34" charset="-120"/>
              </a:rPr>
              <a:t>RB-*</a:t>
            </a:r>
            <a:endParaRPr lang="en-US" sz="1000" dirty="0"/>
          </a:p>
        </p:txBody>
      </p:sp>
      <p:sp>
        <p:nvSpPr>
          <p:cNvPr id="36" name="Text 34"/>
          <p:cNvSpPr/>
          <p:nvPr/>
        </p:nvSpPr>
        <p:spPr>
          <a:xfrm>
            <a:off x="9482328" y="4657588"/>
            <a:ext cx="585216" cy="122895"/>
          </a:xfrm>
          <a:prstGeom prst="rect">
            <a:avLst/>
          </a:prstGeom>
          <a:noFill/>
          <a:ln/>
        </p:spPr>
        <p:txBody>
          <a:bodyPr wrap="square" lIns="0" tIns="0" rIns="0" bIns="0" rtlCol="0" anchor="ctr">
            <a:normAutofit/>
          </a:bodyPr>
          <a:lstStyle/>
          <a:p>
            <a:pPr marL="0" indent="0" algn="ctr">
              <a:buNone/>
            </a:pPr>
            <a:r>
              <a:rPr lang="en-US" sz="650" dirty="0">
                <a:solidFill>
                  <a:srgbClr val="E0F2FE"/>
                </a:solidFill>
              </a:rPr>
              <a:t>runbook</a:t>
            </a:r>
            <a:endParaRPr lang="en-US" sz="6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BFF"/>
        </a:solidFill>
        <a:effectLst/>
      </p:bgPr>
    </p:bg>
    <p:spTree>
      <p:nvGrpSpPr>
        <p:cNvPr id="1" name=""/>
        <p:cNvGrpSpPr/>
        <p:nvPr/>
      </p:nvGrpSpPr>
      <p:grpSpPr>
        <a:xfrm>
          <a:off x="0" y="0"/>
          <a:ext cx="0" cy="0"/>
          <a:chOff x="0" y="0"/>
          <a:chExt cx="0" cy="0"/>
        </a:xfrm>
      </p:grpSpPr>
      <p:sp>
        <p:nvSpPr>
          <p:cNvPr id="2" name="Shape 0"/>
          <p:cNvSpPr/>
          <p:nvPr/>
        </p:nvSpPr>
        <p:spPr>
          <a:xfrm>
            <a:off x="-1143000" y="-1143000"/>
            <a:ext cx="3749040" cy="3749040"/>
          </a:xfrm>
          <a:prstGeom prst="arc">
            <a:avLst/>
          </a:prstGeom>
          <a:solidFill>
            <a:srgbClr val="E6FFFA">
              <a:alpha val="94000"/>
            </a:srgbClr>
          </a:solidFill>
          <a:ln w="12700">
            <a:solidFill>
              <a:srgbClr val="E6FFFA">
                <a:alpha val="0"/>
              </a:srgbClr>
            </a:solidFill>
            <a:prstDash val="solid"/>
          </a:ln>
        </p:spPr>
        <p:txBody>
          <a:bodyPr/>
          <a:lstStyle/>
          <a:p>
            <a:endParaRPr lang="en-GB"/>
          </a:p>
        </p:txBody>
      </p:sp>
      <p:sp>
        <p:nvSpPr>
          <p:cNvPr id="3" name="Shape 1"/>
          <p:cNvSpPr/>
          <p:nvPr/>
        </p:nvSpPr>
        <p:spPr>
          <a:xfrm>
            <a:off x="10012680" y="-685800"/>
            <a:ext cx="2926080" cy="2926080"/>
          </a:xfrm>
          <a:prstGeom prst="ellipse">
            <a:avLst/>
          </a:prstGeom>
          <a:solidFill>
            <a:srgbClr val="EAF5FF">
              <a:alpha val="95000"/>
            </a:srgbClr>
          </a:solidFill>
          <a:ln w="12700">
            <a:solidFill>
              <a:srgbClr val="EAF5FF">
                <a:alpha val="0"/>
              </a:srgbClr>
            </a:solidFill>
            <a:prstDash val="solid"/>
          </a:ln>
        </p:spPr>
        <p:txBody>
          <a:bodyPr/>
          <a:lstStyle/>
          <a:p>
            <a:endParaRPr lang="en-GB"/>
          </a:p>
        </p:txBody>
      </p:sp>
      <p:sp>
        <p:nvSpPr>
          <p:cNvPr id="4" name="Shape 2"/>
          <p:cNvSpPr/>
          <p:nvPr/>
        </p:nvSpPr>
        <p:spPr>
          <a:xfrm>
            <a:off x="10652760" y="5120640"/>
            <a:ext cx="2011680" cy="2011680"/>
          </a:xfrm>
          <a:prstGeom prst="ellipse">
            <a:avLst/>
          </a:prstGeom>
          <a:solidFill>
            <a:srgbClr val="E6FFFA">
              <a:alpha val="76000"/>
            </a:srgbClr>
          </a:solidFill>
          <a:ln w="12700">
            <a:solidFill>
              <a:srgbClr val="E6FFFA">
                <a:alpha val="0"/>
              </a:srgbClr>
            </a:solidFill>
            <a:prstDash val="solid"/>
          </a:ln>
        </p:spPr>
        <p:txBody>
          <a:bodyPr/>
          <a:lstStyle/>
          <a:p>
            <a:endParaRPr lang="en-GB"/>
          </a:p>
        </p:txBody>
      </p:sp>
      <p:sp>
        <p:nvSpPr>
          <p:cNvPr id="5" name="Shape 3"/>
          <p:cNvSpPr/>
          <p:nvPr/>
        </p:nvSpPr>
        <p:spPr>
          <a:xfrm>
            <a:off x="0" y="0"/>
            <a:ext cx="12191695" cy="100584"/>
          </a:xfrm>
          <a:prstGeom prst="rect">
            <a:avLst/>
          </a:prstGeom>
          <a:solidFill>
            <a:srgbClr val="14B8A6"/>
          </a:solidFill>
          <a:ln w="12700">
            <a:solidFill>
              <a:srgbClr val="14B8A6">
                <a:alpha val="0"/>
              </a:srgbClr>
            </a:solidFill>
            <a:prstDash val="solid"/>
          </a:ln>
        </p:spPr>
        <p:txBody>
          <a:bodyPr/>
          <a:lstStyle/>
          <a:p>
            <a:endParaRPr lang="en-GB"/>
          </a:p>
        </p:txBody>
      </p:sp>
      <p:sp>
        <p:nvSpPr>
          <p:cNvPr id="6" name="Text 4"/>
          <p:cNvSpPr/>
          <p:nvPr/>
        </p:nvSpPr>
        <p:spPr>
          <a:xfrm>
            <a:off x="548640" y="6336792"/>
            <a:ext cx="1828800" cy="201168"/>
          </a:xfrm>
          <a:prstGeom prst="rect">
            <a:avLst/>
          </a:prstGeom>
          <a:noFill/>
          <a:ln/>
        </p:spPr>
        <p:txBody>
          <a:bodyPr wrap="square" lIns="0" tIns="0" rIns="0" bIns="0" rtlCol="0" anchor="ctr"/>
          <a:lstStyle/>
          <a:p>
            <a:pPr marL="0" indent="0">
              <a:buNone/>
            </a:pPr>
            <a:r>
              <a:rPr lang="en-US" sz="850" b="1" dirty="0">
                <a:solidFill>
                  <a:srgbClr val="12355B"/>
                </a:solidFill>
              </a:rPr>
              <a:t>IncidentIQ</a:t>
            </a:r>
            <a:endParaRPr lang="en-US" sz="850" dirty="0"/>
          </a:p>
        </p:txBody>
      </p:sp>
      <p:sp>
        <p:nvSpPr>
          <p:cNvPr id="7" name="Text 5"/>
          <p:cNvSpPr/>
          <p:nvPr/>
        </p:nvSpPr>
        <p:spPr>
          <a:xfrm>
            <a:off x="1874520" y="6336792"/>
            <a:ext cx="4572000" cy="201168"/>
          </a:xfrm>
          <a:prstGeom prst="rect">
            <a:avLst/>
          </a:prstGeom>
          <a:noFill/>
          <a:ln/>
        </p:spPr>
        <p:txBody>
          <a:bodyPr wrap="square" lIns="0" tIns="0" rIns="0" bIns="0" rtlCol="0" anchor="ctr"/>
          <a:lstStyle/>
          <a:p>
            <a:pPr marL="0" indent="0">
              <a:buNone/>
            </a:pPr>
            <a:r>
              <a:rPr lang="en-US" sz="850" dirty="0">
                <a:solidFill>
                  <a:srgbClr val="64748B"/>
                </a:solidFill>
              </a:rPr>
              <a:t>Assistant</a:t>
            </a:r>
            <a:endParaRPr lang="en-US" sz="850" dirty="0"/>
          </a:p>
        </p:txBody>
      </p:sp>
      <p:sp>
        <p:nvSpPr>
          <p:cNvPr id="8" name="Text 6"/>
          <p:cNvSpPr/>
          <p:nvPr/>
        </p:nvSpPr>
        <p:spPr>
          <a:xfrm>
            <a:off x="11155680" y="6291072"/>
            <a:ext cx="457200" cy="228600"/>
          </a:xfrm>
          <a:prstGeom prst="rect">
            <a:avLst/>
          </a:prstGeom>
          <a:noFill/>
          <a:ln/>
        </p:spPr>
        <p:txBody>
          <a:bodyPr wrap="square" lIns="0" tIns="0" rIns="0" bIns="0" rtlCol="0" anchor="ctr"/>
          <a:lstStyle/>
          <a:p>
            <a:pPr marL="0" indent="0" algn="r">
              <a:buNone/>
            </a:pPr>
            <a:r>
              <a:rPr lang="en-US" sz="850" b="1" dirty="0">
                <a:solidFill>
                  <a:srgbClr val="14B8A6"/>
                </a:solidFill>
              </a:rPr>
              <a:t>09</a:t>
            </a:r>
            <a:endParaRPr lang="en-US" sz="850" dirty="0"/>
          </a:p>
        </p:txBody>
      </p:sp>
      <p:sp>
        <p:nvSpPr>
          <p:cNvPr id="9" name="Text 7"/>
          <p:cNvSpPr/>
          <p:nvPr/>
        </p:nvSpPr>
        <p:spPr>
          <a:xfrm>
            <a:off x="685800" y="603504"/>
            <a:ext cx="5486400" cy="219456"/>
          </a:xfrm>
          <a:prstGeom prst="rect">
            <a:avLst/>
          </a:prstGeom>
          <a:noFill/>
          <a:ln/>
        </p:spPr>
        <p:txBody>
          <a:bodyPr wrap="square" lIns="0" tIns="0" rIns="0" bIns="0" rtlCol="0" anchor="ctr"/>
          <a:lstStyle/>
          <a:p>
            <a:pPr marL="0" indent="0">
              <a:buNone/>
            </a:pPr>
            <a:r>
              <a:rPr lang="en-US" sz="850" b="1" dirty="0">
                <a:solidFill>
                  <a:srgbClr val="14B8A6"/>
                </a:solidFill>
              </a:rPr>
              <a:t>ASSISTANT</a:t>
            </a:r>
            <a:endParaRPr lang="en-US" sz="850" dirty="0"/>
          </a:p>
        </p:txBody>
      </p:sp>
      <p:sp>
        <p:nvSpPr>
          <p:cNvPr id="10" name="Text 8"/>
          <p:cNvSpPr/>
          <p:nvPr/>
        </p:nvSpPr>
        <p:spPr>
          <a:xfrm>
            <a:off x="685800" y="914400"/>
            <a:ext cx="9784080" cy="658368"/>
          </a:xfrm>
          <a:prstGeom prst="rect">
            <a:avLst/>
          </a:prstGeom>
          <a:noFill/>
          <a:ln/>
        </p:spPr>
        <p:txBody>
          <a:bodyPr wrap="square" lIns="0" tIns="0" rIns="0" bIns="0" rtlCol="0" anchor="ctr">
            <a:normAutofit/>
          </a:bodyPr>
          <a:lstStyle/>
          <a:p>
            <a:pPr marL="0" indent="0">
              <a:buNone/>
            </a:pPr>
            <a:r>
              <a:rPr lang="en-US" sz="3000" b="1" dirty="0">
                <a:solidFill>
                  <a:srgbClr val="0B1F33"/>
                </a:solidFill>
                <a:latin typeface="Aptos Display" pitchFamily="34" charset="0"/>
                <a:ea typeface="Aptos Display" pitchFamily="34" charset="-122"/>
                <a:cs typeface="Aptos Display" pitchFamily="34" charset="-120"/>
              </a:rPr>
              <a:t>Operational Assistant</a:t>
            </a:r>
            <a:endParaRPr lang="en-US" sz="3000" dirty="0"/>
          </a:p>
        </p:txBody>
      </p:sp>
      <p:sp>
        <p:nvSpPr>
          <p:cNvPr id="11" name="Text 9"/>
          <p:cNvSpPr/>
          <p:nvPr/>
        </p:nvSpPr>
        <p:spPr>
          <a:xfrm>
            <a:off x="685800" y="1682496"/>
            <a:ext cx="7863840" cy="420624"/>
          </a:xfrm>
          <a:prstGeom prst="rect">
            <a:avLst/>
          </a:prstGeom>
          <a:noFill/>
          <a:ln/>
        </p:spPr>
        <p:txBody>
          <a:bodyPr wrap="square" lIns="254" tIns="254" rIns="254" bIns="254" rtlCol="0" anchor="ctr">
            <a:normAutofit/>
          </a:bodyPr>
          <a:lstStyle/>
          <a:p>
            <a:pPr marL="0" indent="0">
              <a:buNone/>
            </a:pPr>
            <a:r>
              <a:rPr lang="en-US" sz="1320" dirty="0">
                <a:solidFill>
                  <a:srgbClr val="52657A"/>
                </a:solidFill>
              </a:rPr>
              <a:t>A stateless grounded Q&amp;A experience over the same Runbook and historical Incident evidence.</a:t>
            </a:r>
            <a:endParaRPr lang="en-US" sz="1320" dirty="0"/>
          </a:p>
        </p:txBody>
      </p:sp>
      <p:sp>
        <p:nvSpPr>
          <p:cNvPr id="12" name="Shape 10"/>
          <p:cNvSpPr/>
          <p:nvPr/>
        </p:nvSpPr>
        <p:spPr>
          <a:xfrm>
            <a:off x="914400" y="2487168"/>
            <a:ext cx="1417320" cy="566928"/>
          </a:xfrm>
          <a:prstGeom prst="roundRect">
            <a:avLst>
              <a:gd name="adj" fmla="val 12903"/>
            </a:avLst>
          </a:prstGeom>
          <a:solidFill>
            <a:srgbClr val="38BDF8"/>
          </a:solidFill>
          <a:ln w="12700">
            <a:solidFill>
              <a:srgbClr val="38BDF8">
                <a:alpha val="80000"/>
              </a:srgbClr>
            </a:solidFill>
            <a:prstDash val="solid"/>
          </a:ln>
          <a:effectLst>
            <a:outerShdw blurRad="15240" dist="50800" dir="2700000" algn="bl" rotWithShape="0">
              <a:srgbClr val="B8CDE0">
                <a:alpha val="11000"/>
              </a:srgbClr>
            </a:outerShdw>
          </a:effectLst>
        </p:spPr>
        <p:txBody>
          <a:bodyPr/>
          <a:lstStyle/>
          <a:p>
            <a:endParaRPr lang="en-GB"/>
          </a:p>
        </p:txBody>
      </p:sp>
      <p:sp>
        <p:nvSpPr>
          <p:cNvPr id="13" name="Text 11"/>
          <p:cNvSpPr/>
          <p:nvPr/>
        </p:nvSpPr>
        <p:spPr>
          <a:xfrm>
            <a:off x="987552" y="2596896"/>
            <a:ext cx="1271016" cy="243779"/>
          </a:xfrm>
          <a:prstGeom prst="rect">
            <a:avLst/>
          </a:prstGeom>
          <a:noFill/>
          <a:ln/>
        </p:spPr>
        <p:txBody>
          <a:bodyPr wrap="square" lIns="0" tIns="0" rIns="0" bIns="0" rtlCol="0" anchor="ctr">
            <a:normAutofit/>
          </a:bodyPr>
          <a:lstStyle/>
          <a:p>
            <a:pPr marL="0" indent="0" algn="ctr">
              <a:buNone/>
            </a:pPr>
            <a:r>
              <a:rPr lang="en-US" sz="1120" b="1" dirty="0">
                <a:solidFill>
                  <a:srgbClr val="FFFFFF"/>
                </a:solidFill>
                <a:latin typeface="Aptos Display" pitchFamily="34" charset="0"/>
                <a:ea typeface="Aptos Display" pitchFamily="34" charset="-122"/>
                <a:cs typeface="Aptos Display" pitchFamily="34" charset="-120"/>
              </a:rPr>
              <a:t>Question</a:t>
            </a:r>
            <a:endParaRPr lang="en-US" sz="1120" dirty="0"/>
          </a:p>
        </p:txBody>
      </p:sp>
      <p:sp>
        <p:nvSpPr>
          <p:cNvPr id="14" name="Text 12"/>
          <p:cNvSpPr/>
          <p:nvPr/>
        </p:nvSpPr>
        <p:spPr>
          <a:xfrm>
            <a:off x="996696" y="2810317"/>
            <a:ext cx="1252728" cy="158740"/>
          </a:xfrm>
          <a:prstGeom prst="rect">
            <a:avLst/>
          </a:prstGeom>
          <a:noFill/>
          <a:ln/>
        </p:spPr>
        <p:txBody>
          <a:bodyPr wrap="square" lIns="0" tIns="0" rIns="0" bIns="0" rtlCol="0" anchor="ctr">
            <a:normAutofit/>
          </a:bodyPr>
          <a:lstStyle/>
          <a:p>
            <a:pPr marL="0" indent="0" algn="ctr">
              <a:buNone/>
            </a:pPr>
            <a:r>
              <a:rPr lang="en-US" sz="710" dirty="0">
                <a:solidFill>
                  <a:srgbClr val="E0F2FE"/>
                </a:solidFill>
              </a:rPr>
              <a:t>current turn</a:t>
            </a:r>
            <a:endParaRPr lang="en-US" sz="710" dirty="0"/>
          </a:p>
        </p:txBody>
      </p:sp>
      <p:sp>
        <p:nvSpPr>
          <p:cNvPr id="15" name="Shape 13"/>
          <p:cNvSpPr/>
          <p:nvPr/>
        </p:nvSpPr>
        <p:spPr>
          <a:xfrm>
            <a:off x="3017520" y="2487168"/>
            <a:ext cx="1417320" cy="566928"/>
          </a:xfrm>
          <a:prstGeom prst="roundRect">
            <a:avLst>
              <a:gd name="adj" fmla="val 12903"/>
            </a:avLst>
          </a:prstGeom>
          <a:solidFill>
            <a:srgbClr val="22C55E"/>
          </a:solidFill>
          <a:ln w="12700">
            <a:solidFill>
              <a:srgbClr val="22C55E">
                <a:alpha val="80000"/>
              </a:srgbClr>
            </a:solidFill>
            <a:prstDash val="solid"/>
          </a:ln>
          <a:effectLst>
            <a:outerShdw blurRad="15240" dist="50800" dir="2700000" algn="bl" rotWithShape="0">
              <a:srgbClr val="B8CDE0">
                <a:alpha val="11000"/>
              </a:srgbClr>
            </a:outerShdw>
          </a:effectLst>
        </p:spPr>
        <p:txBody>
          <a:bodyPr/>
          <a:lstStyle/>
          <a:p>
            <a:endParaRPr lang="en-GB"/>
          </a:p>
        </p:txBody>
      </p:sp>
      <p:sp>
        <p:nvSpPr>
          <p:cNvPr id="16" name="Text 14"/>
          <p:cNvSpPr/>
          <p:nvPr/>
        </p:nvSpPr>
        <p:spPr>
          <a:xfrm>
            <a:off x="3090672" y="2596896"/>
            <a:ext cx="1271016" cy="243779"/>
          </a:xfrm>
          <a:prstGeom prst="rect">
            <a:avLst/>
          </a:prstGeom>
          <a:noFill/>
          <a:ln/>
        </p:spPr>
        <p:txBody>
          <a:bodyPr wrap="square" lIns="0" tIns="0" rIns="0" bIns="0" rtlCol="0" anchor="ctr">
            <a:normAutofit/>
          </a:bodyPr>
          <a:lstStyle/>
          <a:p>
            <a:pPr marL="0" indent="0" algn="ctr">
              <a:buNone/>
            </a:pPr>
            <a:r>
              <a:rPr lang="en-US" sz="1120" b="1" dirty="0">
                <a:solidFill>
                  <a:srgbClr val="FFFFFF"/>
                </a:solidFill>
                <a:latin typeface="Aptos Display" pitchFamily="34" charset="0"/>
                <a:ea typeface="Aptos Display" pitchFamily="34" charset="-122"/>
                <a:cs typeface="Aptos Display" pitchFamily="34" charset="-120"/>
              </a:rPr>
              <a:t>Retrieval</a:t>
            </a:r>
            <a:endParaRPr lang="en-US" sz="1120" dirty="0"/>
          </a:p>
        </p:txBody>
      </p:sp>
      <p:sp>
        <p:nvSpPr>
          <p:cNvPr id="17" name="Text 15"/>
          <p:cNvSpPr/>
          <p:nvPr/>
        </p:nvSpPr>
        <p:spPr>
          <a:xfrm>
            <a:off x="3099816" y="2810317"/>
            <a:ext cx="1252728" cy="158740"/>
          </a:xfrm>
          <a:prstGeom prst="rect">
            <a:avLst/>
          </a:prstGeom>
          <a:noFill/>
          <a:ln/>
        </p:spPr>
        <p:txBody>
          <a:bodyPr wrap="square" lIns="0" tIns="0" rIns="0" bIns="0" rtlCol="0" anchor="ctr">
            <a:normAutofit/>
          </a:bodyPr>
          <a:lstStyle/>
          <a:p>
            <a:pPr marL="0" indent="0" algn="ctr">
              <a:buNone/>
            </a:pPr>
            <a:r>
              <a:rPr lang="en-US" sz="710" dirty="0">
                <a:solidFill>
                  <a:srgbClr val="E0F2FE"/>
                </a:solidFill>
              </a:rPr>
              <a:t>HI + RB evidence</a:t>
            </a:r>
            <a:endParaRPr lang="en-US" sz="710" dirty="0"/>
          </a:p>
        </p:txBody>
      </p:sp>
      <p:sp>
        <p:nvSpPr>
          <p:cNvPr id="18" name="Shape 16"/>
          <p:cNvSpPr/>
          <p:nvPr/>
        </p:nvSpPr>
        <p:spPr>
          <a:xfrm>
            <a:off x="5120640" y="2487168"/>
            <a:ext cx="1417320" cy="566928"/>
          </a:xfrm>
          <a:prstGeom prst="roundRect">
            <a:avLst>
              <a:gd name="adj" fmla="val 12903"/>
            </a:avLst>
          </a:prstGeom>
          <a:solidFill>
            <a:srgbClr val="7C3AED"/>
          </a:solidFill>
          <a:ln w="12700">
            <a:solidFill>
              <a:srgbClr val="7C3AED">
                <a:alpha val="80000"/>
              </a:srgbClr>
            </a:solidFill>
            <a:prstDash val="solid"/>
          </a:ln>
          <a:effectLst>
            <a:outerShdw blurRad="15240" dist="50800" dir="2700000" algn="bl" rotWithShape="0">
              <a:srgbClr val="B8CDE0">
                <a:alpha val="11000"/>
              </a:srgbClr>
            </a:outerShdw>
          </a:effectLst>
        </p:spPr>
        <p:txBody>
          <a:bodyPr/>
          <a:lstStyle/>
          <a:p>
            <a:endParaRPr lang="en-GB"/>
          </a:p>
        </p:txBody>
      </p:sp>
      <p:sp>
        <p:nvSpPr>
          <p:cNvPr id="19" name="Text 17"/>
          <p:cNvSpPr/>
          <p:nvPr/>
        </p:nvSpPr>
        <p:spPr>
          <a:xfrm>
            <a:off x="5193792" y="2596896"/>
            <a:ext cx="1271016" cy="243779"/>
          </a:xfrm>
          <a:prstGeom prst="rect">
            <a:avLst/>
          </a:prstGeom>
          <a:noFill/>
          <a:ln/>
        </p:spPr>
        <p:txBody>
          <a:bodyPr wrap="square" lIns="0" tIns="0" rIns="0" bIns="0" rtlCol="0" anchor="ctr">
            <a:normAutofit/>
          </a:bodyPr>
          <a:lstStyle/>
          <a:p>
            <a:pPr marL="0" indent="0" algn="ctr">
              <a:buNone/>
            </a:pPr>
            <a:r>
              <a:rPr lang="en-US" sz="1120" b="1" dirty="0">
                <a:solidFill>
                  <a:srgbClr val="FFFFFF"/>
                </a:solidFill>
                <a:latin typeface="Aptos Display" pitchFamily="34" charset="0"/>
                <a:ea typeface="Aptos Display" pitchFamily="34" charset="-122"/>
                <a:cs typeface="Aptos Display" pitchFamily="34" charset="-120"/>
              </a:rPr>
              <a:t>Azure AI</a:t>
            </a:r>
            <a:endParaRPr lang="en-US" sz="1120" dirty="0"/>
          </a:p>
        </p:txBody>
      </p:sp>
      <p:sp>
        <p:nvSpPr>
          <p:cNvPr id="20" name="Text 18"/>
          <p:cNvSpPr/>
          <p:nvPr/>
        </p:nvSpPr>
        <p:spPr>
          <a:xfrm>
            <a:off x="5202936" y="2810317"/>
            <a:ext cx="1252728" cy="158740"/>
          </a:xfrm>
          <a:prstGeom prst="rect">
            <a:avLst/>
          </a:prstGeom>
          <a:noFill/>
          <a:ln/>
        </p:spPr>
        <p:txBody>
          <a:bodyPr wrap="square" lIns="0" tIns="0" rIns="0" bIns="0" rtlCol="0" anchor="ctr">
            <a:normAutofit/>
          </a:bodyPr>
          <a:lstStyle/>
          <a:p>
            <a:pPr marL="0" indent="0" algn="ctr">
              <a:buNone/>
            </a:pPr>
            <a:r>
              <a:rPr lang="en-US" sz="710" dirty="0">
                <a:solidFill>
                  <a:srgbClr val="E0F2FE"/>
                </a:solidFill>
              </a:rPr>
              <a:t>structured answer</a:t>
            </a:r>
            <a:endParaRPr lang="en-US" sz="710" dirty="0"/>
          </a:p>
        </p:txBody>
      </p:sp>
      <p:sp>
        <p:nvSpPr>
          <p:cNvPr id="21" name="Shape 19"/>
          <p:cNvSpPr/>
          <p:nvPr/>
        </p:nvSpPr>
        <p:spPr>
          <a:xfrm>
            <a:off x="7223760" y="2487168"/>
            <a:ext cx="1417320" cy="566928"/>
          </a:xfrm>
          <a:prstGeom prst="roundRect">
            <a:avLst>
              <a:gd name="adj" fmla="val 12903"/>
            </a:avLst>
          </a:prstGeom>
          <a:solidFill>
            <a:srgbClr val="FBBF24"/>
          </a:solidFill>
          <a:ln w="12700">
            <a:solidFill>
              <a:srgbClr val="FBBF24">
                <a:alpha val="80000"/>
              </a:srgbClr>
            </a:solidFill>
            <a:prstDash val="solid"/>
          </a:ln>
          <a:effectLst>
            <a:outerShdw blurRad="15240" dist="50800" dir="2700000" algn="bl" rotWithShape="0">
              <a:srgbClr val="B8CDE0">
                <a:alpha val="11000"/>
              </a:srgbClr>
            </a:outerShdw>
          </a:effectLst>
        </p:spPr>
        <p:txBody>
          <a:bodyPr/>
          <a:lstStyle/>
          <a:p>
            <a:endParaRPr lang="en-GB"/>
          </a:p>
        </p:txBody>
      </p:sp>
      <p:sp>
        <p:nvSpPr>
          <p:cNvPr id="22" name="Text 20"/>
          <p:cNvSpPr/>
          <p:nvPr/>
        </p:nvSpPr>
        <p:spPr>
          <a:xfrm>
            <a:off x="7296912" y="2596896"/>
            <a:ext cx="1271016" cy="243779"/>
          </a:xfrm>
          <a:prstGeom prst="rect">
            <a:avLst/>
          </a:prstGeom>
          <a:noFill/>
          <a:ln/>
        </p:spPr>
        <p:txBody>
          <a:bodyPr wrap="square" lIns="0" tIns="0" rIns="0" bIns="0" rtlCol="0" anchor="ctr">
            <a:normAutofit/>
          </a:bodyPr>
          <a:lstStyle/>
          <a:p>
            <a:pPr marL="0" indent="0" algn="ctr">
              <a:buNone/>
            </a:pPr>
            <a:r>
              <a:rPr lang="en-US" sz="1120" b="1" dirty="0">
                <a:solidFill>
                  <a:srgbClr val="0B1F33"/>
                </a:solidFill>
                <a:latin typeface="Aptos Display" pitchFamily="34" charset="0"/>
                <a:ea typeface="Aptos Display" pitchFamily="34" charset="-122"/>
                <a:cs typeface="Aptos Display" pitchFamily="34" charset="-120"/>
              </a:rPr>
              <a:t>Response</a:t>
            </a:r>
            <a:endParaRPr lang="en-US" sz="1120" dirty="0"/>
          </a:p>
        </p:txBody>
      </p:sp>
      <p:sp>
        <p:nvSpPr>
          <p:cNvPr id="23" name="Text 21"/>
          <p:cNvSpPr/>
          <p:nvPr/>
        </p:nvSpPr>
        <p:spPr>
          <a:xfrm>
            <a:off x="7306056" y="2810317"/>
            <a:ext cx="1252728" cy="158740"/>
          </a:xfrm>
          <a:prstGeom prst="rect">
            <a:avLst/>
          </a:prstGeom>
          <a:noFill/>
          <a:ln/>
        </p:spPr>
        <p:txBody>
          <a:bodyPr wrap="square" lIns="0" tIns="0" rIns="0" bIns="0" rtlCol="0" anchor="ctr">
            <a:normAutofit/>
          </a:bodyPr>
          <a:lstStyle/>
          <a:p>
            <a:pPr marL="0" indent="0" algn="ctr">
              <a:buNone/>
            </a:pPr>
            <a:r>
              <a:rPr lang="en-US" sz="710" dirty="0">
                <a:solidFill>
                  <a:srgbClr val="0B1F33"/>
                </a:solidFill>
              </a:rPr>
              <a:t>evidence scoped</a:t>
            </a:r>
            <a:endParaRPr lang="en-US" sz="710" dirty="0"/>
          </a:p>
        </p:txBody>
      </p:sp>
      <p:sp>
        <p:nvSpPr>
          <p:cNvPr id="24" name="Shape 22"/>
          <p:cNvSpPr/>
          <p:nvPr/>
        </p:nvSpPr>
        <p:spPr>
          <a:xfrm>
            <a:off x="2331720" y="2770632"/>
            <a:ext cx="685800" cy="0"/>
          </a:xfrm>
          <a:prstGeom prst="line">
            <a:avLst/>
          </a:prstGeom>
          <a:noFill/>
          <a:ln w="15240">
            <a:solidFill>
              <a:srgbClr val="06B6D4"/>
            </a:solidFill>
            <a:prstDash val="solid"/>
            <a:headEnd type="none"/>
            <a:tailEnd type="triangle"/>
          </a:ln>
        </p:spPr>
        <p:txBody>
          <a:bodyPr/>
          <a:lstStyle/>
          <a:p>
            <a:endParaRPr lang="en-GB"/>
          </a:p>
        </p:txBody>
      </p:sp>
      <p:sp>
        <p:nvSpPr>
          <p:cNvPr id="25" name="Shape 23"/>
          <p:cNvSpPr/>
          <p:nvPr/>
        </p:nvSpPr>
        <p:spPr>
          <a:xfrm>
            <a:off x="4434840" y="2770632"/>
            <a:ext cx="685800" cy="0"/>
          </a:xfrm>
          <a:prstGeom prst="line">
            <a:avLst/>
          </a:prstGeom>
          <a:noFill/>
          <a:ln w="15240">
            <a:solidFill>
              <a:srgbClr val="06B6D4"/>
            </a:solidFill>
            <a:prstDash val="solid"/>
            <a:headEnd type="none"/>
            <a:tailEnd type="triangle"/>
          </a:ln>
        </p:spPr>
        <p:txBody>
          <a:bodyPr/>
          <a:lstStyle/>
          <a:p>
            <a:endParaRPr lang="en-GB"/>
          </a:p>
        </p:txBody>
      </p:sp>
      <p:sp>
        <p:nvSpPr>
          <p:cNvPr id="26" name="Shape 24"/>
          <p:cNvSpPr/>
          <p:nvPr/>
        </p:nvSpPr>
        <p:spPr>
          <a:xfrm>
            <a:off x="6537960" y="2770632"/>
            <a:ext cx="685800" cy="0"/>
          </a:xfrm>
          <a:prstGeom prst="line">
            <a:avLst/>
          </a:prstGeom>
          <a:noFill/>
          <a:ln w="15240">
            <a:solidFill>
              <a:srgbClr val="06B6D4"/>
            </a:solidFill>
            <a:prstDash val="solid"/>
            <a:headEnd type="none"/>
            <a:tailEnd type="triangle"/>
          </a:ln>
        </p:spPr>
        <p:txBody>
          <a:bodyPr/>
          <a:lstStyle/>
          <a:p>
            <a:endParaRPr lang="en-GB"/>
          </a:p>
        </p:txBody>
      </p:sp>
      <p:sp>
        <p:nvSpPr>
          <p:cNvPr id="27" name="Shape 25"/>
          <p:cNvSpPr/>
          <p:nvPr/>
        </p:nvSpPr>
        <p:spPr>
          <a:xfrm>
            <a:off x="914400" y="4251960"/>
            <a:ext cx="2926080" cy="987552"/>
          </a:xfrm>
          <a:prstGeom prst="roundRect">
            <a:avLst>
              <a:gd name="adj" fmla="val 11111"/>
            </a:avLst>
          </a:prstGeom>
          <a:solidFill>
            <a:srgbClr val="FFFFFF"/>
          </a:solidFill>
          <a:ln w="12700">
            <a:solidFill>
              <a:srgbClr val="C9DCEB">
                <a:alpha val="85000"/>
              </a:srgbClr>
            </a:solidFill>
            <a:prstDash val="solid"/>
          </a:ln>
          <a:effectLst>
            <a:outerShdw blurRad="19050" dist="50800" dir="2700000" algn="bl" rotWithShape="0">
              <a:srgbClr val="B9CFE0">
                <a:alpha val="13000"/>
              </a:srgbClr>
            </a:outerShdw>
          </a:effectLst>
        </p:spPr>
        <p:txBody>
          <a:bodyPr/>
          <a:lstStyle/>
          <a:p>
            <a:endParaRPr lang="en-GB"/>
          </a:p>
        </p:txBody>
      </p:sp>
      <p:sp>
        <p:nvSpPr>
          <p:cNvPr id="28" name="Shape 26"/>
          <p:cNvSpPr/>
          <p:nvPr/>
        </p:nvSpPr>
        <p:spPr>
          <a:xfrm>
            <a:off x="914400" y="4251960"/>
            <a:ext cx="73152" cy="987552"/>
          </a:xfrm>
          <a:prstGeom prst="rect">
            <a:avLst/>
          </a:prstGeom>
          <a:solidFill>
            <a:srgbClr val="2563EB"/>
          </a:solidFill>
          <a:ln w="12700">
            <a:solidFill>
              <a:srgbClr val="2563EB">
                <a:alpha val="0"/>
              </a:srgbClr>
            </a:solidFill>
            <a:prstDash val="solid"/>
          </a:ln>
        </p:spPr>
        <p:txBody>
          <a:bodyPr/>
          <a:lstStyle/>
          <a:p>
            <a:endParaRPr lang="en-GB"/>
          </a:p>
        </p:txBody>
      </p:sp>
      <p:sp>
        <p:nvSpPr>
          <p:cNvPr id="29" name="Text 27"/>
          <p:cNvSpPr/>
          <p:nvPr/>
        </p:nvSpPr>
        <p:spPr>
          <a:xfrm>
            <a:off x="1133856" y="4416552"/>
            <a:ext cx="2578608" cy="274320"/>
          </a:xfrm>
          <a:prstGeom prst="rect">
            <a:avLst/>
          </a:prstGeom>
          <a:noFill/>
          <a:ln/>
        </p:spPr>
        <p:txBody>
          <a:bodyPr wrap="square" lIns="0" tIns="0" rIns="0" bIns="0" rtlCol="0" anchor="ctr">
            <a:normAutofit/>
          </a:bodyPr>
          <a:lstStyle/>
          <a:p>
            <a:pPr marL="0" indent="0">
              <a:buNone/>
            </a:pPr>
            <a:r>
              <a:rPr lang="en-US" sz="1200" b="1" dirty="0">
                <a:solidFill>
                  <a:srgbClr val="0B1F33"/>
                </a:solidFill>
                <a:latin typeface="Aptos Display" pitchFamily="34" charset="0"/>
                <a:ea typeface="Aptos Display" pitchFamily="34" charset="-122"/>
                <a:cs typeface="Aptos Display" pitchFamily="34" charset="-120"/>
              </a:rPr>
              <a:t>Conversation continuity</a:t>
            </a:r>
            <a:endParaRPr lang="en-US" sz="1200" dirty="0"/>
          </a:p>
        </p:txBody>
      </p:sp>
      <p:sp>
        <p:nvSpPr>
          <p:cNvPr id="30" name="Text 28"/>
          <p:cNvSpPr/>
          <p:nvPr/>
        </p:nvSpPr>
        <p:spPr>
          <a:xfrm>
            <a:off x="1133856" y="4818888"/>
            <a:ext cx="2578608" cy="274320"/>
          </a:xfrm>
          <a:prstGeom prst="rect">
            <a:avLst/>
          </a:prstGeom>
          <a:noFill/>
          <a:ln/>
        </p:spPr>
        <p:txBody>
          <a:bodyPr wrap="square" lIns="0" tIns="0" rIns="0" bIns="0" rtlCol="0" anchor="ctr">
            <a:normAutofit lnSpcReduction="10000"/>
          </a:bodyPr>
          <a:lstStyle/>
          <a:p>
            <a:pPr marL="0" indent="0">
              <a:buNone/>
            </a:pPr>
            <a:r>
              <a:rPr lang="en-US" sz="980" dirty="0">
                <a:solidFill>
                  <a:srgbClr val="52657A"/>
                </a:solidFill>
              </a:rPr>
              <a:t>Recent browser-held turns help follow-up wording, but are not grounding evidence.</a:t>
            </a:r>
            <a:endParaRPr lang="en-US" sz="980" dirty="0"/>
          </a:p>
        </p:txBody>
      </p:sp>
      <p:sp>
        <p:nvSpPr>
          <p:cNvPr id="31" name="Shape 29"/>
          <p:cNvSpPr/>
          <p:nvPr/>
        </p:nvSpPr>
        <p:spPr>
          <a:xfrm>
            <a:off x="4160520" y="4251960"/>
            <a:ext cx="2926080" cy="987552"/>
          </a:xfrm>
          <a:prstGeom prst="roundRect">
            <a:avLst>
              <a:gd name="adj" fmla="val 11111"/>
            </a:avLst>
          </a:prstGeom>
          <a:solidFill>
            <a:srgbClr val="FFFFFF"/>
          </a:solidFill>
          <a:ln w="12700">
            <a:solidFill>
              <a:srgbClr val="C9DCEB">
                <a:alpha val="85000"/>
              </a:srgbClr>
            </a:solidFill>
            <a:prstDash val="solid"/>
          </a:ln>
          <a:effectLst>
            <a:outerShdw blurRad="19050" dist="50800" dir="2700000" algn="bl" rotWithShape="0">
              <a:srgbClr val="B9CFE0">
                <a:alpha val="13000"/>
              </a:srgbClr>
            </a:outerShdw>
          </a:effectLst>
        </p:spPr>
        <p:txBody>
          <a:bodyPr/>
          <a:lstStyle/>
          <a:p>
            <a:endParaRPr lang="en-GB"/>
          </a:p>
        </p:txBody>
      </p:sp>
      <p:sp>
        <p:nvSpPr>
          <p:cNvPr id="32" name="Shape 30"/>
          <p:cNvSpPr/>
          <p:nvPr/>
        </p:nvSpPr>
        <p:spPr>
          <a:xfrm>
            <a:off x="4160520" y="4251960"/>
            <a:ext cx="73152" cy="987552"/>
          </a:xfrm>
          <a:prstGeom prst="rect">
            <a:avLst/>
          </a:prstGeom>
          <a:solidFill>
            <a:srgbClr val="14B8A6"/>
          </a:solidFill>
          <a:ln w="12700">
            <a:solidFill>
              <a:srgbClr val="14B8A6">
                <a:alpha val="0"/>
              </a:srgbClr>
            </a:solidFill>
            <a:prstDash val="solid"/>
          </a:ln>
        </p:spPr>
        <p:txBody>
          <a:bodyPr/>
          <a:lstStyle/>
          <a:p>
            <a:endParaRPr lang="en-GB"/>
          </a:p>
        </p:txBody>
      </p:sp>
      <p:sp>
        <p:nvSpPr>
          <p:cNvPr id="33" name="Text 31"/>
          <p:cNvSpPr/>
          <p:nvPr/>
        </p:nvSpPr>
        <p:spPr>
          <a:xfrm>
            <a:off x="4379976" y="4416552"/>
            <a:ext cx="2578608" cy="274320"/>
          </a:xfrm>
          <a:prstGeom prst="rect">
            <a:avLst/>
          </a:prstGeom>
          <a:noFill/>
          <a:ln/>
        </p:spPr>
        <p:txBody>
          <a:bodyPr wrap="square" lIns="0" tIns="0" rIns="0" bIns="0" rtlCol="0" anchor="ctr">
            <a:normAutofit/>
          </a:bodyPr>
          <a:lstStyle/>
          <a:p>
            <a:pPr marL="0" indent="0">
              <a:buNone/>
            </a:pPr>
            <a:r>
              <a:rPr lang="en-US" sz="1200" b="1" dirty="0">
                <a:solidFill>
                  <a:srgbClr val="0B1F33"/>
                </a:solidFill>
                <a:latin typeface="Aptos Display" pitchFamily="34" charset="0"/>
                <a:ea typeface="Aptos Display" pitchFamily="34" charset="-122"/>
                <a:cs typeface="Aptos Display" pitchFamily="34" charset="-120"/>
              </a:rPr>
              <a:t>Answer-scoped evidence</a:t>
            </a:r>
            <a:endParaRPr lang="en-US" sz="1200" dirty="0"/>
          </a:p>
        </p:txBody>
      </p:sp>
      <p:sp>
        <p:nvSpPr>
          <p:cNvPr id="34" name="Text 32"/>
          <p:cNvSpPr/>
          <p:nvPr/>
        </p:nvSpPr>
        <p:spPr>
          <a:xfrm>
            <a:off x="4379976" y="4818888"/>
            <a:ext cx="2578608" cy="274320"/>
          </a:xfrm>
          <a:prstGeom prst="rect">
            <a:avLst/>
          </a:prstGeom>
          <a:noFill/>
          <a:ln/>
        </p:spPr>
        <p:txBody>
          <a:bodyPr wrap="square" lIns="0" tIns="0" rIns="0" bIns="0" rtlCol="0" anchor="ctr">
            <a:normAutofit lnSpcReduction="10000"/>
          </a:bodyPr>
          <a:lstStyle/>
          <a:p>
            <a:pPr marL="0" indent="0">
              <a:buNone/>
            </a:pPr>
            <a:r>
              <a:rPr lang="en-US" sz="980" dirty="0">
                <a:solidFill>
                  <a:srgbClr val="52657A"/>
                </a:solidFill>
              </a:rPr>
              <a:t>Returned references only apply to the response that retrieved them.</a:t>
            </a:r>
            <a:endParaRPr lang="en-US" sz="980" dirty="0"/>
          </a:p>
        </p:txBody>
      </p:sp>
      <p:sp>
        <p:nvSpPr>
          <p:cNvPr id="35" name="Shape 33"/>
          <p:cNvSpPr/>
          <p:nvPr/>
        </p:nvSpPr>
        <p:spPr>
          <a:xfrm>
            <a:off x="7406640" y="4251960"/>
            <a:ext cx="2926080" cy="987552"/>
          </a:xfrm>
          <a:prstGeom prst="roundRect">
            <a:avLst>
              <a:gd name="adj" fmla="val 11111"/>
            </a:avLst>
          </a:prstGeom>
          <a:solidFill>
            <a:srgbClr val="FFFFFF"/>
          </a:solidFill>
          <a:ln w="12700">
            <a:solidFill>
              <a:srgbClr val="C9DCEB">
                <a:alpha val="85000"/>
              </a:srgbClr>
            </a:solidFill>
            <a:prstDash val="solid"/>
          </a:ln>
          <a:effectLst>
            <a:outerShdw blurRad="19050" dist="50800" dir="2700000" algn="bl" rotWithShape="0">
              <a:srgbClr val="B9CFE0">
                <a:alpha val="13000"/>
              </a:srgbClr>
            </a:outerShdw>
          </a:effectLst>
        </p:spPr>
        <p:txBody>
          <a:bodyPr/>
          <a:lstStyle/>
          <a:p>
            <a:endParaRPr lang="en-GB"/>
          </a:p>
        </p:txBody>
      </p:sp>
      <p:sp>
        <p:nvSpPr>
          <p:cNvPr id="36" name="Shape 34"/>
          <p:cNvSpPr/>
          <p:nvPr/>
        </p:nvSpPr>
        <p:spPr>
          <a:xfrm>
            <a:off x="7406640" y="4251960"/>
            <a:ext cx="73152" cy="987552"/>
          </a:xfrm>
          <a:prstGeom prst="rect">
            <a:avLst/>
          </a:prstGeom>
          <a:solidFill>
            <a:srgbClr val="7C3AED"/>
          </a:solidFill>
          <a:ln w="12700">
            <a:solidFill>
              <a:srgbClr val="7C3AED">
                <a:alpha val="0"/>
              </a:srgbClr>
            </a:solidFill>
            <a:prstDash val="solid"/>
          </a:ln>
        </p:spPr>
        <p:txBody>
          <a:bodyPr/>
          <a:lstStyle/>
          <a:p>
            <a:endParaRPr lang="en-GB"/>
          </a:p>
        </p:txBody>
      </p:sp>
      <p:sp>
        <p:nvSpPr>
          <p:cNvPr id="37" name="Text 35"/>
          <p:cNvSpPr/>
          <p:nvPr/>
        </p:nvSpPr>
        <p:spPr>
          <a:xfrm>
            <a:off x="7626096" y="4416552"/>
            <a:ext cx="2578608" cy="274320"/>
          </a:xfrm>
          <a:prstGeom prst="rect">
            <a:avLst/>
          </a:prstGeom>
          <a:noFill/>
          <a:ln/>
        </p:spPr>
        <p:txBody>
          <a:bodyPr wrap="square" lIns="0" tIns="0" rIns="0" bIns="0" rtlCol="0" anchor="ctr">
            <a:normAutofit/>
          </a:bodyPr>
          <a:lstStyle/>
          <a:p>
            <a:pPr marL="0" indent="0">
              <a:buNone/>
            </a:pPr>
            <a:r>
              <a:rPr lang="en-US" sz="1200" b="1" dirty="0">
                <a:solidFill>
                  <a:srgbClr val="0B1F33"/>
                </a:solidFill>
                <a:latin typeface="Aptos Display" pitchFamily="34" charset="0"/>
                <a:ea typeface="Aptos Display" pitchFamily="34" charset="-122"/>
                <a:cs typeface="Aptos Display" pitchFamily="34" charset="-120"/>
              </a:rPr>
              <a:t>No backend history</a:t>
            </a:r>
            <a:endParaRPr lang="en-US" sz="1200" dirty="0"/>
          </a:p>
        </p:txBody>
      </p:sp>
      <p:sp>
        <p:nvSpPr>
          <p:cNvPr id="38" name="Text 36"/>
          <p:cNvSpPr/>
          <p:nvPr/>
        </p:nvSpPr>
        <p:spPr>
          <a:xfrm>
            <a:off x="7626096" y="4818888"/>
            <a:ext cx="2578608" cy="274320"/>
          </a:xfrm>
          <a:prstGeom prst="rect">
            <a:avLst/>
          </a:prstGeom>
          <a:noFill/>
          <a:ln/>
        </p:spPr>
        <p:txBody>
          <a:bodyPr wrap="square" lIns="0" tIns="0" rIns="0" bIns="0" rtlCol="0" anchor="ctr">
            <a:normAutofit lnSpcReduction="10000"/>
          </a:bodyPr>
          <a:lstStyle/>
          <a:p>
            <a:pPr marL="0" indent="0">
              <a:buNone/>
            </a:pPr>
            <a:r>
              <a:rPr lang="en-US" sz="980" dirty="0">
                <a:solidFill>
                  <a:srgbClr val="52657A"/>
                </a:solidFill>
              </a:rPr>
              <a:t>The initial implementation avoids retention and ownership complexity.</a:t>
            </a:r>
            <a:endParaRPr lang="en-US" sz="98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BFF"/>
        </a:solidFill>
        <a:effectLst/>
      </p:bgPr>
    </p:bg>
    <p:spTree>
      <p:nvGrpSpPr>
        <p:cNvPr id="1" name=""/>
        <p:cNvGrpSpPr/>
        <p:nvPr/>
      </p:nvGrpSpPr>
      <p:grpSpPr>
        <a:xfrm>
          <a:off x="0" y="0"/>
          <a:ext cx="0" cy="0"/>
          <a:chOff x="0" y="0"/>
          <a:chExt cx="0" cy="0"/>
        </a:xfrm>
      </p:grpSpPr>
      <p:sp>
        <p:nvSpPr>
          <p:cNvPr id="2" name="Shape 0"/>
          <p:cNvSpPr/>
          <p:nvPr/>
        </p:nvSpPr>
        <p:spPr>
          <a:xfrm>
            <a:off x="-1143000" y="-1143000"/>
            <a:ext cx="3749040" cy="3749040"/>
          </a:xfrm>
          <a:prstGeom prst="arc">
            <a:avLst/>
          </a:prstGeom>
          <a:solidFill>
            <a:srgbClr val="E6FFFA">
              <a:alpha val="94000"/>
            </a:srgbClr>
          </a:solidFill>
          <a:ln w="12700">
            <a:solidFill>
              <a:srgbClr val="E6FFFA">
                <a:alpha val="0"/>
              </a:srgbClr>
            </a:solidFill>
            <a:prstDash val="solid"/>
          </a:ln>
        </p:spPr>
        <p:txBody>
          <a:bodyPr/>
          <a:lstStyle/>
          <a:p>
            <a:endParaRPr lang="en-GB"/>
          </a:p>
        </p:txBody>
      </p:sp>
      <p:sp>
        <p:nvSpPr>
          <p:cNvPr id="3" name="Shape 1"/>
          <p:cNvSpPr/>
          <p:nvPr/>
        </p:nvSpPr>
        <p:spPr>
          <a:xfrm>
            <a:off x="10012680" y="-685800"/>
            <a:ext cx="2926080" cy="2926080"/>
          </a:xfrm>
          <a:prstGeom prst="ellipse">
            <a:avLst/>
          </a:prstGeom>
          <a:solidFill>
            <a:srgbClr val="EAF5FF">
              <a:alpha val="95000"/>
            </a:srgbClr>
          </a:solidFill>
          <a:ln w="12700">
            <a:solidFill>
              <a:srgbClr val="EAF5FF">
                <a:alpha val="0"/>
              </a:srgbClr>
            </a:solidFill>
            <a:prstDash val="solid"/>
          </a:ln>
        </p:spPr>
        <p:txBody>
          <a:bodyPr/>
          <a:lstStyle/>
          <a:p>
            <a:endParaRPr lang="en-GB"/>
          </a:p>
        </p:txBody>
      </p:sp>
      <p:sp>
        <p:nvSpPr>
          <p:cNvPr id="4" name="Shape 2"/>
          <p:cNvSpPr/>
          <p:nvPr/>
        </p:nvSpPr>
        <p:spPr>
          <a:xfrm>
            <a:off x="10652760" y="5120640"/>
            <a:ext cx="2011680" cy="2011680"/>
          </a:xfrm>
          <a:prstGeom prst="ellipse">
            <a:avLst/>
          </a:prstGeom>
          <a:solidFill>
            <a:srgbClr val="E6FFFA">
              <a:alpha val="76000"/>
            </a:srgbClr>
          </a:solidFill>
          <a:ln w="12700">
            <a:solidFill>
              <a:srgbClr val="E6FFFA">
                <a:alpha val="0"/>
              </a:srgbClr>
            </a:solidFill>
            <a:prstDash val="solid"/>
          </a:ln>
        </p:spPr>
        <p:txBody>
          <a:bodyPr/>
          <a:lstStyle/>
          <a:p>
            <a:endParaRPr lang="en-GB"/>
          </a:p>
        </p:txBody>
      </p:sp>
      <p:sp>
        <p:nvSpPr>
          <p:cNvPr id="5" name="Shape 3"/>
          <p:cNvSpPr/>
          <p:nvPr/>
        </p:nvSpPr>
        <p:spPr>
          <a:xfrm>
            <a:off x="0" y="0"/>
            <a:ext cx="12191695" cy="100584"/>
          </a:xfrm>
          <a:prstGeom prst="rect">
            <a:avLst/>
          </a:prstGeom>
          <a:solidFill>
            <a:srgbClr val="14B8A6"/>
          </a:solidFill>
          <a:ln w="12700">
            <a:solidFill>
              <a:srgbClr val="14B8A6">
                <a:alpha val="0"/>
              </a:srgbClr>
            </a:solidFill>
            <a:prstDash val="solid"/>
          </a:ln>
        </p:spPr>
        <p:txBody>
          <a:bodyPr/>
          <a:lstStyle/>
          <a:p>
            <a:endParaRPr lang="en-GB"/>
          </a:p>
        </p:txBody>
      </p:sp>
      <p:sp>
        <p:nvSpPr>
          <p:cNvPr id="6" name="Text 4"/>
          <p:cNvSpPr/>
          <p:nvPr/>
        </p:nvSpPr>
        <p:spPr>
          <a:xfrm>
            <a:off x="548640" y="6336792"/>
            <a:ext cx="1828800" cy="201168"/>
          </a:xfrm>
          <a:prstGeom prst="rect">
            <a:avLst/>
          </a:prstGeom>
          <a:noFill/>
          <a:ln/>
        </p:spPr>
        <p:txBody>
          <a:bodyPr wrap="square" lIns="0" tIns="0" rIns="0" bIns="0" rtlCol="0" anchor="ctr"/>
          <a:lstStyle/>
          <a:p>
            <a:pPr marL="0" indent="0">
              <a:buNone/>
            </a:pPr>
            <a:r>
              <a:rPr lang="en-US" sz="850" b="1" dirty="0">
                <a:solidFill>
                  <a:srgbClr val="12355B"/>
                </a:solidFill>
              </a:rPr>
              <a:t>IncidentIQ</a:t>
            </a:r>
            <a:endParaRPr lang="en-US" sz="850" dirty="0"/>
          </a:p>
        </p:txBody>
      </p:sp>
      <p:sp>
        <p:nvSpPr>
          <p:cNvPr id="7" name="Text 5"/>
          <p:cNvSpPr/>
          <p:nvPr/>
        </p:nvSpPr>
        <p:spPr>
          <a:xfrm>
            <a:off x="1874520" y="6336792"/>
            <a:ext cx="4572000" cy="201168"/>
          </a:xfrm>
          <a:prstGeom prst="rect">
            <a:avLst/>
          </a:prstGeom>
          <a:noFill/>
          <a:ln/>
        </p:spPr>
        <p:txBody>
          <a:bodyPr wrap="square" lIns="0" tIns="0" rIns="0" bIns="0" rtlCol="0" anchor="ctr"/>
          <a:lstStyle/>
          <a:p>
            <a:pPr marL="0" indent="0">
              <a:buNone/>
            </a:pPr>
            <a:r>
              <a:rPr lang="en-US" sz="850" dirty="0">
                <a:solidFill>
                  <a:srgbClr val="64748B"/>
                </a:solidFill>
              </a:rPr>
              <a:t>Runbooks &amp; retrieval</a:t>
            </a:r>
            <a:endParaRPr lang="en-US" sz="850" dirty="0"/>
          </a:p>
        </p:txBody>
      </p:sp>
      <p:sp>
        <p:nvSpPr>
          <p:cNvPr id="8" name="Text 6"/>
          <p:cNvSpPr/>
          <p:nvPr/>
        </p:nvSpPr>
        <p:spPr>
          <a:xfrm>
            <a:off x="11155680" y="6291072"/>
            <a:ext cx="457200" cy="228600"/>
          </a:xfrm>
          <a:prstGeom prst="rect">
            <a:avLst/>
          </a:prstGeom>
          <a:noFill/>
          <a:ln/>
        </p:spPr>
        <p:txBody>
          <a:bodyPr wrap="square" lIns="0" tIns="0" rIns="0" bIns="0" rtlCol="0" anchor="ctr"/>
          <a:lstStyle/>
          <a:p>
            <a:pPr marL="0" indent="0" algn="r">
              <a:buNone/>
            </a:pPr>
            <a:r>
              <a:rPr lang="en-US" sz="850" b="1" dirty="0">
                <a:solidFill>
                  <a:srgbClr val="14B8A6"/>
                </a:solidFill>
              </a:rPr>
              <a:t>10</a:t>
            </a:r>
            <a:endParaRPr lang="en-US" sz="850" dirty="0"/>
          </a:p>
        </p:txBody>
      </p:sp>
      <p:sp>
        <p:nvSpPr>
          <p:cNvPr id="9" name="Text 7"/>
          <p:cNvSpPr/>
          <p:nvPr/>
        </p:nvSpPr>
        <p:spPr>
          <a:xfrm>
            <a:off x="685800" y="603504"/>
            <a:ext cx="5486400" cy="219456"/>
          </a:xfrm>
          <a:prstGeom prst="rect">
            <a:avLst/>
          </a:prstGeom>
          <a:noFill/>
          <a:ln/>
        </p:spPr>
        <p:txBody>
          <a:bodyPr wrap="square" lIns="0" tIns="0" rIns="0" bIns="0" rtlCol="0" anchor="ctr"/>
          <a:lstStyle/>
          <a:p>
            <a:pPr marL="0" indent="0">
              <a:buNone/>
            </a:pPr>
            <a:r>
              <a:rPr lang="en-US" sz="850" b="1" dirty="0">
                <a:solidFill>
                  <a:srgbClr val="14B8A6"/>
                </a:solidFill>
              </a:rPr>
              <a:t>RUNBOOKS &amp; RETRIEVAL</a:t>
            </a:r>
            <a:endParaRPr lang="en-US" sz="850" dirty="0"/>
          </a:p>
        </p:txBody>
      </p:sp>
      <p:sp>
        <p:nvSpPr>
          <p:cNvPr id="10" name="Text 8"/>
          <p:cNvSpPr/>
          <p:nvPr/>
        </p:nvSpPr>
        <p:spPr>
          <a:xfrm>
            <a:off x="685800" y="914400"/>
            <a:ext cx="9784080" cy="658368"/>
          </a:xfrm>
          <a:prstGeom prst="rect">
            <a:avLst/>
          </a:prstGeom>
          <a:noFill/>
          <a:ln/>
        </p:spPr>
        <p:txBody>
          <a:bodyPr wrap="square" lIns="0" tIns="0" rIns="0" bIns="0" rtlCol="0" anchor="ctr">
            <a:normAutofit/>
          </a:bodyPr>
          <a:lstStyle/>
          <a:p>
            <a:pPr marL="0" indent="0">
              <a:buNone/>
            </a:pPr>
            <a:r>
              <a:rPr lang="en-US" sz="3000" b="1" dirty="0">
                <a:solidFill>
                  <a:srgbClr val="0B1F33"/>
                </a:solidFill>
                <a:latin typeface="Aptos Display" pitchFamily="34" charset="0"/>
                <a:ea typeface="Aptos Display" pitchFamily="34" charset="-122"/>
                <a:cs typeface="Aptos Display" pitchFamily="34" charset="-120"/>
              </a:rPr>
              <a:t>Runbooks become reusable grounding evidence</a:t>
            </a:r>
            <a:endParaRPr lang="en-US" sz="3000" dirty="0"/>
          </a:p>
        </p:txBody>
      </p:sp>
      <p:sp>
        <p:nvSpPr>
          <p:cNvPr id="11" name="Text 9"/>
          <p:cNvSpPr/>
          <p:nvPr/>
        </p:nvSpPr>
        <p:spPr>
          <a:xfrm>
            <a:off x="685800" y="1682496"/>
            <a:ext cx="7863840" cy="420624"/>
          </a:xfrm>
          <a:prstGeom prst="rect">
            <a:avLst/>
          </a:prstGeom>
          <a:noFill/>
          <a:ln/>
        </p:spPr>
        <p:txBody>
          <a:bodyPr wrap="square" lIns="254" tIns="254" rIns="254" bIns="254" rtlCol="0" anchor="ctr">
            <a:normAutofit/>
          </a:bodyPr>
          <a:lstStyle/>
          <a:p>
            <a:pPr marL="0" indent="0">
              <a:buNone/>
            </a:pPr>
            <a:r>
              <a:rPr lang="en-US" sz="1320" dirty="0">
                <a:solidFill>
                  <a:srgbClr val="52657A"/>
                </a:solidFill>
              </a:rPr>
              <a:t>Runbook changes are indexed asynchronously into vector chunks so operational guidance can be retrieved semantically.</a:t>
            </a:r>
            <a:endParaRPr lang="en-US" sz="1320" dirty="0"/>
          </a:p>
        </p:txBody>
      </p:sp>
      <p:sp>
        <p:nvSpPr>
          <p:cNvPr id="12" name="Shape 10"/>
          <p:cNvSpPr/>
          <p:nvPr/>
        </p:nvSpPr>
        <p:spPr>
          <a:xfrm>
            <a:off x="914400" y="2514600"/>
            <a:ext cx="1508760" cy="566928"/>
          </a:xfrm>
          <a:prstGeom prst="roundRect">
            <a:avLst>
              <a:gd name="adj" fmla="val 12903"/>
            </a:avLst>
          </a:prstGeom>
          <a:solidFill>
            <a:srgbClr val="2563EB"/>
          </a:solidFill>
          <a:ln w="12700">
            <a:solidFill>
              <a:srgbClr val="2563EB">
                <a:alpha val="80000"/>
              </a:srgbClr>
            </a:solidFill>
            <a:prstDash val="solid"/>
          </a:ln>
          <a:effectLst>
            <a:outerShdw blurRad="15240" dist="50800" dir="2700000" algn="bl" rotWithShape="0">
              <a:srgbClr val="B8CDE0">
                <a:alpha val="11000"/>
              </a:srgbClr>
            </a:outerShdw>
          </a:effectLst>
        </p:spPr>
        <p:txBody>
          <a:bodyPr/>
          <a:lstStyle/>
          <a:p>
            <a:endParaRPr lang="en-GB"/>
          </a:p>
        </p:txBody>
      </p:sp>
      <p:sp>
        <p:nvSpPr>
          <p:cNvPr id="13" name="Text 11"/>
          <p:cNvSpPr/>
          <p:nvPr/>
        </p:nvSpPr>
        <p:spPr>
          <a:xfrm>
            <a:off x="987552" y="2624328"/>
            <a:ext cx="1362456" cy="243779"/>
          </a:xfrm>
          <a:prstGeom prst="rect">
            <a:avLst/>
          </a:prstGeom>
          <a:noFill/>
          <a:ln/>
        </p:spPr>
        <p:txBody>
          <a:bodyPr wrap="square" lIns="0" tIns="0" rIns="0" bIns="0" rtlCol="0" anchor="ctr">
            <a:normAutofit/>
          </a:bodyPr>
          <a:lstStyle/>
          <a:p>
            <a:pPr marL="0" indent="0" algn="ctr">
              <a:buNone/>
            </a:pPr>
            <a:r>
              <a:rPr lang="en-US" sz="1120" b="1" dirty="0">
                <a:solidFill>
                  <a:srgbClr val="FFFFFF"/>
                </a:solidFill>
                <a:latin typeface="Aptos Display" pitchFamily="34" charset="0"/>
                <a:ea typeface="Aptos Display" pitchFamily="34" charset="-122"/>
                <a:cs typeface="Aptos Display" pitchFamily="34" charset="-120"/>
              </a:rPr>
              <a:t>Runbook CRUD</a:t>
            </a:r>
            <a:endParaRPr lang="en-US" sz="1120" dirty="0"/>
          </a:p>
        </p:txBody>
      </p:sp>
      <p:sp>
        <p:nvSpPr>
          <p:cNvPr id="14" name="Text 12"/>
          <p:cNvSpPr/>
          <p:nvPr/>
        </p:nvSpPr>
        <p:spPr>
          <a:xfrm>
            <a:off x="996696" y="2837749"/>
            <a:ext cx="1344168" cy="158740"/>
          </a:xfrm>
          <a:prstGeom prst="rect">
            <a:avLst/>
          </a:prstGeom>
          <a:noFill/>
          <a:ln/>
        </p:spPr>
        <p:txBody>
          <a:bodyPr wrap="square" lIns="0" tIns="0" rIns="0" bIns="0" rtlCol="0" anchor="ctr">
            <a:normAutofit/>
          </a:bodyPr>
          <a:lstStyle/>
          <a:p>
            <a:pPr marL="0" indent="0" algn="ctr">
              <a:buNone/>
            </a:pPr>
            <a:r>
              <a:rPr lang="en-US" sz="710" dirty="0">
                <a:solidFill>
                  <a:srgbClr val="E0F2FE"/>
                </a:solidFill>
              </a:rPr>
              <a:t>source record</a:t>
            </a:r>
            <a:endParaRPr lang="en-US" sz="710" dirty="0"/>
          </a:p>
        </p:txBody>
      </p:sp>
      <p:sp>
        <p:nvSpPr>
          <p:cNvPr id="15" name="Shape 13"/>
          <p:cNvSpPr/>
          <p:nvPr/>
        </p:nvSpPr>
        <p:spPr>
          <a:xfrm>
            <a:off x="3063240" y="2514600"/>
            <a:ext cx="1508760" cy="566928"/>
          </a:xfrm>
          <a:prstGeom prst="roundRect">
            <a:avLst>
              <a:gd name="adj" fmla="val 12903"/>
            </a:avLst>
          </a:prstGeom>
          <a:solidFill>
            <a:srgbClr val="14B8A6"/>
          </a:solidFill>
          <a:ln w="12700">
            <a:solidFill>
              <a:srgbClr val="14B8A6">
                <a:alpha val="80000"/>
              </a:srgbClr>
            </a:solidFill>
            <a:prstDash val="solid"/>
          </a:ln>
          <a:effectLst>
            <a:outerShdw blurRad="15240" dist="50800" dir="2700000" algn="bl" rotWithShape="0">
              <a:srgbClr val="B8CDE0">
                <a:alpha val="11000"/>
              </a:srgbClr>
            </a:outerShdw>
          </a:effectLst>
        </p:spPr>
        <p:txBody>
          <a:bodyPr/>
          <a:lstStyle/>
          <a:p>
            <a:endParaRPr lang="en-GB"/>
          </a:p>
        </p:txBody>
      </p:sp>
      <p:sp>
        <p:nvSpPr>
          <p:cNvPr id="16" name="Text 14"/>
          <p:cNvSpPr/>
          <p:nvPr/>
        </p:nvSpPr>
        <p:spPr>
          <a:xfrm>
            <a:off x="3136392" y="2624328"/>
            <a:ext cx="1362456" cy="243779"/>
          </a:xfrm>
          <a:prstGeom prst="rect">
            <a:avLst/>
          </a:prstGeom>
          <a:noFill/>
          <a:ln/>
        </p:spPr>
        <p:txBody>
          <a:bodyPr wrap="square" lIns="0" tIns="0" rIns="0" bIns="0" rtlCol="0" anchor="ctr">
            <a:normAutofit/>
          </a:bodyPr>
          <a:lstStyle/>
          <a:p>
            <a:pPr marL="0" indent="0" algn="ctr">
              <a:buNone/>
            </a:pPr>
            <a:r>
              <a:rPr lang="en-US" sz="1120" b="1" dirty="0">
                <a:solidFill>
                  <a:srgbClr val="FFFFFF"/>
                </a:solidFill>
                <a:latin typeface="Aptos Display" pitchFamily="34" charset="0"/>
                <a:ea typeface="Aptos Display" pitchFamily="34" charset="-122"/>
                <a:cs typeface="Aptos Display" pitchFamily="34" charset="-120"/>
              </a:rPr>
              <a:t>Change Feed</a:t>
            </a:r>
            <a:endParaRPr lang="en-US" sz="1120" dirty="0"/>
          </a:p>
        </p:txBody>
      </p:sp>
      <p:sp>
        <p:nvSpPr>
          <p:cNvPr id="17" name="Text 15"/>
          <p:cNvSpPr/>
          <p:nvPr/>
        </p:nvSpPr>
        <p:spPr>
          <a:xfrm>
            <a:off x="3145536" y="2837749"/>
            <a:ext cx="1344168" cy="158740"/>
          </a:xfrm>
          <a:prstGeom prst="rect">
            <a:avLst/>
          </a:prstGeom>
          <a:noFill/>
          <a:ln/>
        </p:spPr>
        <p:txBody>
          <a:bodyPr wrap="square" lIns="0" tIns="0" rIns="0" bIns="0" rtlCol="0" anchor="ctr">
            <a:normAutofit/>
          </a:bodyPr>
          <a:lstStyle/>
          <a:p>
            <a:pPr marL="0" indent="0" algn="ctr">
              <a:buNone/>
            </a:pPr>
            <a:r>
              <a:rPr lang="en-US" sz="710" dirty="0">
                <a:solidFill>
                  <a:srgbClr val="E0F2FE"/>
                </a:solidFill>
              </a:rPr>
              <a:t>index command</a:t>
            </a:r>
            <a:endParaRPr lang="en-US" sz="710" dirty="0"/>
          </a:p>
        </p:txBody>
      </p:sp>
      <p:sp>
        <p:nvSpPr>
          <p:cNvPr id="18" name="Shape 16"/>
          <p:cNvSpPr/>
          <p:nvPr/>
        </p:nvSpPr>
        <p:spPr>
          <a:xfrm>
            <a:off x="5257800" y="2514600"/>
            <a:ext cx="1508760" cy="566928"/>
          </a:xfrm>
          <a:prstGeom prst="roundRect">
            <a:avLst>
              <a:gd name="adj" fmla="val 12903"/>
            </a:avLst>
          </a:prstGeom>
          <a:solidFill>
            <a:srgbClr val="7C3AED"/>
          </a:solidFill>
          <a:ln w="12700">
            <a:solidFill>
              <a:srgbClr val="7C3AED">
                <a:alpha val="80000"/>
              </a:srgbClr>
            </a:solidFill>
            <a:prstDash val="solid"/>
          </a:ln>
          <a:effectLst>
            <a:outerShdw blurRad="15240" dist="50800" dir="2700000" algn="bl" rotWithShape="0">
              <a:srgbClr val="B8CDE0">
                <a:alpha val="11000"/>
              </a:srgbClr>
            </a:outerShdw>
          </a:effectLst>
        </p:spPr>
        <p:txBody>
          <a:bodyPr/>
          <a:lstStyle/>
          <a:p>
            <a:endParaRPr lang="en-GB"/>
          </a:p>
        </p:txBody>
      </p:sp>
      <p:sp>
        <p:nvSpPr>
          <p:cNvPr id="19" name="Text 17"/>
          <p:cNvSpPr/>
          <p:nvPr/>
        </p:nvSpPr>
        <p:spPr>
          <a:xfrm>
            <a:off x="5330952" y="2624328"/>
            <a:ext cx="1362456" cy="243779"/>
          </a:xfrm>
          <a:prstGeom prst="rect">
            <a:avLst/>
          </a:prstGeom>
          <a:noFill/>
          <a:ln/>
        </p:spPr>
        <p:txBody>
          <a:bodyPr wrap="square" lIns="0" tIns="0" rIns="0" bIns="0" rtlCol="0" anchor="ctr">
            <a:normAutofit/>
          </a:bodyPr>
          <a:lstStyle/>
          <a:p>
            <a:pPr marL="0" indent="0" algn="ctr">
              <a:buNone/>
            </a:pPr>
            <a:r>
              <a:rPr lang="en-US" sz="1120" b="1" dirty="0">
                <a:solidFill>
                  <a:srgbClr val="FFFFFF"/>
                </a:solidFill>
                <a:latin typeface="Aptos Display" pitchFamily="34" charset="0"/>
                <a:ea typeface="Aptos Display" pitchFamily="34" charset="-122"/>
                <a:cs typeface="Aptos Display" pitchFamily="34" charset="-120"/>
              </a:rPr>
              <a:t>Embeddings</a:t>
            </a:r>
            <a:endParaRPr lang="en-US" sz="1120" dirty="0"/>
          </a:p>
        </p:txBody>
      </p:sp>
      <p:sp>
        <p:nvSpPr>
          <p:cNvPr id="20" name="Text 18"/>
          <p:cNvSpPr/>
          <p:nvPr/>
        </p:nvSpPr>
        <p:spPr>
          <a:xfrm>
            <a:off x="5340096" y="2837749"/>
            <a:ext cx="1344168" cy="158740"/>
          </a:xfrm>
          <a:prstGeom prst="rect">
            <a:avLst/>
          </a:prstGeom>
          <a:noFill/>
          <a:ln/>
        </p:spPr>
        <p:txBody>
          <a:bodyPr wrap="square" lIns="0" tIns="0" rIns="0" bIns="0" rtlCol="0" anchor="ctr">
            <a:normAutofit/>
          </a:bodyPr>
          <a:lstStyle/>
          <a:p>
            <a:pPr marL="0" indent="0" algn="ctr">
              <a:buNone/>
            </a:pPr>
            <a:r>
              <a:rPr lang="en-US" sz="710" dirty="0">
                <a:solidFill>
                  <a:srgbClr val="E0F2FE"/>
                </a:solidFill>
              </a:rPr>
              <a:t>Azure OpenAI</a:t>
            </a:r>
            <a:endParaRPr lang="en-US" sz="710" dirty="0"/>
          </a:p>
        </p:txBody>
      </p:sp>
      <p:sp>
        <p:nvSpPr>
          <p:cNvPr id="21" name="Shape 19"/>
          <p:cNvSpPr/>
          <p:nvPr/>
        </p:nvSpPr>
        <p:spPr>
          <a:xfrm>
            <a:off x="7452360" y="2514600"/>
            <a:ext cx="1508760" cy="566928"/>
          </a:xfrm>
          <a:prstGeom prst="roundRect">
            <a:avLst>
              <a:gd name="adj" fmla="val 12903"/>
            </a:avLst>
          </a:prstGeom>
          <a:solidFill>
            <a:srgbClr val="22C55E"/>
          </a:solidFill>
          <a:ln w="12700">
            <a:solidFill>
              <a:srgbClr val="22C55E">
                <a:alpha val="80000"/>
              </a:srgbClr>
            </a:solidFill>
            <a:prstDash val="solid"/>
          </a:ln>
          <a:effectLst>
            <a:outerShdw blurRad="15240" dist="50800" dir="2700000" algn="bl" rotWithShape="0">
              <a:srgbClr val="B8CDE0">
                <a:alpha val="11000"/>
              </a:srgbClr>
            </a:outerShdw>
          </a:effectLst>
        </p:spPr>
        <p:txBody>
          <a:bodyPr/>
          <a:lstStyle/>
          <a:p>
            <a:endParaRPr lang="en-GB"/>
          </a:p>
        </p:txBody>
      </p:sp>
      <p:sp>
        <p:nvSpPr>
          <p:cNvPr id="22" name="Text 20"/>
          <p:cNvSpPr/>
          <p:nvPr/>
        </p:nvSpPr>
        <p:spPr>
          <a:xfrm>
            <a:off x="7525512" y="2624328"/>
            <a:ext cx="1362456" cy="243779"/>
          </a:xfrm>
          <a:prstGeom prst="rect">
            <a:avLst/>
          </a:prstGeom>
          <a:noFill/>
          <a:ln/>
        </p:spPr>
        <p:txBody>
          <a:bodyPr wrap="square" lIns="0" tIns="0" rIns="0" bIns="0" rtlCol="0" anchor="ctr">
            <a:normAutofit/>
          </a:bodyPr>
          <a:lstStyle/>
          <a:p>
            <a:pPr marL="0" indent="0" algn="ctr">
              <a:buNone/>
            </a:pPr>
            <a:r>
              <a:rPr lang="en-US" sz="1120" b="1" dirty="0">
                <a:solidFill>
                  <a:srgbClr val="FFFFFF"/>
                </a:solidFill>
                <a:latin typeface="Aptos Display" pitchFamily="34" charset="0"/>
                <a:ea typeface="Aptos Display" pitchFamily="34" charset="-122"/>
                <a:cs typeface="Aptos Display" pitchFamily="34" charset="-120"/>
              </a:rPr>
              <a:t>Vector chunks</a:t>
            </a:r>
            <a:endParaRPr lang="en-US" sz="1120" dirty="0"/>
          </a:p>
        </p:txBody>
      </p:sp>
      <p:sp>
        <p:nvSpPr>
          <p:cNvPr id="23" name="Text 21"/>
          <p:cNvSpPr/>
          <p:nvPr/>
        </p:nvSpPr>
        <p:spPr>
          <a:xfrm>
            <a:off x="7534656" y="2837749"/>
            <a:ext cx="1344168" cy="158740"/>
          </a:xfrm>
          <a:prstGeom prst="rect">
            <a:avLst/>
          </a:prstGeom>
          <a:noFill/>
          <a:ln/>
        </p:spPr>
        <p:txBody>
          <a:bodyPr wrap="square" lIns="0" tIns="0" rIns="0" bIns="0" rtlCol="0" anchor="ctr">
            <a:normAutofit/>
          </a:bodyPr>
          <a:lstStyle/>
          <a:p>
            <a:pPr marL="0" indent="0" algn="ctr">
              <a:buNone/>
            </a:pPr>
            <a:r>
              <a:rPr lang="en-US" sz="710" dirty="0">
                <a:solidFill>
                  <a:srgbClr val="E0F2FE"/>
                </a:solidFill>
              </a:rPr>
              <a:t>Cosmos search</a:t>
            </a:r>
            <a:endParaRPr lang="en-US" sz="710" dirty="0"/>
          </a:p>
        </p:txBody>
      </p:sp>
      <p:sp>
        <p:nvSpPr>
          <p:cNvPr id="24" name="Shape 22"/>
          <p:cNvSpPr/>
          <p:nvPr/>
        </p:nvSpPr>
        <p:spPr>
          <a:xfrm>
            <a:off x="2423160" y="2798064"/>
            <a:ext cx="640080" cy="0"/>
          </a:xfrm>
          <a:prstGeom prst="line">
            <a:avLst/>
          </a:prstGeom>
          <a:noFill/>
          <a:ln w="15240">
            <a:solidFill>
              <a:srgbClr val="06B6D4"/>
            </a:solidFill>
            <a:prstDash val="solid"/>
            <a:headEnd type="none"/>
            <a:tailEnd type="triangle"/>
          </a:ln>
        </p:spPr>
        <p:txBody>
          <a:bodyPr/>
          <a:lstStyle/>
          <a:p>
            <a:endParaRPr lang="en-GB"/>
          </a:p>
        </p:txBody>
      </p:sp>
      <p:sp>
        <p:nvSpPr>
          <p:cNvPr id="25" name="Shape 23"/>
          <p:cNvSpPr/>
          <p:nvPr/>
        </p:nvSpPr>
        <p:spPr>
          <a:xfrm>
            <a:off x="4572000" y="2798064"/>
            <a:ext cx="685800" cy="0"/>
          </a:xfrm>
          <a:prstGeom prst="line">
            <a:avLst/>
          </a:prstGeom>
          <a:noFill/>
          <a:ln w="15240">
            <a:solidFill>
              <a:srgbClr val="06B6D4"/>
            </a:solidFill>
            <a:prstDash val="solid"/>
            <a:headEnd type="none"/>
            <a:tailEnd type="triangle"/>
          </a:ln>
        </p:spPr>
        <p:txBody>
          <a:bodyPr/>
          <a:lstStyle/>
          <a:p>
            <a:endParaRPr lang="en-GB"/>
          </a:p>
        </p:txBody>
      </p:sp>
      <p:sp>
        <p:nvSpPr>
          <p:cNvPr id="26" name="Shape 24"/>
          <p:cNvSpPr/>
          <p:nvPr/>
        </p:nvSpPr>
        <p:spPr>
          <a:xfrm>
            <a:off x="6766560" y="2798064"/>
            <a:ext cx="685800" cy="0"/>
          </a:xfrm>
          <a:prstGeom prst="line">
            <a:avLst/>
          </a:prstGeom>
          <a:noFill/>
          <a:ln w="15240">
            <a:solidFill>
              <a:srgbClr val="06B6D4"/>
            </a:solidFill>
            <a:prstDash val="solid"/>
            <a:headEnd type="none"/>
            <a:tailEnd type="triangle"/>
          </a:ln>
        </p:spPr>
        <p:txBody>
          <a:bodyPr/>
          <a:lstStyle/>
          <a:p>
            <a:endParaRPr lang="en-GB"/>
          </a:p>
        </p:txBody>
      </p:sp>
      <p:sp>
        <p:nvSpPr>
          <p:cNvPr id="27" name="Shape 25"/>
          <p:cNvSpPr/>
          <p:nvPr/>
        </p:nvSpPr>
        <p:spPr>
          <a:xfrm>
            <a:off x="914400" y="4343400"/>
            <a:ext cx="6217920" cy="749808"/>
          </a:xfrm>
          <a:prstGeom prst="roundRect">
            <a:avLst>
              <a:gd name="adj" fmla="val 12195"/>
            </a:avLst>
          </a:prstGeom>
          <a:solidFill>
            <a:srgbClr val="F8FCFF"/>
          </a:solidFill>
          <a:ln w="12700">
            <a:solidFill>
              <a:srgbClr val="14B8A6">
                <a:alpha val="55000"/>
              </a:srgbClr>
            </a:solidFill>
            <a:prstDash val="solid"/>
          </a:ln>
        </p:spPr>
        <p:txBody>
          <a:bodyPr/>
          <a:lstStyle/>
          <a:p>
            <a:endParaRPr lang="en-GB"/>
          </a:p>
        </p:txBody>
      </p:sp>
      <p:sp>
        <p:nvSpPr>
          <p:cNvPr id="28" name="Text 26"/>
          <p:cNvSpPr/>
          <p:nvPr/>
        </p:nvSpPr>
        <p:spPr>
          <a:xfrm>
            <a:off x="1143000" y="4480560"/>
            <a:ext cx="5760720" cy="256032"/>
          </a:xfrm>
          <a:prstGeom prst="rect">
            <a:avLst/>
          </a:prstGeom>
          <a:noFill/>
          <a:ln/>
        </p:spPr>
        <p:txBody>
          <a:bodyPr wrap="square" lIns="0" tIns="0" rIns="0" bIns="0" rtlCol="0" anchor="ctr">
            <a:normAutofit/>
          </a:bodyPr>
          <a:lstStyle/>
          <a:p>
            <a:pPr marL="0" indent="0">
              <a:buNone/>
            </a:pPr>
            <a:r>
              <a:rPr lang="en-US" sz="1040" b="1" dirty="0">
                <a:solidFill>
                  <a:srgbClr val="14B8A6"/>
                </a:solidFill>
              </a:rPr>
              <a:t>Design point</a:t>
            </a:r>
            <a:endParaRPr lang="en-US" sz="1040" dirty="0"/>
          </a:p>
        </p:txBody>
      </p:sp>
      <p:sp>
        <p:nvSpPr>
          <p:cNvPr id="29" name="Text 27"/>
          <p:cNvSpPr/>
          <p:nvPr/>
        </p:nvSpPr>
        <p:spPr>
          <a:xfrm>
            <a:off x="1143000" y="4782312"/>
            <a:ext cx="5760720" cy="246888"/>
          </a:xfrm>
          <a:prstGeom prst="rect">
            <a:avLst/>
          </a:prstGeom>
          <a:noFill/>
          <a:ln/>
        </p:spPr>
        <p:txBody>
          <a:bodyPr wrap="square" lIns="0" tIns="0" rIns="0" bIns="0" rtlCol="0" anchor="ctr">
            <a:normAutofit/>
          </a:bodyPr>
          <a:lstStyle/>
          <a:p>
            <a:pPr marL="0" indent="0">
              <a:buNone/>
            </a:pPr>
            <a:r>
              <a:rPr lang="en-US" sz="830" dirty="0">
                <a:solidFill>
                  <a:srgbClr val="52657A"/>
                </a:solidFill>
              </a:rPr>
              <a:t>Editable source Runbooks stay separate from rebuildable vector data, so indexing changes do not mutate source records.</a:t>
            </a:r>
            <a:endParaRPr lang="en-US" sz="830" dirty="0"/>
          </a:p>
        </p:txBody>
      </p:sp>
      <p:sp>
        <p:nvSpPr>
          <p:cNvPr id="30" name="Text 28"/>
          <p:cNvSpPr/>
          <p:nvPr/>
        </p:nvSpPr>
        <p:spPr>
          <a:xfrm>
            <a:off x="7863840" y="4242816"/>
            <a:ext cx="1463040" cy="393192"/>
          </a:xfrm>
          <a:prstGeom prst="rect">
            <a:avLst/>
          </a:prstGeom>
          <a:noFill/>
          <a:ln/>
        </p:spPr>
        <p:txBody>
          <a:bodyPr wrap="square" lIns="0" tIns="0" rIns="0" bIns="0" rtlCol="0" anchor="ctr"/>
          <a:lstStyle/>
          <a:p>
            <a:pPr marL="0" indent="0" algn="ctr">
              <a:buNone/>
            </a:pPr>
            <a:r>
              <a:rPr lang="en-US" sz="1900" b="1" dirty="0">
                <a:solidFill>
                  <a:srgbClr val="7C3AED"/>
                </a:solidFill>
                <a:latin typeface="Aptos Display" pitchFamily="34" charset="0"/>
                <a:ea typeface="Aptos Display" pitchFamily="34" charset="-122"/>
                <a:cs typeface="Aptos Display" pitchFamily="34" charset="-120"/>
              </a:rPr>
              <a:t>1536</a:t>
            </a:r>
            <a:endParaRPr lang="en-US" sz="1900" dirty="0"/>
          </a:p>
        </p:txBody>
      </p:sp>
      <p:sp>
        <p:nvSpPr>
          <p:cNvPr id="31" name="Text 29"/>
          <p:cNvSpPr/>
          <p:nvPr/>
        </p:nvSpPr>
        <p:spPr>
          <a:xfrm>
            <a:off x="7863840" y="4654296"/>
            <a:ext cx="1463040" cy="310896"/>
          </a:xfrm>
          <a:prstGeom prst="rect">
            <a:avLst/>
          </a:prstGeom>
          <a:noFill/>
          <a:ln/>
        </p:spPr>
        <p:txBody>
          <a:bodyPr wrap="square" lIns="0" tIns="0" rIns="0" bIns="0" rtlCol="0" anchor="ctr">
            <a:normAutofit/>
          </a:bodyPr>
          <a:lstStyle/>
          <a:p>
            <a:pPr marL="0" indent="0" algn="ctr">
              <a:buNone/>
            </a:pPr>
            <a:r>
              <a:rPr lang="en-US" sz="850" dirty="0">
                <a:solidFill>
                  <a:srgbClr val="52657A"/>
                </a:solidFill>
              </a:rPr>
              <a:t>embedding dims</a:t>
            </a:r>
            <a:endParaRPr lang="en-US" sz="850" dirty="0"/>
          </a:p>
        </p:txBody>
      </p:sp>
      <p:sp>
        <p:nvSpPr>
          <p:cNvPr id="32" name="Text 30"/>
          <p:cNvSpPr/>
          <p:nvPr/>
        </p:nvSpPr>
        <p:spPr>
          <a:xfrm>
            <a:off x="9326880" y="4242816"/>
            <a:ext cx="1463040" cy="393192"/>
          </a:xfrm>
          <a:prstGeom prst="rect">
            <a:avLst/>
          </a:prstGeom>
          <a:noFill/>
          <a:ln/>
        </p:spPr>
        <p:txBody>
          <a:bodyPr wrap="square" lIns="0" tIns="0" rIns="0" bIns="0" rtlCol="0" anchor="ctr"/>
          <a:lstStyle/>
          <a:p>
            <a:pPr marL="0" indent="0" algn="ctr">
              <a:buNone/>
            </a:pPr>
            <a:r>
              <a:rPr lang="en-US" sz="1900" b="1" dirty="0">
                <a:solidFill>
                  <a:srgbClr val="22C55E"/>
                </a:solidFill>
                <a:latin typeface="Aptos Display" pitchFamily="34" charset="0"/>
                <a:ea typeface="Aptos Display" pitchFamily="34" charset="-122"/>
                <a:cs typeface="Aptos Display" pitchFamily="34" charset="-120"/>
              </a:rPr>
              <a:t>top-K</a:t>
            </a:r>
            <a:endParaRPr lang="en-US" sz="1900" dirty="0"/>
          </a:p>
        </p:txBody>
      </p:sp>
      <p:sp>
        <p:nvSpPr>
          <p:cNvPr id="33" name="Text 31"/>
          <p:cNvSpPr/>
          <p:nvPr/>
        </p:nvSpPr>
        <p:spPr>
          <a:xfrm>
            <a:off x="9326880" y="4654296"/>
            <a:ext cx="1463040" cy="310896"/>
          </a:xfrm>
          <a:prstGeom prst="rect">
            <a:avLst/>
          </a:prstGeom>
          <a:noFill/>
          <a:ln/>
        </p:spPr>
        <p:txBody>
          <a:bodyPr wrap="square" lIns="0" tIns="0" rIns="0" bIns="0" rtlCol="0" anchor="ctr">
            <a:normAutofit/>
          </a:bodyPr>
          <a:lstStyle/>
          <a:p>
            <a:pPr marL="0" indent="0" algn="ctr">
              <a:buNone/>
            </a:pPr>
            <a:r>
              <a:rPr lang="en-US" sz="850" dirty="0">
                <a:solidFill>
                  <a:srgbClr val="52657A"/>
                </a:solidFill>
              </a:rPr>
              <a:t>semantic search</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BFF"/>
        </a:solidFill>
        <a:effectLst/>
      </p:bgPr>
    </p:bg>
    <p:spTree>
      <p:nvGrpSpPr>
        <p:cNvPr id="1" name=""/>
        <p:cNvGrpSpPr/>
        <p:nvPr/>
      </p:nvGrpSpPr>
      <p:grpSpPr>
        <a:xfrm>
          <a:off x="0" y="0"/>
          <a:ext cx="0" cy="0"/>
          <a:chOff x="0" y="0"/>
          <a:chExt cx="0" cy="0"/>
        </a:xfrm>
      </p:grpSpPr>
      <p:sp>
        <p:nvSpPr>
          <p:cNvPr id="2" name="Shape 0"/>
          <p:cNvSpPr/>
          <p:nvPr/>
        </p:nvSpPr>
        <p:spPr>
          <a:xfrm>
            <a:off x="-1143000" y="-1143000"/>
            <a:ext cx="3749040" cy="3749040"/>
          </a:xfrm>
          <a:prstGeom prst="arc">
            <a:avLst/>
          </a:prstGeom>
          <a:solidFill>
            <a:srgbClr val="E6FFFA">
              <a:alpha val="94000"/>
            </a:srgbClr>
          </a:solidFill>
          <a:ln w="12700">
            <a:solidFill>
              <a:srgbClr val="E6FFFA">
                <a:alpha val="0"/>
              </a:srgbClr>
            </a:solidFill>
            <a:prstDash val="solid"/>
          </a:ln>
        </p:spPr>
        <p:txBody>
          <a:bodyPr/>
          <a:lstStyle/>
          <a:p>
            <a:endParaRPr lang="en-GB"/>
          </a:p>
        </p:txBody>
      </p:sp>
      <p:sp>
        <p:nvSpPr>
          <p:cNvPr id="3" name="Shape 1"/>
          <p:cNvSpPr/>
          <p:nvPr/>
        </p:nvSpPr>
        <p:spPr>
          <a:xfrm>
            <a:off x="10012680" y="-685800"/>
            <a:ext cx="2926080" cy="2926080"/>
          </a:xfrm>
          <a:prstGeom prst="ellipse">
            <a:avLst/>
          </a:prstGeom>
          <a:solidFill>
            <a:srgbClr val="EAF5FF">
              <a:alpha val="95000"/>
            </a:srgbClr>
          </a:solidFill>
          <a:ln w="12700">
            <a:solidFill>
              <a:srgbClr val="EAF5FF">
                <a:alpha val="0"/>
              </a:srgbClr>
            </a:solidFill>
            <a:prstDash val="solid"/>
          </a:ln>
        </p:spPr>
        <p:txBody>
          <a:bodyPr/>
          <a:lstStyle/>
          <a:p>
            <a:endParaRPr lang="en-GB"/>
          </a:p>
        </p:txBody>
      </p:sp>
      <p:sp>
        <p:nvSpPr>
          <p:cNvPr id="4" name="Shape 2"/>
          <p:cNvSpPr/>
          <p:nvPr/>
        </p:nvSpPr>
        <p:spPr>
          <a:xfrm>
            <a:off x="10652760" y="5120640"/>
            <a:ext cx="2011680" cy="2011680"/>
          </a:xfrm>
          <a:prstGeom prst="ellipse">
            <a:avLst/>
          </a:prstGeom>
          <a:solidFill>
            <a:srgbClr val="E6FFFA">
              <a:alpha val="76000"/>
            </a:srgbClr>
          </a:solidFill>
          <a:ln w="12700">
            <a:solidFill>
              <a:srgbClr val="E6FFFA">
                <a:alpha val="0"/>
              </a:srgbClr>
            </a:solidFill>
            <a:prstDash val="solid"/>
          </a:ln>
        </p:spPr>
        <p:txBody>
          <a:bodyPr/>
          <a:lstStyle/>
          <a:p>
            <a:endParaRPr lang="en-GB"/>
          </a:p>
        </p:txBody>
      </p:sp>
      <p:sp>
        <p:nvSpPr>
          <p:cNvPr id="5" name="Shape 3"/>
          <p:cNvSpPr/>
          <p:nvPr/>
        </p:nvSpPr>
        <p:spPr>
          <a:xfrm>
            <a:off x="0" y="0"/>
            <a:ext cx="12191695" cy="100584"/>
          </a:xfrm>
          <a:prstGeom prst="rect">
            <a:avLst/>
          </a:prstGeom>
          <a:solidFill>
            <a:srgbClr val="14B8A6"/>
          </a:solidFill>
          <a:ln w="12700">
            <a:solidFill>
              <a:srgbClr val="14B8A6">
                <a:alpha val="0"/>
              </a:srgbClr>
            </a:solidFill>
            <a:prstDash val="solid"/>
          </a:ln>
        </p:spPr>
        <p:txBody>
          <a:bodyPr/>
          <a:lstStyle/>
          <a:p>
            <a:endParaRPr lang="en-GB"/>
          </a:p>
        </p:txBody>
      </p:sp>
      <p:sp>
        <p:nvSpPr>
          <p:cNvPr id="6" name="Text 4"/>
          <p:cNvSpPr/>
          <p:nvPr/>
        </p:nvSpPr>
        <p:spPr>
          <a:xfrm>
            <a:off x="548640" y="6336792"/>
            <a:ext cx="1828800" cy="201168"/>
          </a:xfrm>
          <a:prstGeom prst="rect">
            <a:avLst/>
          </a:prstGeom>
          <a:noFill/>
          <a:ln/>
        </p:spPr>
        <p:txBody>
          <a:bodyPr wrap="square" lIns="0" tIns="0" rIns="0" bIns="0" rtlCol="0" anchor="ctr"/>
          <a:lstStyle/>
          <a:p>
            <a:pPr marL="0" indent="0">
              <a:buNone/>
            </a:pPr>
            <a:r>
              <a:rPr lang="en-US" sz="850" b="1" dirty="0">
                <a:solidFill>
                  <a:srgbClr val="12355B"/>
                </a:solidFill>
              </a:rPr>
              <a:t>IncidentIQ</a:t>
            </a:r>
            <a:endParaRPr lang="en-US" sz="850" dirty="0"/>
          </a:p>
        </p:txBody>
      </p:sp>
      <p:sp>
        <p:nvSpPr>
          <p:cNvPr id="7" name="Text 5"/>
          <p:cNvSpPr/>
          <p:nvPr/>
        </p:nvSpPr>
        <p:spPr>
          <a:xfrm>
            <a:off x="1874520" y="6336792"/>
            <a:ext cx="4572000" cy="201168"/>
          </a:xfrm>
          <a:prstGeom prst="rect">
            <a:avLst/>
          </a:prstGeom>
          <a:noFill/>
          <a:ln/>
        </p:spPr>
        <p:txBody>
          <a:bodyPr wrap="square" lIns="0" tIns="0" rIns="0" bIns="0" rtlCol="0" anchor="ctr"/>
          <a:lstStyle/>
          <a:p>
            <a:pPr marL="0" indent="0">
              <a:buNone/>
            </a:pPr>
            <a:r>
              <a:rPr lang="en-US" sz="850" dirty="0">
                <a:solidFill>
                  <a:srgbClr val="64748B"/>
                </a:solidFill>
              </a:rPr>
              <a:t>Operations</a:t>
            </a:r>
            <a:endParaRPr lang="en-US" sz="850" dirty="0"/>
          </a:p>
        </p:txBody>
      </p:sp>
      <p:sp>
        <p:nvSpPr>
          <p:cNvPr id="8" name="Text 6"/>
          <p:cNvSpPr/>
          <p:nvPr/>
        </p:nvSpPr>
        <p:spPr>
          <a:xfrm>
            <a:off x="11155680" y="6291072"/>
            <a:ext cx="457200" cy="228600"/>
          </a:xfrm>
          <a:prstGeom prst="rect">
            <a:avLst/>
          </a:prstGeom>
          <a:noFill/>
          <a:ln/>
        </p:spPr>
        <p:txBody>
          <a:bodyPr wrap="square" lIns="0" tIns="0" rIns="0" bIns="0" rtlCol="0" anchor="ctr"/>
          <a:lstStyle/>
          <a:p>
            <a:pPr marL="0" indent="0" algn="r">
              <a:buNone/>
            </a:pPr>
            <a:r>
              <a:rPr lang="en-US" sz="850" b="1" dirty="0">
                <a:solidFill>
                  <a:srgbClr val="14B8A6"/>
                </a:solidFill>
              </a:rPr>
              <a:t>11</a:t>
            </a:r>
            <a:endParaRPr lang="en-US" sz="850" dirty="0"/>
          </a:p>
        </p:txBody>
      </p:sp>
      <p:sp>
        <p:nvSpPr>
          <p:cNvPr id="9" name="Text 7"/>
          <p:cNvSpPr/>
          <p:nvPr/>
        </p:nvSpPr>
        <p:spPr>
          <a:xfrm>
            <a:off x="685800" y="603504"/>
            <a:ext cx="5486400" cy="219456"/>
          </a:xfrm>
          <a:prstGeom prst="rect">
            <a:avLst/>
          </a:prstGeom>
          <a:noFill/>
          <a:ln/>
        </p:spPr>
        <p:txBody>
          <a:bodyPr wrap="square" lIns="0" tIns="0" rIns="0" bIns="0" rtlCol="0" anchor="ctr"/>
          <a:lstStyle/>
          <a:p>
            <a:pPr marL="0" indent="0">
              <a:buNone/>
            </a:pPr>
            <a:r>
              <a:rPr lang="en-US" sz="850" b="1" dirty="0">
                <a:solidFill>
                  <a:srgbClr val="14B8A6"/>
                </a:solidFill>
              </a:rPr>
              <a:t>OPERATIONS</a:t>
            </a:r>
            <a:endParaRPr lang="en-US" sz="850" dirty="0"/>
          </a:p>
        </p:txBody>
      </p:sp>
      <p:sp>
        <p:nvSpPr>
          <p:cNvPr id="10" name="Text 8"/>
          <p:cNvSpPr/>
          <p:nvPr/>
        </p:nvSpPr>
        <p:spPr>
          <a:xfrm>
            <a:off x="685800" y="914400"/>
            <a:ext cx="9784080" cy="658368"/>
          </a:xfrm>
          <a:prstGeom prst="rect">
            <a:avLst/>
          </a:prstGeom>
          <a:noFill/>
          <a:ln/>
        </p:spPr>
        <p:txBody>
          <a:bodyPr wrap="square" lIns="0" tIns="0" rIns="0" bIns="0" rtlCol="0" anchor="ctr">
            <a:normAutofit/>
          </a:bodyPr>
          <a:lstStyle/>
          <a:p>
            <a:pPr marL="0" indent="0">
              <a:buNone/>
            </a:pPr>
            <a:r>
              <a:rPr lang="en-US" sz="3000" b="1" dirty="0">
                <a:solidFill>
                  <a:srgbClr val="0B1F33"/>
                </a:solidFill>
                <a:latin typeface="Aptos Display" pitchFamily="34" charset="0"/>
                <a:ea typeface="Aptos Display" pitchFamily="34" charset="-122"/>
                <a:cs typeface="Aptos Display" pitchFamily="34" charset="-120"/>
              </a:rPr>
              <a:t>Administration and recovery</a:t>
            </a:r>
            <a:endParaRPr lang="en-US" sz="3000" dirty="0"/>
          </a:p>
        </p:txBody>
      </p:sp>
      <p:sp>
        <p:nvSpPr>
          <p:cNvPr id="11" name="Text 9"/>
          <p:cNvSpPr/>
          <p:nvPr/>
        </p:nvSpPr>
        <p:spPr>
          <a:xfrm>
            <a:off x="685800" y="1682496"/>
            <a:ext cx="7863840" cy="420624"/>
          </a:xfrm>
          <a:prstGeom prst="rect">
            <a:avLst/>
          </a:prstGeom>
          <a:noFill/>
          <a:ln/>
        </p:spPr>
        <p:txBody>
          <a:bodyPr wrap="square" lIns="254" tIns="254" rIns="254" bIns="254" rtlCol="0" anchor="ctr">
            <a:normAutofit/>
          </a:bodyPr>
          <a:lstStyle/>
          <a:p>
            <a:pPr marL="0" indent="0">
              <a:buNone/>
            </a:pPr>
            <a:r>
              <a:rPr lang="en-US" sz="1320" dirty="0">
                <a:solidFill>
                  <a:srgbClr val="52657A"/>
                </a:solidFill>
              </a:rPr>
              <a:t>Administrator-only tools make failed analysis work inspectable and recoverable without exposing deep Azure diagnostics in the product UI.</a:t>
            </a:r>
            <a:endParaRPr lang="en-US" sz="1320" dirty="0"/>
          </a:p>
        </p:txBody>
      </p:sp>
      <p:sp>
        <p:nvSpPr>
          <p:cNvPr id="12" name="Shape 10"/>
          <p:cNvSpPr/>
          <p:nvPr/>
        </p:nvSpPr>
        <p:spPr>
          <a:xfrm>
            <a:off x="786384" y="2057400"/>
            <a:ext cx="2377440" cy="1097280"/>
          </a:xfrm>
          <a:prstGeom prst="roundRect">
            <a:avLst>
              <a:gd name="adj" fmla="val 10000"/>
            </a:avLst>
          </a:prstGeom>
          <a:solidFill>
            <a:srgbClr val="FFFFFF"/>
          </a:solidFill>
          <a:ln w="12700">
            <a:solidFill>
              <a:srgbClr val="C9DCEB">
                <a:alpha val="85000"/>
              </a:srgbClr>
            </a:solidFill>
            <a:prstDash val="solid"/>
          </a:ln>
          <a:effectLst>
            <a:outerShdw blurRad="19050" dist="50800" dir="2700000" algn="bl" rotWithShape="0">
              <a:srgbClr val="B9CFE0">
                <a:alpha val="13000"/>
              </a:srgbClr>
            </a:outerShdw>
          </a:effectLst>
        </p:spPr>
        <p:txBody>
          <a:bodyPr/>
          <a:lstStyle/>
          <a:p>
            <a:endParaRPr lang="en-GB"/>
          </a:p>
        </p:txBody>
      </p:sp>
      <p:sp>
        <p:nvSpPr>
          <p:cNvPr id="13" name="Shape 11"/>
          <p:cNvSpPr/>
          <p:nvPr/>
        </p:nvSpPr>
        <p:spPr>
          <a:xfrm>
            <a:off x="786384" y="2057400"/>
            <a:ext cx="73152" cy="1097280"/>
          </a:xfrm>
          <a:prstGeom prst="rect">
            <a:avLst/>
          </a:prstGeom>
          <a:solidFill>
            <a:srgbClr val="2563EB"/>
          </a:solidFill>
          <a:ln w="12700">
            <a:solidFill>
              <a:srgbClr val="2563EB">
                <a:alpha val="0"/>
              </a:srgbClr>
            </a:solidFill>
            <a:prstDash val="solid"/>
          </a:ln>
        </p:spPr>
        <p:txBody>
          <a:bodyPr/>
          <a:lstStyle/>
          <a:p>
            <a:endParaRPr lang="en-GB"/>
          </a:p>
        </p:txBody>
      </p:sp>
      <p:sp>
        <p:nvSpPr>
          <p:cNvPr id="14" name="Text 12"/>
          <p:cNvSpPr/>
          <p:nvPr/>
        </p:nvSpPr>
        <p:spPr>
          <a:xfrm>
            <a:off x="1005840" y="2221992"/>
            <a:ext cx="2029968" cy="274320"/>
          </a:xfrm>
          <a:prstGeom prst="rect">
            <a:avLst/>
          </a:prstGeom>
          <a:noFill/>
          <a:ln/>
        </p:spPr>
        <p:txBody>
          <a:bodyPr wrap="square" lIns="0" tIns="0" rIns="0" bIns="0" rtlCol="0" anchor="ctr">
            <a:normAutofit/>
          </a:bodyPr>
          <a:lstStyle/>
          <a:p>
            <a:pPr marL="0" indent="0">
              <a:buNone/>
            </a:pPr>
            <a:r>
              <a:rPr lang="en-US" sz="1230" b="1" dirty="0">
                <a:solidFill>
                  <a:srgbClr val="0B1F33"/>
                </a:solidFill>
                <a:latin typeface="Aptos Display" pitchFamily="34" charset="0"/>
                <a:ea typeface="Aptos Display" pitchFamily="34" charset="-122"/>
                <a:cs typeface="Aptos Display" pitchFamily="34" charset="-120"/>
              </a:rPr>
              <a:t>Status summary</a:t>
            </a:r>
            <a:endParaRPr lang="en-US" sz="1230" dirty="0"/>
          </a:p>
        </p:txBody>
      </p:sp>
      <p:sp>
        <p:nvSpPr>
          <p:cNvPr id="15" name="Text 13"/>
          <p:cNvSpPr/>
          <p:nvPr/>
        </p:nvSpPr>
        <p:spPr>
          <a:xfrm>
            <a:off x="1005840" y="2624328"/>
            <a:ext cx="2029968" cy="384048"/>
          </a:xfrm>
          <a:prstGeom prst="rect">
            <a:avLst/>
          </a:prstGeom>
          <a:noFill/>
          <a:ln/>
        </p:spPr>
        <p:txBody>
          <a:bodyPr wrap="square" lIns="0" tIns="0" rIns="0" bIns="0" rtlCol="0" anchor="ctr">
            <a:normAutofit/>
          </a:bodyPr>
          <a:lstStyle/>
          <a:p>
            <a:pPr marL="0" indent="0">
              <a:buNone/>
            </a:pPr>
            <a:r>
              <a:rPr lang="en-US" sz="980" dirty="0">
                <a:solidFill>
                  <a:srgbClr val="52657A"/>
                </a:solidFill>
              </a:rPr>
              <a:t>Total, Queued, Processing, Completed and Failed counts.</a:t>
            </a:r>
            <a:endParaRPr lang="en-US" sz="980" dirty="0"/>
          </a:p>
        </p:txBody>
      </p:sp>
      <p:sp>
        <p:nvSpPr>
          <p:cNvPr id="16" name="Shape 14"/>
          <p:cNvSpPr/>
          <p:nvPr/>
        </p:nvSpPr>
        <p:spPr>
          <a:xfrm>
            <a:off x="3401568" y="2057400"/>
            <a:ext cx="2377440" cy="1097280"/>
          </a:xfrm>
          <a:prstGeom prst="roundRect">
            <a:avLst>
              <a:gd name="adj" fmla="val 10000"/>
            </a:avLst>
          </a:prstGeom>
          <a:solidFill>
            <a:srgbClr val="FFFFFF"/>
          </a:solidFill>
          <a:ln w="12700">
            <a:solidFill>
              <a:srgbClr val="C9DCEB">
                <a:alpha val="85000"/>
              </a:srgbClr>
            </a:solidFill>
            <a:prstDash val="solid"/>
          </a:ln>
          <a:effectLst>
            <a:outerShdw blurRad="19050" dist="50800" dir="2700000" algn="bl" rotWithShape="0">
              <a:srgbClr val="B9CFE0">
                <a:alpha val="13000"/>
              </a:srgbClr>
            </a:outerShdw>
          </a:effectLst>
        </p:spPr>
        <p:txBody>
          <a:bodyPr/>
          <a:lstStyle/>
          <a:p>
            <a:endParaRPr lang="en-GB"/>
          </a:p>
        </p:txBody>
      </p:sp>
      <p:sp>
        <p:nvSpPr>
          <p:cNvPr id="17" name="Shape 15"/>
          <p:cNvSpPr/>
          <p:nvPr/>
        </p:nvSpPr>
        <p:spPr>
          <a:xfrm>
            <a:off x="3401568" y="2057400"/>
            <a:ext cx="73152" cy="1097280"/>
          </a:xfrm>
          <a:prstGeom prst="rect">
            <a:avLst/>
          </a:prstGeom>
          <a:solidFill>
            <a:srgbClr val="FB7185"/>
          </a:solidFill>
          <a:ln w="12700">
            <a:solidFill>
              <a:srgbClr val="FB7185">
                <a:alpha val="0"/>
              </a:srgbClr>
            </a:solidFill>
            <a:prstDash val="solid"/>
          </a:ln>
        </p:spPr>
        <p:txBody>
          <a:bodyPr/>
          <a:lstStyle/>
          <a:p>
            <a:endParaRPr lang="en-GB"/>
          </a:p>
        </p:txBody>
      </p:sp>
      <p:sp>
        <p:nvSpPr>
          <p:cNvPr id="18" name="Text 16"/>
          <p:cNvSpPr/>
          <p:nvPr/>
        </p:nvSpPr>
        <p:spPr>
          <a:xfrm>
            <a:off x="3621024" y="2221992"/>
            <a:ext cx="2029968" cy="274320"/>
          </a:xfrm>
          <a:prstGeom prst="rect">
            <a:avLst/>
          </a:prstGeom>
          <a:noFill/>
          <a:ln/>
        </p:spPr>
        <p:txBody>
          <a:bodyPr wrap="square" lIns="0" tIns="0" rIns="0" bIns="0" rtlCol="0" anchor="ctr">
            <a:normAutofit/>
          </a:bodyPr>
          <a:lstStyle/>
          <a:p>
            <a:pPr marL="0" indent="0">
              <a:buNone/>
            </a:pPr>
            <a:r>
              <a:rPr lang="en-US" sz="1230" b="1" dirty="0">
                <a:solidFill>
                  <a:srgbClr val="0B1F33"/>
                </a:solidFill>
                <a:latin typeface="Aptos Display" pitchFamily="34" charset="0"/>
                <a:ea typeface="Aptos Display" pitchFamily="34" charset="-122"/>
                <a:cs typeface="Aptos Display" pitchFamily="34" charset="-120"/>
              </a:rPr>
              <a:t>Failed work</a:t>
            </a:r>
            <a:endParaRPr lang="en-US" sz="1230" dirty="0"/>
          </a:p>
        </p:txBody>
      </p:sp>
      <p:sp>
        <p:nvSpPr>
          <p:cNvPr id="19" name="Text 17"/>
          <p:cNvSpPr/>
          <p:nvPr/>
        </p:nvSpPr>
        <p:spPr>
          <a:xfrm>
            <a:off x="3621024" y="2624328"/>
            <a:ext cx="2029968" cy="384048"/>
          </a:xfrm>
          <a:prstGeom prst="rect">
            <a:avLst/>
          </a:prstGeom>
          <a:noFill/>
          <a:ln/>
        </p:spPr>
        <p:txBody>
          <a:bodyPr wrap="square" lIns="0" tIns="0" rIns="0" bIns="0" rtlCol="0" anchor="ctr">
            <a:normAutofit/>
          </a:bodyPr>
          <a:lstStyle/>
          <a:p>
            <a:pPr marL="0" indent="0">
              <a:buNone/>
            </a:pPr>
            <a:r>
              <a:rPr lang="en-US" sz="980" dirty="0">
                <a:solidFill>
                  <a:srgbClr val="52657A"/>
                </a:solidFill>
              </a:rPr>
              <a:t>Failure reason, attempts, timestamp and correlation metadata.</a:t>
            </a:r>
            <a:endParaRPr lang="en-US" sz="980" dirty="0"/>
          </a:p>
        </p:txBody>
      </p:sp>
      <p:sp>
        <p:nvSpPr>
          <p:cNvPr id="20" name="Shape 18"/>
          <p:cNvSpPr/>
          <p:nvPr/>
        </p:nvSpPr>
        <p:spPr>
          <a:xfrm>
            <a:off x="6016752" y="2057400"/>
            <a:ext cx="2377440" cy="1097280"/>
          </a:xfrm>
          <a:prstGeom prst="roundRect">
            <a:avLst>
              <a:gd name="adj" fmla="val 10000"/>
            </a:avLst>
          </a:prstGeom>
          <a:solidFill>
            <a:srgbClr val="FFFFFF"/>
          </a:solidFill>
          <a:ln w="12700">
            <a:solidFill>
              <a:srgbClr val="C9DCEB">
                <a:alpha val="85000"/>
              </a:srgbClr>
            </a:solidFill>
            <a:prstDash val="solid"/>
          </a:ln>
          <a:effectLst>
            <a:outerShdw blurRad="19050" dist="50800" dir="2700000" algn="bl" rotWithShape="0">
              <a:srgbClr val="B9CFE0">
                <a:alpha val="13000"/>
              </a:srgbClr>
            </a:outerShdw>
          </a:effectLst>
        </p:spPr>
        <p:txBody>
          <a:bodyPr/>
          <a:lstStyle/>
          <a:p>
            <a:endParaRPr lang="en-GB"/>
          </a:p>
        </p:txBody>
      </p:sp>
      <p:sp>
        <p:nvSpPr>
          <p:cNvPr id="21" name="Shape 19"/>
          <p:cNvSpPr/>
          <p:nvPr/>
        </p:nvSpPr>
        <p:spPr>
          <a:xfrm>
            <a:off x="6016752" y="2057400"/>
            <a:ext cx="73152" cy="1097280"/>
          </a:xfrm>
          <a:prstGeom prst="rect">
            <a:avLst/>
          </a:prstGeom>
          <a:solidFill>
            <a:srgbClr val="14B8A6"/>
          </a:solidFill>
          <a:ln w="12700">
            <a:solidFill>
              <a:srgbClr val="14B8A6">
                <a:alpha val="0"/>
              </a:srgbClr>
            </a:solidFill>
            <a:prstDash val="solid"/>
          </a:ln>
        </p:spPr>
        <p:txBody>
          <a:bodyPr/>
          <a:lstStyle/>
          <a:p>
            <a:endParaRPr lang="en-GB"/>
          </a:p>
        </p:txBody>
      </p:sp>
      <p:sp>
        <p:nvSpPr>
          <p:cNvPr id="22" name="Text 20"/>
          <p:cNvSpPr/>
          <p:nvPr/>
        </p:nvSpPr>
        <p:spPr>
          <a:xfrm>
            <a:off x="6236208" y="2221992"/>
            <a:ext cx="2029968" cy="274320"/>
          </a:xfrm>
          <a:prstGeom prst="rect">
            <a:avLst/>
          </a:prstGeom>
          <a:noFill/>
          <a:ln/>
        </p:spPr>
        <p:txBody>
          <a:bodyPr wrap="square" lIns="0" tIns="0" rIns="0" bIns="0" rtlCol="0" anchor="ctr">
            <a:normAutofit/>
          </a:bodyPr>
          <a:lstStyle/>
          <a:p>
            <a:pPr marL="0" indent="0">
              <a:buNone/>
            </a:pPr>
            <a:r>
              <a:rPr lang="en-US" sz="1230" b="1" dirty="0">
                <a:solidFill>
                  <a:srgbClr val="0B1F33"/>
                </a:solidFill>
                <a:latin typeface="Aptos Display" pitchFamily="34" charset="0"/>
                <a:ea typeface="Aptos Display" pitchFamily="34" charset="-122"/>
                <a:cs typeface="Aptos Display" pitchFamily="34" charset="-120"/>
              </a:rPr>
              <a:t>Controlled retry</a:t>
            </a:r>
            <a:endParaRPr lang="en-US" sz="1230" dirty="0"/>
          </a:p>
        </p:txBody>
      </p:sp>
      <p:sp>
        <p:nvSpPr>
          <p:cNvPr id="23" name="Text 21"/>
          <p:cNvSpPr/>
          <p:nvPr/>
        </p:nvSpPr>
        <p:spPr>
          <a:xfrm>
            <a:off x="6236208" y="2624328"/>
            <a:ext cx="2029968" cy="384048"/>
          </a:xfrm>
          <a:prstGeom prst="rect">
            <a:avLst/>
          </a:prstGeom>
          <a:noFill/>
          <a:ln/>
        </p:spPr>
        <p:txBody>
          <a:bodyPr wrap="square" lIns="0" tIns="0" rIns="0" bIns="0" rtlCol="0" anchor="ctr">
            <a:normAutofit/>
          </a:bodyPr>
          <a:lstStyle/>
          <a:p>
            <a:pPr marL="0" indent="0">
              <a:buNone/>
            </a:pPr>
            <a:r>
              <a:rPr lang="en-US" sz="980" dirty="0">
                <a:solidFill>
                  <a:srgbClr val="52657A"/>
                </a:solidFill>
              </a:rPr>
              <a:t>Admin-only requeue returns work to the normal async path.</a:t>
            </a:r>
            <a:endParaRPr lang="en-US" sz="980" dirty="0"/>
          </a:p>
        </p:txBody>
      </p:sp>
      <p:sp>
        <p:nvSpPr>
          <p:cNvPr id="24" name="Shape 22"/>
          <p:cNvSpPr/>
          <p:nvPr/>
        </p:nvSpPr>
        <p:spPr>
          <a:xfrm>
            <a:off x="8631936" y="2057400"/>
            <a:ext cx="2377440" cy="1097280"/>
          </a:xfrm>
          <a:prstGeom prst="roundRect">
            <a:avLst>
              <a:gd name="adj" fmla="val 10000"/>
            </a:avLst>
          </a:prstGeom>
          <a:solidFill>
            <a:srgbClr val="FFFFFF"/>
          </a:solidFill>
          <a:ln w="12700">
            <a:solidFill>
              <a:srgbClr val="FBBF24">
                <a:alpha val="85000"/>
              </a:srgbClr>
            </a:solidFill>
            <a:prstDash val="solid"/>
          </a:ln>
          <a:effectLst>
            <a:outerShdw blurRad="19050" dist="50800" dir="2700000" algn="bl" rotWithShape="0">
              <a:srgbClr val="B9CFE0">
                <a:alpha val="13000"/>
              </a:srgbClr>
            </a:outerShdw>
          </a:effectLst>
        </p:spPr>
        <p:txBody>
          <a:bodyPr/>
          <a:lstStyle/>
          <a:p>
            <a:endParaRPr lang="en-GB"/>
          </a:p>
        </p:txBody>
      </p:sp>
      <p:sp>
        <p:nvSpPr>
          <p:cNvPr id="25" name="Shape 23"/>
          <p:cNvSpPr/>
          <p:nvPr/>
        </p:nvSpPr>
        <p:spPr>
          <a:xfrm>
            <a:off x="8631936" y="2057400"/>
            <a:ext cx="73152" cy="1097280"/>
          </a:xfrm>
          <a:prstGeom prst="rect">
            <a:avLst/>
          </a:prstGeom>
          <a:solidFill>
            <a:srgbClr val="FBBF24"/>
          </a:solidFill>
          <a:ln w="12700">
            <a:solidFill>
              <a:srgbClr val="FBBF24">
                <a:alpha val="0"/>
              </a:srgbClr>
            </a:solidFill>
            <a:prstDash val="solid"/>
          </a:ln>
        </p:spPr>
        <p:txBody>
          <a:bodyPr/>
          <a:lstStyle/>
          <a:p>
            <a:endParaRPr lang="en-GB"/>
          </a:p>
        </p:txBody>
      </p:sp>
      <p:sp>
        <p:nvSpPr>
          <p:cNvPr id="26" name="Text 24"/>
          <p:cNvSpPr/>
          <p:nvPr/>
        </p:nvSpPr>
        <p:spPr>
          <a:xfrm>
            <a:off x="8851392" y="2221992"/>
            <a:ext cx="2029968" cy="274320"/>
          </a:xfrm>
          <a:prstGeom prst="rect">
            <a:avLst/>
          </a:prstGeom>
          <a:noFill/>
          <a:ln/>
        </p:spPr>
        <p:txBody>
          <a:bodyPr wrap="square" lIns="0" tIns="0" rIns="0" bIns="0" rtlCol="0" anchor="ctr">
            <a:normAutofit/>
          </a:bodyPr>
          <a:lstStyle/>
          <a:p>
            <a:pPr marL="0" indent="0">
              <a:buNone/>
            </a:pPr>
            <a:r>
              <a:rPr lang="en-US" sz="1230" b="1" dirty="0">
                <a:solidFill>
                  <a:srgbClr val="0B1F33"/>
                </a:solidFill>
                <a:latin typeface="Aptos Display" pitchFamily="34" charset="0"/>
                <a:ea typeface="Aptos Display" pitchFamily="34" charset="-122"/>
                <a:cs typeface="Aptos Display" pitchFamily="34" charset="-120"/>
              </a:rPr>
              <a:t>RBAC</a:t>
            </a:r>
            <a:endParaRPr lang="en-US" sz="1230" dirty="0"/>
          </a:p>
        </p:txBody>
      </p:sp>
      <p:sp>
        <p:nvSpPr>
          <p:cNvPr id="27" name="Text 25"/>
          <p:cNvSpPr/>
          <p:nvPr/>
        </p:nvSpPr>
        <p:spPr>
          <a:xfrm>
            <a:off x="8851392" y="2624328"/>
            <a:ext cx="2029968" cy="384048"/>
          </a:xfrm>
          <a:prstGeom prst="rect">
            <a:avLst/>
          </a:prstGeom>
          <a:noFill/>
          <a:ln/>
        </p:spPr>
        <p:txBody>
          <a:bodyPr wrap="square" lIns="0" tIns="0" rIns="0" bIns="0" rtlCol="0" anchor="ctr">
            <a:normAutofit/>
          </a:bodyPr>
          <a:lstStyle/>
          <a:p>
            <a:pPr marL="0" indent="0">
              <a:buNone/>
            </a:pPr>
            <a:r>
              <a:rPr lang="en-US" sz="980" dirty="0">
                <a:solidFill>
                  <a:srgbClr val="52657A"/>
                </a:solidFill>
              </a:rPr>
              <a:t>API policies stay authoritative.</a:t>
            </a:r>
            <a:endParaRPr lang="en-US" sz="980" dirty="0"/>
          </a:p>
        </p:txBody>
      </p:sp>
      <p:sp>
        <p:nvSpPr>
          <p:cNvPr id="28" name="Shape 26"/>
          <p:cNvSpPr/>
          <p:nvPr/>
        </p:nvSpPr>
        <p:spPr>
          <a:xfrm>
            <a:off x="804672" y="4315968"/>
            <a:ext cx="7406640" cy="731520"/>
          </a:xfrm>
          <a:prstGeom prst="roundRect">
            <a:avLst>
              <a:gd name="adj" fmla="val 12500"/>
            </a:avLst>
          </a:prstGeom>
          <a:solidFill>
            <a:srgbClr val="F8FCFF"/>
          </a:solidFill>
          <a:ln w="12700">
            <a:solidFill>
              <a:srgbClr val="14B8A6">
                <a:alpha val="55000"/>
              </a:srgbClr>
            </a:solidFill>
            <a:prstDash val="solid"/>
          </a:ln>
        </p:spPr>
        <p:txBody>
          <a:bodyPr/>
          <a:lstStyle/>
          <a:p>
            <a:endParaRPr lang="en-GB"/>
          </a:p>
        </p:txBody>
      </p:sp>
      <p:sp>
        <p:nvSpPr>
          <p:cNvPr id="29" name="Text 27"/>
          <p:cNvSpPr/>
          <p:nvPr/>
        </p:nvSpPr>
        <p:spPr>
          <a:xfrm>
            <a:off x="1033272" y="4453128"/>
            <a:ext cx="6949440" cy="256032"/>
          </a:xfrm>
          <a:prstGeom prst="rect">
            <a:avLst/>
          </a:prstGeom>
          <a:noFill/>
          <a:ln/>
        </p:spPr>
        <p:txBody>
          <a:bodyPr wrap="square" lIns="0" tIns="0" rIns="0" bIns="0" rtlCol="0" anchor="ctr">
            <a:normAutofit/>
          </a:bodyPr>
          <a:lstStyle/>
          <a:p>
            <a:pPr marL="0" indent="0">
              <a:buNone/>
            </a:pPr>
            <a:r>
              <a:rPr lang="en-US" sz="1040" b="1" dirty="0">
                <a:solidFill>
                  <a:srgbClr val="14B8A6"/>
                </a:solidFill>
              </a:rPr>
              <a:t>Operational value</a:t>
            </a:r>
            <a:endParaRPr lang="en-US" sz="1040" dirty="0"/>
          </a:p>
        </p:txBody>
      </p:sp>
      <p:sp>
        <p:nvSpPr>
          <p:cNvPr id="30" name="Text 28"/>
          <p:cNvSpPr/>
          <p:nvPr/>
        </p:nvSpPr>
        <p:spPr>
          <a:xfrm>
            <a:off x="1033272" y="4754880"/>
            <a:ext cx="6949440" cy="228600"/>
          </a:xfrm>
          <a:prstGeom prst="rect">
            <a:avLst/>
          </a:prstGeom>
          <a:noFill/>
          <a:ln/>
        </p:spPr>
        <p:txBody>
          <a:bodyPr wrap="square" lIns="0" tIns="0" rIns="0" bIns="0" rtlCol="0" anchor="ctr">
            <a:normAutofit/>
          </a:bodyPr>
          <a:lstStyle/>
          <a:p>
            <a:pPr marL="0" indent="0">
              <a:buNone/>
            </a:pPr>
            <a:r>
              <a:rPr lang="en-US" sz="830" dirty="0">
                <a:solidFill>
                  <a:srgbClr val="52657A"/>
                </a:solidFill>
              </a:rPr>
              <a:t>Engineers can use the product; Administrators can recover failed work; telemetry remains in Azure Monitor.</a:t>
            </a:r>
            <a:endParaRPr lang="en-US" sz="830" dirty="0"/>
          </a:p>
        </p:txBody>
      </p:sp>
      <p:sp>
        <p:nvSpPr>
          <p:cNvPr id="31" name="Shape 29"/>
          <p:cNvSpPr/>
          <p:nvPr/>
        </p:nvSpPr>
        <p:spPr>
          <a:xfrm>
            <a:off x="8759952" y="4334256"/>
            <a:ext cx="914400" cy="420624"/>
          </a:xfrm>
          <a:prstGeom prst="roundRect">
            <a:avLst>
              <a:gd name="adj" fmla="val 17391"/>
            </a:avLst>
          </a:prstGeom>
          <a:solidFill>
            <a:srgbClr val="2563EB"/>
          </a:solidFill>
          <a:ln w="12700">
            <a:solidFill>
              <a:srgbClr val="2563EB">
                <a:alpha val="80000"/>
              </a:srgbClr>
            </a:solidFill>
            <a:prstDash val="solid"/>
          </a:ln>
          <a:effectLst>
            <a:outerShdw blurRad="15240" dist="50800" dir="2700000" algn="bl" rotWithShape="0">
              <a:srgbClr val="B8CDE0">
                <a:alpha val="11000"/>
              </a:srgbClr>
            </a:outerShdw>
          </a:effectLst>
        </p:spPr>
        <p:txBody>
          <a:bodyPr/>
          <a:lstStyle/>
          <a:p>
            <a:endParaRPr lang="en-GB"/>
          </a:p>
        </p:txBody>
      </p:sp>
      <p:sp>
        <p:nvSpPr>
          <p:cNvPr id="32" name="Text 30"/>
          <p:cNvSpPr/>
          <p:nvPr/>
        </p:nvSpPr>
        <p:spPr>
          <a:xfrm>
            <a:off x="8833104" y="4443984"/>
            <a:ext cx="768096" cy="180868"/>
          </a:xfrm>
          <a:prstGeom prst="rect">
            <a:avLst/>
          </a:prstGeom>
          <a:noFill/>
          <a:ln/>
        </p:spPr>
        <p:txBody>
          <a:bodyPr wrap="square" lIns="0" tIns="0" rIns="0" bIns="0" rtlCol="0" anchor="ctr">
            <a:normAutofit/>
          </a:bodyPr>
          <a:lstStyle/>
          <a:p>
            <a:pPr marL="0" indent="0" algn="ctr">
              <a:buNone/>
            </a:pPr>
            <a:r>
              <a:rPr lang="en-US" sz="850" b="1" dirty="0">
                <a:solidFill>
                  <a:srgbClr val="FFFFFF"/>
                </a:solidFill>
                <a:latin typeface="Aptos Display" pitchFamily="34" charset="0"/>
                <a:ea typeface="Aptos Display" pitchFamily="34" charset="-122"/>
                <a:cs typeface="Aptos Display" pitchFamily="34" charset="-120"/>
              </a:rPr>
              <a:t>Engineer</a:t>
            </a:r>
            <a:endParaRPr lang="en-US" sz="850" dirty="0"/>
          </a:p>
        </p:txBody>
      </p:sp>
      <p:sp>
        <p:nvSpPr>
          <p:cNvPr id="33" name="Text 31"/>
          <p:cNvSpPr/>
          <p:nvPr/>
        </p:nvSpPr>
        <p:spPr>
          <a:xfrm>
            <a:off x="8842248" y="4574012"/>
            <a:ext cx="749808" cy="117775"/>
          </a:xfrm>
          <a:prstGeom prst="rect">
            <a:avLst/>
          </a:prstGeom>
          <a:noFill/>
          <a:ln/>
        </p:spPr>
        <p:txBody>
          <a:bodyPr wrap="square" lIns="0" tIns="0" rIns="0" bIns="0" rtlCol="0" anchor="ctr">
            <a:normAutofit/>
          </a:bodyPr>
          <a:lstStyle/>
          <a:p>
            <a:pPr marL="0" indent="0" algn="ctr">
              <a:buNone/>
            </a:pPr>
            <a:r>
              <a:rPr lang="en-US" sz="580" dirty="0">
                <a:solidFill>
                  <a:srgbClr val="E0F2FE"/>
                </a:solidFill>
              </a:rPr>
              <a:t>use app</a:t>
            </a:r>
            <a:endParaRPr lang="en-US" sz="580" dirty="0"/>
          </a:p>
        </p:txBody>
      </p:sp>
      <p:sp>
        <p:nvSpPr>
          <p:cNvPr id="34" name="Shape 32"/>
          <p:cNvSpPr/>
          <p:nvPr/>
        </p:nvSpPr>
        <p:spPr>
          <a:xfrm>
            <a:off x="9857232" y="4334256"/>
            <a:ext cx="914400" cy="420624"/>
          </a:xfrm>
          <a:prstGeom prst="roundRect">
            <a:avLst>
              <a:gd name="adj" fmla="val 17391"/>
            </a:avLst>
          </a:prstGeom>
          <a:solidFill>
            <a:srgbClr val="7C3AED"/>
          </a:solidFill>
          <a:ln w="12700">
            <a:solidFill>
              <a:srgbClr val="7C3AED">
                <a:alpha val="80000"/>
              </a:srgbClr>
            </a:solidFill>
            <a:prstDash val="solid"/>
          </a:ln>
          <a:effectLst>
            <a:outerShdw blurRad="15240" dist="50800" dir="2700000" algn="bl" rotWithShape="0">
              <a:srgbClr val="B8CDE0">
                <a:alpha val="11000"/>
              </a:srgbClr>
            </a:outerShdw>
          </a:effectLst>
        </p:spPr>
        <p:txBody>
          <a:bodyPr/>
          <a:lstStyle/>
          <a:p>
            <a:endParaRPr lang="en-GB"/>
          </a:p>
        </p:txBody>
      </p:sp>
      <p:sp>
        <p:nvSpPr>
          <p:cNvPr id="35" name="Text 33"/>
          <p:cNvSpPr/>
          <p:nvPr/>
        </p:nvSpPr>
        <p:spPr>
          <a:xfrm>
            <a:off x="9930384" y="4443984"/>
            <a:ext cx="768096" cy="180868"/>
          </a:xfrm>
          <a:prstGeom prst="rect">
            <a:avLst/>
          </a:prstGeom>
          <a:noFill/>
          <a:ln/>
        </p:spPr>
        <p:txBody>
          <a:bodyPr wrap="square" lIns="0" tIns="0" rIns="0" bIns="0" rtlCol="0" anchor="ctr">
            <a:normAutofit/>
          </a:bodyPr>
          <a:lstStyle/>
          <a:p>
            <a:pPr marL="0" indent="0" algn="ctr">
              <a:buNone/>
            </a:pPr>
            <a:r>
              <a:rPr lang="en-US" sz="850" b="1" dirty="0">
                <a:solidFill>
                  <a:srgbClr val="FFFFFF"/>
                </a:solidFill>
                <a:latin typeface="Aptos Display" pitchFamily="34" charset="0"/>
                <a:ea typeface="Aptos Display" pitchFamily="34" charset="-122"/>
                <a:cs typeface="Aptos Display" pitchFamily="34" charset="-120"/>
              </a:rPr>
              <a:t>Admin</a:t>
            </a:r>
            <a:endParaRPr lang="en-US" sz="850" dirty="0"/>
          </a:p>
        </p:txBody>
      </p:sp>
      <p:sp>
        <p:nvSpPr>
          <p:cNvPr id="36" name="Text 34"/>
          <p:cNvSpPr/>
          <p:nvPr/>
        </p:nvSpPr>
        <p:spPr>
          <a:xfrm>
            <a:off x="9939528" y="4574012"/>
            <a:ext cx="749808" cy="117775"/>
          </a:xfrm>
          <a:prstGeom prst="rect">
            <a:avLst/>
          </a:prstGeom>
          <a:noFill/>
          <a:ln/>
        </p:spPr>
        <p:txBody>
          <a:bodyPr wrap="square" lIns="0" tIns="0" rIns="0" bIns="0" rtlCol="0" anchor="ctr">
            <a:normAutofit/>
          </a:bodyPr>
          <a:lstStyle/>
          <a:p>
            <a:pPr marL="0" indent="0" algn="ctr">
              <a:buNone/>
            </a:pPr>
            <a:r>
              <a:rPr lang="en-US" sz="580" dirty="0">
                <a:solidFill>
                  <a:srgbClr val="E0F2FE"/>
                </a:solidFill>
              </a:rPr>
              <a:t>recover</a:t>
            </a:r>
            <a:endParaRPr lang="en-US" sz="58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BFF"/>
        </a:solidFill>
        <a:effectLst/>
      </p:bgPr>
    </p:bg>
    <p:spTree>
      <p:nvGrpSpPr>
        <p:cNvPr id="1" name=""/>
        <p:cNvGrpSpPr/>
        <p:nvPr/>
      </p:nvGrpSpPr>
      <p:grpSpPr>
        <a:xfrm>
          <a:off x="0" y="0"/>
          <a:ext cx="0" cy="0"/>
          <a:chOff x="0" y="0"/>
          <a:chExt cx="0" cy="0"/>
        </a:xfrm>
      </p:grpSpPr>
      <p:sp>
        <p:nvSpPr>
          <p:cNvPr id="2" name="Shape 0"/>
          <p:cNvSpPr/>
          <p:nvPr/>
        </p:nvSpPr>
        <p:spPr>
          <a:xfrm>
            <a:off x="-1143000" y="-1143000"/>
            <a:ext cx="3749040" cy="3749040"/>
          </a:xfrm>
          <a:prstGeom prst="arc">
            <a:avLst/>
          </a:prstGeom>
          <a:solidFill>
            <a:srgbClr val="E6FFFA">
              <a:alpha val="94000"/>
            </a:srgbClr>
          </a:solidFill>
          <a:ln w="12700">
            <a:solidFill>
              <a:srgbClr val="E6FFFA">
                <a:alpha val="0"/>
              </a:srgbClr>
            </a:solidFill>
            <a:prstDash val="solid"/>
          </a:ln>
        </p:spPr>
        <p:txBody>
          <a:bodyPr/>
          <a:lstStyle/>
          <a:p>
            <a:endParaRPr lang="en-GB"/>
          </a:p>
        </p:txBody>
      </p:sp>
      <p:sp>
        <p:nvSpPr>
          <p:cNvPr id="3" name="Shape 1"/>
          <p:cNvSpPr/>
          <p:nvPr/>
        </p:nvSpPr>
        <p:spPr>
          <a:xfrm>
            <a:off x="10012680" y="-685800"/>
            <a:ext cx="2926080" cy="2926080"/>
          </a:xfrm>
          <a:prstGeom prst="ellipse">
            <a:avLst/>
          </a:prstGeom>
          <a:solidFill>
            <a:srgbClr val="EAF5FF">
              <a:alpha val="95000"/>
            </a:srgbClr>
          </a:solidFill>
          <a:ln w="12700">
            <a:solidFill>
              <a:srgbClr val="EAF5FF">
                <a:alpha val="0"/>
              </a:srgbClr>
            </a:solidFill>
            <a:prstDash val="solid"/>
          </a:ln>
        </p:spPr>
        <p:txBody>
          <a:bodyPr/>
          <a:lstStyle/>
          <a:p>
            <a:endParaRPr lang="en-GB"/>
          </a:p>
        </p:txBody>
      </p:sp>
      <p:sp>
        <p:nvSpPr>
          <p:cNvPr id="4" name="Shape 2"/>
          <p:cNvSpPr/>
          <p:nvPr/>
        </p:nvSpPr>
        <p:spPr>
          <a:xfrm>
            <a:off x="10652760" y="5120640"/>
            <a:ext cx="2011680" cy="2011680"/>
          </a:xfrm>
          <a:prstGeom prst="ellipse">
            <a:avLst/>
          </a:prstGeom>
          <a:solidFill>
            <a:srgbClr val="E6FFFA">
              <a:alpha val="76000"/>
            </a:srgbClr>
          </a:solidFill>
          <a:ln w="12700">
            <a:solidFill>
              <a:srgbClr val="E6FFFA">
                <a:alpha val="0"/>
              </a:srgbClr>
            </a:solidFill>
            <a:prstDash val="solid"/>
          </a:ln>
        </p:spPr>
        <p:txBody>
          <a:bodyPr/>
          <a:lstStyle/>
          <a:p>
            <a:endParaRPr lang="en-GB"/>
          </a:p>
        </p:txBody>
      </p:sp>
      <p:sp>
        <p:nvSpPr>
          <p:cNvPr id="5" name="Shape 3"/>
          <p:cNvSpPr/>
          <p:nvPr/>
        </p:nvSpPr>
        <p:spPr>
          <a:xfrm>
            <a:off x="0" y="0"/>
            <a:ext cx="12191695" cy="100584"/>
          </a:xfrm>
          <a:prstGeom prst="rect">
            <a:avLst/>
          </a:prstGeom>
          <a:solidFill>
            <a:srgbClr val="14B8A6"/>
          </a:solidFill>
          <a:ln w="12700">
            <a:solidFill>
              <a:srgbClr val="14B8A6">
                <a:alpha val="0"/>
              </a:srgbClr>
            </a:solidFill>
            <a:prstDash val="solid"/>
          </a:ln>
        </p:spPr>
        <p:txBody>
          <a:bodyPr/>
          <a:lstStyle/>
          <a:p>
            <a:endParaRPr lang="en-GB"/>
          </a:p>
        </p:txBody>
      </p:sp>
      <p:sp>
        <p:nvSpPr>
          <p:cNvPr id="6" name="Text 4"/>
          <p:cNvSpPr/>
          <p:nvPr/>
        </p:nvSpPr>
        <p:spPr>
          <a:xfrm>
            <a:off x="548640" y="6336792"/>
            <a:ext cx="1828800" cy="201168"/>
          </a:xfrm>
          <a:prstGeom prst="rect">
            <a:avLst/>
          </a:prstGeom>
          <a:noFill/>
          <a:ln/>
        </p:spPr>
        <p:txBody>
          <a:bodyPr wrap="square" lIns="0" tIns="0" rIns="0" bIns="0" rtlCol="0" anchor="ctr"/>
          <a:lstStyle/>
          <a:p>
            <a:pPr marL="0" indent="0">
              <a:buNone/>
            </a:pPr>
            <a:r>
              <a:rPr lang="en-US" sz="850" b="1" dirty="0">
                <a:solidFill>
                  <a:srgbClr val="12355B"/>
                </a:solidFill>
              </a:rPr>
              <a:t>IncidentIQ</a:t>
            </a:r>
            <a:endParaRPr lang="en-US" sz="850" dirty="0"/>
          </a:p>
        </p:txBody>
      </p:sp>
      <p:sp>
        <p:nvSpPr>
          <p:cNvPr id="7" name="Text 5"/>
          <p:cNvSpPr/>
          <p:nvPr/>
        </p:nvSpPr>
        <p:spPr>
          <a:xfrm>
            <a:off x="1874520" y="6336792"/>
            <a:ext cx="4572000" cy="201168"/>
          </a:xfrm>
          <a:prstGeom prst="rect">
            <a:avLst/>
          </a:prstGeom>
          <a:noFill/>
          <a:ln/>
        </p:spPr>
        <p:txBody>
          <a:bodyPr wrap="square" lIns="0" tIns="0" rIns="0" bIns="0" rtlCol="0" anchor="ctr"/>
          <a:lstStyle/>
          <a:p>
            <a:pPr marL="0" indent="0">
              <a:buNone/>
            </a:pPr>
            <a:r>
              <a:rPr lang="en-US" sz="850" dirty="0">
                <a:solidFill>
                  <a:srgbClr val="64748B"/>
                </a:solidFill>
              </a:rPr>
              <a:t>Observability</a:t>
            </a:r>
            <a:endParaRPr lang="en-US" sz="850" dirty="0"/>
          </a:p>
        </p:txBody>
      </p:sp>
      <p:sp>
        <p:nvSpPr>
          <p:cNvPr id="8" name="Text 6"/>
          <p:cNvSpPr/>
          <p:nvPr/>
        </p:nvSpPr>
        <p:spPr>
          <a:xfrm>
            <a:off x="11155680" y="6291072"/>
            <a:ext cx="457200" cy="228600"/>
          </a:xfrm>
          <a:prstGeom prst="rect">
            <a:avLst/>
          </a:prstGeom>
          <a:noFill/>
          <a:ln/>
        </p:spPr>
        <p:txBody>
          <a:bodyPr wrap="square" lIns="0" tIns="0" rIns="0" bIns="0" rtlCol="0" anchor="ctr"/>
          <a:lstStyle/>
          <a:p>
            <a:pPr marL="0" indent="0" algn="r">
              <a:buNone/>
            </a:pPr>
            <a:r>
              <a:rPr lang="en-US" sz="850" b="1" dirty="0">
                <a:solidFill>
                  <a:srgbClr val="14B8A6"/>
                </a:solidFill>
              </a:rPr>
              <a:t>12</a:t>
            </a:r>
            <a:endParaRPr lang="en-US" sz="850" dirty="0"/>
          </a:p>
        </p:txBody>
      </p:sp>
      <p:sp>
        <p:nvSpPr>
          <p:cNvPr id="9" name="Text 7"/>
          <p:cNvSpPr/>
          <p:nvPr/>
        </p:nvSpPr>
        <p:spPr>
          <a:xfrm>
            <a:off x="685800" y="603504"/>
            <a:ext cx="5486400" cy="219456"/>
          </a:xfrm>
          <a:prstGeom prst="rect">
            <a:avLst/>
          </a:prstGeom>
          <a:noFill/>
          <a:ln/>
        </p:spPr>
        <p:txBody>
          <a:bodyPr wrap="square" lIns="0" tIns="0" rIns="0" bIns="0" rtlCol="0" anchor="ctr"/>
          <a:lstStyle/>
          <a:p>
            <a:pPr marL="0" indent="0">
              <a:buNone/>
            </a:pPr>
            <a:r>
              <a:rPr lang="en-US" sz="850" b="1" dirty="0">
                <a:solidFill>
                  <a:srgbClr val="14B8A6"/>
                </a:solidFill>
              </a:rPr>
              <a:t>OBSERVABILITY</a:t>
            </a:r>
            <a:endParaRPr lang="en-US" sz="850" dirty="0"/>
          </a:p>
        </p:txBody>
      </p:sp>
      <p:sp>
        <p:nvSpPr>
          <p:cNvPr id="10" name="Text 8"/>
          <p:cNvSpPr/>
          <p:nvPr/>
        </p:nvSpPr>
        <p:spPr>
          <a:xfrm>
            <a:off x="685800" y="914400"/>
            <a:ext cx="9784080" cy="658368"/>
          </a:xfrm>
          <a:prstGeom prst="rect">
            <a:avLst/>
          </a:prstGeom>
          <a:noFill/>
          <a:ln/>
        </p:spPr>
        <p:txBody>
          <a:bodyPr wrap="square" lIns="0" tIns="0" rIns="0" bIns="0" rtlCol="0" anchor="ctr">
            <a:normAutofit/>
          </a:bodyPr>
          <a:lstStyle/>
          <a:p>
            <a:pPr marL="0" indent="0">
              <a:buNone/>
            </a:pPr>
            <a:r>
              <a:rPr lang="en-US" sz="3000" b="1" dirty="0">
                <a:solidFill>
                  <a:srgbClr val="0B1F33"/>
                </a:solidFill>
                <a:latin typeface="Aptos Display" pitchFamily="34" charset="0"/>
                <a:ea typeface="Aptos Display" pitchFamily="34" charset="-122"/>
                <a:cs typeface="Aptos Display" pitchFamily="34" charset="-120"/>
              </a:rPr>
              <a:t>Observability and scaling</a:t>
            </a:r>
            <a:endParaRPr lang="en-US" sz="3000" dirty="0"/>
          </a:p>
        </p:txBody>
      </p:sp>
      <p:sp>
        <p:nvSpPr>
          <p:cNvPr id="11" name="Text 9"/>
          <p:cNvSpPr/>
          <p:nvPr/>
        </p:nvSpPr>
        <p:spPr>
          <a:xfrm>
            <a:off x="685800" y="1682496"/>
            <a:ext cx="7863840" cy="420624"/>
          </a:xfrm>
          <a:prstGeom prst="rect">
            <a:avLst/>
          </a:prstGeom>
          <a:noFill/>
          <a:ln/>
        </p:spPr>
        <p:txBody>
          <a:bodyPr wrap="square" lIns="254" tIns="254" rIns="254" bIns="254" rtlCol="0" anchor="ctr">
            <a:normAutofit/>
          </a:bodyPr>
          <a:lstStyle/>
          <a:p>
            <a:pPr marL="0" indent="0">
              <a:buNone/>
            </a:pPr>
            <a:r>
              <a:rPr lang="en-US" sz="1320" dirty="0">
                <a:solidFill>
                  <a:srgbClr val="52657A"/>
                </a:solidFill>
              </a:rPr>
              <a:t>OpenTelemetry and KEDA make the asynchronous flow diagnosable and scalable in Azure.</a:t>
            </a:r>
            <a:endParaRPr lang="en-US" sz="1320" dirty="0"/>
          </a:p>
        </p:txBody>
      </p:sp>
      <p:sp>
        <p:nvSpPr>
          <p:cNvPr id="12" name="Shape 10"/>
          <p:cNvSpPr/>
          <p:nvPr/>
        </p:nvSpPr>
        <p:spPr>
          <a:xfrm>
            <a:off x="804672" y="2359152"/>
            <a:ext cx="2971800" cy="1097280"/>
          </a:xfrm>
          <a:prstGeom prst="roundRect">
            <a:avLst>
              <a:gd name="adj" fmla="val 10000"/>
            </a:avLst>
          </a:prstGeom>
          <a:solidFill>
            <a:srgbClr val="FFFFFF"/>
          </a:solidFill>
          <a:ln w="12700">
            <a:solidFill>
              <a:srgbClr val="C9DCEB">
                <a:alpha val="85000"/>
              </a:srgbClr>
            </a:solidFill>
            <a:prstDash val="solid"/>
          </a:ln>
          <a:effectLst>
            <a:outerShdw blurRad="19050" dist="50800" dir="2700000" algn="bl" rotWithShape="0">
              <a:srgbClr val="B9CFE0">
                <a:alpha val="13000"/>
              </a:srgbClr>
            </a:outerShdw>
          </a:effectLst>
        </p:spPr>
        <p:txBody>
          <a:bodyPr/>
          <a:lstStyle/>
          <a:p>
            <a:endParaRPr lang="en-GB"/>
          </a:p>
        </p:txBody>
      </p:sp>
      <p:sp>
        <p:nvSpPr>
          <p:cNvPr id="13" name="Shape 11"/>
          <p:cNvSpPr/>
          <p:nvPr/>
        </p:nvSpPr>
        <p:spPr>
          <a:xfrm>
            <a:off x="804672" y="2359152"/>
            <a:ext cx="73152" cy="1097280"/>
          </a:xfrm>
          <a:prstGeom prst="rect">
            <a:avLst/>
          </a:prstGeom>
          <a:solidFill>
            <a:srgbClr val="2563EB"/>
          </a:solidFill>
          <a:ln w="12700">
            <a:solidFill>
              <a:srgbClr val="2563EB">
                <a:alpha val="0"/>
              </a:srgbClr>
            </a:solidFill>
            <a:prstDash val="solid"/>
          </a:ln>
        </p:spPr>
        <p:txBody>
          <a:bodyPr/>
          <a:lstStyle/>
          <a:p>
            <a:endParaRPr lang="en-GB"/>
          </a:p>
        </p:txBody>
      </p:sp>
      <p:sp>
        <p:nvSpPr>
          <p:cNvPr id="14" name="Text 12"/>
          <p:cNvSpPr/>
          <p:nvPr/>
        </p:nvSpPr>
        <p:spPr>
          <a:xfrm>
            <a:off x="1024128" y="2523744"/>
            <a:ext cx="2624328" cy="274320"/>
          </a:xfrm>
          <a:prstGeom prst="rect">
            <a:avLst/>
          </a:prstGeom>
          <a:noFill/>
          <a:ln/>
        </p:spPr>
        <p:txBody>
          <a:bodyPr wrap="square" lIns="0" tIns="0" rIns="0" bIns="0" rtlCol="0" anchor="ctr">
            <a:normAutofit/>
          </a:bodyPr>
          <a:lstStyle/>
          <a:p>
            <a:pPr marL="0" indent="0">
              <a:buNone/>
            </a:pPr>
            <a:r>
              <a:rPr lang="en-US" sz="1230" b="1" dirty="0">
                <a:solidFill>
                  <a:srgbClr val="0B1F33"/>
                </a:solidFill>
                <a:latin typeface="Aptos Display" pitchFamily="34" charset="0"/>
                <a:ea typeface="Aptos Display" pitchFamily="34" charset="-122"/>
                <a:cs typeface="Aptos Display" pitchFamily="34" charset="-120"/>
              </a:rPr>
              <a:t>Distributed trace</a:t>
            </a:r>
            <a:endParaRPr lang="en-US" sz="1230" dirty="0"/>
          </a:p>
        </p:txBody>
      </p:sp>
      <p:sp>
        <p:nvSpPr>
          <p:cNvPr id="15" name="Text 13"/>
          <p:cNvSpPr/>
          <p:nvPr/>
        </p:nvSpPr>
        <p:spPr>
          <a:xfrm>
            <a:off x="1024128" y="2926080"/>
            <a:ext cx="2624328" cy="384048"/>
          </a:xfrm>
          <a:prstGeom prst="rect">
            <a:avLst/>
          </a:prstGeom>
          <a:noFill/>
          <a:ln/>
        </p:spPr>
        <p:txBody>
          <a:bodyPr wrap="square" lIns="0" tIns="0" rIns="0" bIns="0" rtlCol="0" anchor="ctr">
            <a:normAutofit/>
          </a:bodyPr>
          <a:lstStyle/>
          <a:p>
            <a:pPr marL="0" indent="0">
              <a:buNone/>
            </a:pPr>
            <a:r>
              <a:rPr lang="en-US" sz="980" dirty="0">
                <a:solidFill>
                  <a:srgbClr val="52657A"/>
                </a:solidFill>
              </a:rPr>
              <a:t>API → Cosmos outbox → Service Bus → Worker remains correlated with one operation ID.</a:t>
            </a:r>
            <a:endParaRPr lang="en-US" sz="980" dirty="0"/>
          </a:p>
        </p:txBody>
      </p:sp>
      <p:sp>
        <p:nvSpPr>
          <p:cNvPr id="16" name="Shape 14"/>
          <p:cNvSpPr/>
          <p:nvPr/>
        </p:nvSpPr>
        <p:spPr>
          <a:xfrm>
            <a:off x="4041648" y="2359152"/>
            <a:ext cx="2971800" cy="1097280"/>
          </a:xfrm>
          <a:prstGeom prst="roundRect">
            <a:avLst>
              <a:gd name="adj" fmla="val 10000"/>
            </a:avLst>
          </a:prstGeom>
          <a:solidFill>
            <a:srgbClr val="FFFFFF"/>
          </a:solidFill>
          <a:ln w="12700">
            <a:solidFill>
              <a:srgbClr val="C9DCEB">
                <a:alpha val="85000"/>
              </a:srgbClr>
            </a:solidFill>
            <a:prstDash val="solid"/>
          </a:ln>
          <a:effectLst>
            <a:outerShdw blurRad="19050" dist="50800" dir="2700000" algn="bl" rotWithShape="0">
              <a:srgbClr val="B9CFE0">
                <a:alpha val="13000"/>
              </a:srgbClr>
            </a:outerShdw>
          </a:effectLst>
        </p:spPr>
        <p:txBody>
          <a:bodyPr/>
          <a:lstStyle/>
          <a:p>
            <a:endParaRPr lang="en-GB"/>
          </a:p>
        </p:txBody>
      </p:sp>
      <p:sp>
        <p:nvSpPr>
          <p:cNvPr id="17" name="Shape 15"/>
          <p:cNvSpPr/>
          <p:nvPr/>
        </p:nvSpPr>
        <p:spPr>
          <a:xfrm>
            <a:off x="4041648" y="2359152"/>
            <a:ext cx="73152" cy="1097280"/>
          </a:xfrm>
          <a:prstGeom prst="rect">
            <a:avLst/>
          </a:prstGeom>
          <a:solidFill>
            <a:srgbClr val="14B8A6"/>
          </a:solidFill>
          <a:ln w="12700">
            <a:solidFill>
              <a:srgbClr val="14B8A6">
                <a:alpha val="0"/>
              </a:srgbClr>
            </a:solidFill>
            <a:prstDash val="solid"/>
          </a:ln>
        </p:spPr>
        <p:txBody>
          <a:bodyPr/>
          <a:lstStyle/>
          <a:p>
            <a:endParaRPr lang="en-GB"/>
          </a:p>
        </p:txBody>
      </p:sp>
      <p:sp>
        <p:nvSpPr>
          <p:cNvPr id="18" name="Text 16"/>
          <p:cNvSpPr/>
          <p:nvPr/>
        </p:nvSpPr>
        <p:spPr>
          <a:xfrm>
            <a:off x="4261104" y="2523744"/>
            <a:ext cx="2624328" cy="274320"/>
          </a:xfrm>
          <a:prstGeom prst="rect">
            <a:avLst/>
          </a:prstGeom>
          <a:noFill/>
          <a:ln/>
        </p:spPr>
        <p:txBody>
          <a:bodyPr wrap="square" lIns="0" tIns="0" rIns="0" bIns="0" rtlCol="0" anchor="ctr">
            <a:normAutofit/>
          </a:bodyPr>
          <a:lstStyle/>
          <a:p>
            <a:pPr marL="0" indent="0">
              <a:buNone/>
            </a:pPr>
            <a:r>
              <a:rPr lang="en-US" sz="1230" b="1" dirty="0">
                <a:solidFill>
                  <a:srgbClr val="0B1F33"/>
                </a:solidFill>
                <a:latin typeface="Aptos Display" pitchFamily="34" charset="0"/>
                <a:ea typeface="Aptos Display" pitchFamily="34" charset="-122"/>
                <a:cs typeface="Aptos Display" pitchFamily="34" charset="-120"/>
              </a:rPr>
              <a:t>Custom metrics</a:t>
            </a:r>
            <a:endParaRPr lang="en-US" sz="1230" dirty="0"/>
          </a:p>
        </p:txBody>
      </p:sp>
      <p:sp>
        <p:nvSpPr>
          <p:cNvPr id="19" name="Text 17"/>
          <p:cNvSpPr/>
          <p:nvPr/>
        </p:nvSpPr>
        <p:spPr>
          <a:xfrm>
            <a:off x="4261104" y="2926080"/>
            <a:ext cx="2624328" cy="384048"/>
          </a:xfrm>
          <a:prstGeom prst="rect">
            <a:avLst/>
          </a:prstGeom>
          <a:noFill/>
          <a:ln/>
        </p:spPr>
        <p:txBody>
          <a:bodyPr wrap="square" lIns="0" tIns="0" rIns="0" bIns="0" rtlCol="0" anchor="ctr">
            <a:normAutofit/>
          </a:bodyPr>
          <a:lstStyle/>
          <a:p>
            <a:pPr marL="0" indent="0">
              <a:buNone/>
            </a:pPr>
            <a:r>
              <a:rPr lang="en-US" sz="980" dirty="0">
                <a:solidFill>
                  <a:srgbClr val="52657A"/>
                </a:solidFill>
              </a:rPr>
              <a:t>Queue wait, processing duration, AI latency, terminal failures and retries.</a:t>
            </a:r>
            <a:endParaRPr lang="en-US" sz="980" dirty="0"/>
          </a:p>
        </p:txBody>
      </p:sp>
      <p:sp>
        <p:nvSpPr>
          <p:cNvPr id="20" name="Shape 18"/>
          <p:cNvSpPr/>
          <p:nvPr/>
        </p:nvSpPr>
        <p:spPr>
          <a:xfrm>
            <a:off x="7278624" y="2359152"/>
            <a:ext cx="2971800" cy="1097280"/>
          </a:xfrm>
          <a:prstGeom prst="roundRect">
            <a:avLst>
              <a:gd name="adj" fmla="val 10000"/>
            </a:avLst>
          </a:prstGeom>
          <a:solidFill>
            <a:srgbClr val="FFFFFF"/>
          </a:solidFill>
          <a:ln w="12700">
            <a:solidFill>
              <a:srgbClr val="C9DCEB">
                <a:alpha val="85000"/>
              </a:srgbClr>
            </a:solidFill>
            <a:prstDash val="solid"/>
          </a:ln>
          <a:effectLst>
            <a:outerShdw blurRad="19050" dist="50800" dir="2700000" algn="bl" rotWithShape="0">
              <a:srgbClr val="B9CFE0">
                <a:alpha val="13000"/>
              </a:srgbClr>
            </a:outerShdw>
          </a:effectLst>
        </p:spPr>
        <p:txBody>
          <a:bodyPr/>
          <a:lstStyle/>
          <a:p>
            <a:endParaRPr lang="en-GB"/>
          </a:p>
        </p:txBody>
      </p:sp>
      <p:sp>
        <p:nvSpPr>
          <p:cNvPr id="21" name="Shape 19"/>
          <p:cNvSpPr/>
          <p:nvPr/>
        </p:nvSpPr>
        <p:spPr>
          <a:xfrm>
            <a:off x="7278624" y="2359152"/>
            <a:ext cx="73152" cy="1097280"/>
          </a:xfrm>
          <a:prstGeom prst="rect">
            <a:avLst/>
          </a:prstGeom>
          <a:solidFill>
            <a:srgbClr val="7C3AED"/>
          </a:solidFill>
          <a:ln w="12700">
            <a:solidFill>
              <a:srgbClr val="7C3AED">
                <a:alpha val="0"/>
              </a:srgbClr>
            </a:solidFill>
            <a:prstDash val="solid"/>
          </a:ln>
        </p:spPr>
        <p:txBody>
          <a:bodyPr/>
          <a:lstStyle/>
          <a:p>
            <a:endParaRPr lang="en-GB"/>
          </a:p>
        </p:txBody>
      </p:sp>
      <p:sp>
        <p:nvSpPr>
          <p:cNvPr id="22" name="Text 20"/>
          <p:cNvSpPr/>
          <p:nvPr/>
        </p:nvSpPr>
        <p:spPr>
          <a:xfrm>
            <a:off x="7498080" y="2523744"/>
            <a:ext cx="2624328" cy="274320"/>
          </a:xfrm>
          <a:prstGeom prst="rect">
            <a:avLst/>
          </a:prstGeom>
          <a:noFill/>
          <a:ln/>
        </p:spPr>
        <p:txBody>
          <a:bodyPr wrap="square" lIns="0" tIns="0" rIns="0" bIns="0" rtlCol="0" anchor="ctr">
            <a:normAutofit/>
          </a:bodyPr>
          <a:lstStyle/>
          <a:p>
            <a:pPr marL="0" indent="0">
              <a:buNone/>
            </a:pPr>
            <a:r>
              <a:rPr lang="en-US" sz="1230" b="1" dirty="0">
                <a:solidFill>
                  <a:srgbClr val="0B1F33"/>
                </a:solidFill>
                <a:latin typeface="Aptos Display" pitchFamily="34" charset="0"/>
                <a:ea typeface="Aptos Display" pitchFamily="34" charset="-122"/>
                <a:cs typeface="Aptos Display" pitchFamily="34" charset="-120"/>
              </a:rPr>
              <a:t>KEDA scaling</a:t>
            </a:r>
            <a:endParaRPr lang="en-US" sz="1230" dirty="0"/>
          </a:p>
        </p:txBody>
      </p:sp>
      <p:sp>
        <p:nvSpPr>
          <p:cNvPr id="23" name="Text 21"/>
          <p:cNvSpPr/>
          <p:nvPr/>
        </p:nvSpPr>
        <p:spPr>
          <a:xfrm>
            <a:off x="7498080" y="2926080"/>
            <a:ext cx="2624328" cy="384048"/>
          </a:xfrm>
          <a:prstGeom prst="rect">
            <a:avLst/>
          </a:prstGeom>
          <a:noFill/>
          <a:ln/>
        </p:spPr>
        <p:txBody>
          <a:bodyPr wrap="square" lIns="0" tIns="0" rIns="0" bIns="0" rtlCol="0" anchor="ctr">
            <a:normAutofit/>
          </a:bodyPr>
          <a:lstStyle/>
          <a:p>
            <a:pPr marL="0" indent="0">
              <a:buNone/>
            </a:pPr>
            <a:r>
              <a:rPr lang="en-US" sz="980" dirty="0">
                <a:solidFill>
                  <a:srgbClr val="52657A"/>
                </a:solidFill>
              </a:rPr>
              <a:t>Worker scales from 1–3 replicas using analyse-incident queue depth.</a:t>
            </a:r>
            <a:endParaRPr lang="en-US" sz="980" dirty="0"/>
          </a:p>
        </p:txBody>
      </p:sp>
      <p:sp>
        <p:nvSpPr>
          <p:cNvPr id="24" name="Text 22"/>
          <p:cNvSpPr/>
          <p:nvPr/>
        </p:nvSpPr>
        <p:spPr>
          <a:xfrm>
            <a:off x="822960" y="4160520"/>
            <a:ext cx="1280160" cy="201168"/>
          </a:xfrm>
          <a:prstGeom prst="rect">
            <a:avLst/>
          </a:prstGeom>
          <a:noFill/>
          <a:ln/>
        </p:spPr>
        <p:txBody>
          <a:bodyPr wrap="square" lIns="0" tIns="0" rIns="0" bIns="0" rtlCol="0" anchor="ctr"/>
          <a:lstStyle/>
          <a:p>
            <a:pPr marL="0" indent="0">
              <a:buNone/>
            </a:pPr>
            <a:r>
              <a:rPr lang="en-US" sz="750" b="1" dirty="0">
                <a:solidFill>
                  <a:srgbClr val="14B8A6"/>
                </a:solidFill>
              </a:rPr>
              <a:t>Azure verification captures</a:t>
            </a:r>
            <a:endParaRPr lang="en-US" sz="750" dirty="0"/>
          </a:p>
        </p:txBody>
      </p:sp>
      <p:sp>
        <p:nvSpPr>
          <p:cNvPr id="25" name="Text 23"/>
          <p:cNvSpPr/>
          <p:nvPr/>
        </p:nvSpPr>
        <p:spPr>
          <a:xfrm>
            <a:off x="822960" y="4526280"/>
            <a:ext cx="1417320" cy="274320"/>
          </a:xfrm>
          <a:prstGeom prst="rect">
            <a:avLst/>
          </a:prstGeom>
          <a:solidFill>
            <a:srgbClr val="14B8A6"/>
          </a:solidFill>
          <a:ln>
            <a:solidFill>
              <a:srgbClr val="14B8A6">
                <a:alpha val="0"/>
              </a:srgbClr>
            </a:solidFill>
          </a:ln>
        </p:spPr>
        <p:txBody>
          <a:bodyPr wrap="square" lIns="254" tIns="254" rIns="254" bIns="254" rtlCol="0" anchor="ctr">
            <a:normAutofit/>
          </a:bodyPr>
          <a:lstStyle/>
          <a:p>
            <a:pPr marL="0" indent="0" algn="ctr">
              <a:buNone/>
            </a:pPr>
            <a:r>
              <a:rPr lang="en-US" sz="850" b="1" dirty="0">
                <a:solidFill>
                  <a:srgbClr val="FFFFFF"/>
                </a:solidFill>
              </a:rPr>
              <a:t>Trace screenshot</a:t>
            </a:r>
            <a:endParaRPr lang="en-US" sz="850" dirty="0"/>
          </a:p>
        </p:txBody>
      </p:sp>
      <p:sp>
        <p:nvSpPr>
          <p:cNvPr id="26" name="Text 24"/>
          <p:cNvSpPr/>
          <p:nvPr/>
        </p:nvSpPr>
        <p:spPr>
          <a:xfrm>
            <a:off x="2468880" y="4526280"/>
            <a:ext cx="1325880" cy="274320"/>
          </a:xfrm>
          <a:prstGeom prst="rect">
            <a:avLst/>
          </a:prstGeom>
          <a:solidFill>
            <a:srgbClr val="2563EB"/>
          </a:solidFill>
          <a:ln>
            <a:solidFill>
              <a:srgbClr val="2563EB">
                <a:alpha val="0"/>
              </a:srgbClr>
            </a:solidFill>
          </a:ln>
        </p:spPr>
        <p:txBody>
          <a:bodyPr wrap="square" lIns="254" tIns="254" rIns="254" bIns="254" rtlCol="0" anchor="ctr">
            <a:normAutofit/>
          </a:bodyPr>
          <a:lstStyle/>
          <a:p>
            <a:pPr marL="0" indent="0" algn="ctr">
              <a:buNone/>
            </a:pPr>
            <a:r>
              <a:rPr lang="en-US" sz="850" b="1" dirty="0">
                <a:solidFill>
                  <a:srgbClr val="FFFFFF"/>
                </a:solidFill>
              </a:rPr>
              <a:t>Analysis stages</a:t>
            </a:r>
            <a:endParaRPr lang="en-US" sz="850" dirty="0"/>
          </a:p>
        </p:txBody>
      </p:sp>
      <p:sp>
        <p:nvSpPr>
          <p:cNvPr id="27" name="Text 25"/>
          <p:cNvSpPr/>
          <p:nvPr/>
        </p:nvSpPr>
        <p:spPr>
          <a:xfrm>
            <a:off x="4023360" y="4526280"/>
            <a:ext cx="1234440" cy="274320"/>
          </a:xfrm>
          <a:prstGeom prst="rect">
            <a:avLst/>
          </a:prstGeom>
          <a:solidFill>
            <a:srgbClr val="FBBF24"/>
          </a:solidFill>
          <a:ln>
            <a:solidFill>
              <a:srgbClr val="FBBF24">
                <a:alpha val="0"/>
              </a:srgbClr>
            </a:solidFill>
          </a:ln>
        </p:spPr>
        <p:txBody>
          <a:bodyPr wrap="square" lIns="254" tIns="254" rIns="254" bIns="254" rtlCol="0" anchor="ctr">
            <a:normAutofit/>
          </a:bodyPr>
          <a:lstStyle/>
          <a:p>
            <a:pPr marL="0" indent="0" algn="ctr">
              <a:buNone/>
            </a:pPr>
            <a:r>
              <a:rPr lang="en-US" sz="850" b="1" dirty="0">
                <a:solidFill>
                  <a:srgbClr val="0B1F33"/>
                </a:solidFill>
              </a:rPr>
              <a:t>Latency chart</a:t>
            </a:r>
            <a:endParaRPr lang="en-US" sz="850" dirty="0"/>
          </a:p>
        </p:txBody>
      </p:sp>
      <p:sp>
        <p:nvSpPr>
          <p:cNvPr id="28" name="Shape 26"/>
          <p:cNvSpPr/>
          <p:nvPr/>
        </p:nvSpPr>
        <p:spPr>
          <a:xfrm>
            <a:off x="822960" y="5138928"/>
            <a:ext cx="6720840" cy="804672"/>
          </a:xfrm>
          <a:prstGeom prst="roundRect">
            <a:avLst>
              <a:gd name="adj" fmla="val 11364"/>
            </a:avLst>
          </a:prstGeom>
          <a:solidFill>
            <a:srgbClr val="F8FCFF"/>
          </a:solidFill>
          <a:ln w="12700">
            <a:solidFill>
              <a:srgbClr val="2563EB">
                <a:alpha val="55000"/>
              </a:srgbClr>
            </a:solidFill>
            <a:prstDash val="solid"/>
          </a:ln>
        </p:spPr>
        <p:txBody>
          <a:bodyPr/>
          <a:lstStyle/>
          <a:p>
            <a:endParaRPr lang="en-GB"/>
          </a:p>
        </p:txBody>
      </p:sp>
      <p:sp>
        <p:nvSpPr>
          <p:cNvPr id="29" name="Text 27"/>
          <p:cNvSpPr/>
          <p:nvPr/>
        </p:nvSpPr>
        <p:spPr>
          <a:xfrm>
            <a:off x="1051560" y="5276088"/>
            <a:ext cx="6263640" cy="256032"/>
          </a:xfrm>
          <a:prstGeom prst="rect">
            <a:avLst/>
          </a:prstGeom>
          <a:noFill/>
          <a:ln/>
        </p:spPr>
        <p:txBody>
          <a:bodyPr wrap="square" lIns="0" tIns="0" rIns="0" bIns="0" rtlCol="0" anchor="ctr">
            <a:normAutofit/>
          </a:bodyPr>
          <a:lstStyle/>
          <a:p>
            <a:pPr marL="0" indent="0">
              <a:buNone/>
            </a:pPr>
            <a:r>
              <a:rPr lang="en-US" sz="1040" b="1" dirty="0">
                <a:solidFill>
                  <a:srgbClr val="2563EB"/>
                </a:solidFill>
              </a:rPr>
              <a:t>Why it matters</a:t>
            </a:r>
            <a:endParaRPr lang="en-US" sz="1040" dirty="0"/>
          </a:p>
        </p:txBody>
      </p:sp>
      <p:sp>
        <p:nvSpPr>
          <p:cNvPr id="30" name="Text 28"/>
          <p:cNvSpPr/>
          <p:nvPr/>
        </p:nvSpPr>
        <p:spPr>
          <a:xfrm>
            <a:off x="1051560" y="5577840"/>
            <a:ext cx="6263640" cy="301752"/>
          </a:xfrm>
          <a:prstGeom prst="rect">
            <a:avLst/>
          </a:prstGeom>
          <a:noFill/>
          <a:ln/>
        </p:spPr>
        <p:txBody>
          <a:bodyPr wrap="square" lIns="0" tIns="0" rIns="0" bIns="0" rtlCol="0" anchor="ctr">
            <a:normAutofit/>
          </a:bodyPr>
          <a:lstStyle/>
          <a:p>
            <a:pPr marL="0" indent="0">
              <a:buNone/>
            </a:pPr>
            <a:r>
              <a:rPr lang="en-US" sz="830" dirty="0">
                <a:solidFill>
                  <a:srgbClr val="52657A"/>
                </a:solidFill>
              </a:rPr>
              <a:t>The demo can prove not just that the UI works, but that the system is observable across asynchronous boundaries.</a:t>
            </a:r>
            <a:endParaRPr lang="en-US" sz="830" dirty="0"/>
          </a:p>
        </p:txBody>
      </p:sp>
      <p:sp>
        <p:nvSpPr>
          <p:cNvPr id="31" name="Text 29"/>
          <p:cNvSpPr/>
          <p:nvPr/>
        </p:nvSpPr>
        <p:spPr>
          <a:xfrm>
            <a:off x="8229600" y="4526280"/>
            <a:ext cx="1463040" cy="393192"/>
          </a:xfrm>
          <a:prstGeom prst="rect">
            <a:avLst/>
          </a:prstGeom>
          <a:noFill/>
          <a:ln/>
        </p:spPr>
        <p:txBody>
          <a:bodyPr wrap="square" lIns="0" tIns="0" rIns="0" bIns="0" rtlCol="0" anchor="ctr"/>
          <a:lstStyle/>
          <a:p>
            <a:pPr marL="0" indent="0" algn="ctr">
              <a:buNone/>
            </a:pPr>
            <a:r>
              <a:rPr lang="en-US" sz="1900" b="1" dirty="0">
                <a:solidFill>
                  <a:srgbClr val="7C3AED"/>
                </a:solidFill>
                <a:latin typeface="Aptos Display" pitchFamily="34" charset="0"/>
                <a:ea typeface="Aptos Display" pitchFamily="34" charset="-122"/>
                <a:cs typeface="Aptos Display" pitchFamily="34" charset="-120"/>
              </a:rPr>
              <a:t>1–3</a:t>
            </a:r>
            <a:endParaRPr lang="en-US" sz="1900" dirty="0"/>
          </a:p>
        </p:txBody>
      </p:sp>
      <p:sp>
        <p:nvSpPr>
          <p:cNvPr id="32" name="Text 30"/>
          <p:cNvSpPr/>
          <p:nvPr/>
        </p:nvSpPr>
        <p:spPr>
          <a:xfrm>
            <a:off x="8229600" y="4937760"/>
            <a:ext cx="1463040" cy="310896"/>
          </a:xfrm>
          <a:prstGeom prst="rect">
            <a:avLst/>
          </a:prstGeom>
          <a:noFill/>
          <a:ln/>
        </p:spPr>
        <p:txBody>
          <a:bodyPr wrap="square" lIns="0" tIns="0" rIns="0" bIns="0" rtlCol="0" anchor="ctr">
            <a:normAutofit/>
          </a:bodyPr>
          <a:lstStyle/>
          <a:p>
            <a:pPr marL="0" indent="0" algn="ctr">
              <a:buNone/>
            </a:pPr>
            <a:r>
              <a:rPr lang="en-US" sz="850" dirty="0">
                <a:solidFill>
                  <a:srgbClr val="52657A"/>
                </a:solidFill>
              </a:rPr>
              <a:t>replicas</a:t>
            </a:r>
            <a:endParaRPr lang="en-US" sz="850" dirty="0"/>
          </a:p>
        </p:txBody>
      </p:sp>
      <p:sp>
        <p:nvSpPr>
          <p:cNvPr id="33" name="Text 31"/>
          <p:cNvSpPr/>
          <p:nvPr/>
        </p:nvSpPr>
        <p:spPr>
          <a:xfrm>
            <a:off x="9646920" y="4526280"/>
            <a:ext cx="1463040" cy="393192"/>
          </a:xfrm>
          <a:prstGeom prst="rect">
            <a:avLst/>
          </a:prstGeom>
          <a:noFill/>
          <a:ln/>
        </p:spPr>
        <p:txBody>
          <a:bodyPr wrap="square" lIns="0" tIns="0" rIns="0" bIns="0" rtlCol="0" anchor="ctr"/>
          <a:lstStyle/>
          <a:p>
            <a:pPr marL="0" indent="0" algn="ctr">
              <a:buNone/>
            </a:pPr>
            <a:r>
              <a:rPr lang="en-US" sz="1900" b="1" dirty="0">
                <a:solidFill>
                  <a:srgbClr val="14B8A6"/>
                </a:solidFill>
                <a:latin typeface="Aptos Display" pitchFamily="34" charset="0"/>
                <a:ea typeface="Aptos Display" pitchFamily="34" charset="-122"/>
                <a:cs typeface="Aptos Display" pitchFamily="34" charset="-120"/>
              </a:rPr>
              <a:t>2/msg</a:t>
            </a:r>
            <a:endParaRPr lang="en-US" sz="1900" dirty="0"/>
          </a:p>
        </p:txBody>
      </p:sp>
      <p:sp>
        <p:nvSpPr>
          <p:cNvPr id="34" name="Text 32"/>
          <p:cNvSpPr/>
          <p:nvPr/>
        </p:nvSpPr>
        <p:spPr>
          <a:xfrm>
            <a:off x="9646920" y="4937760"/>
            <a:ext cx="1463040" cy="310896"/>
          </a:xfrm>
          <a:prstGeom prst="rect">
            <a:avLst/>
          </a:prstGeom>
          <a:noFill/>
          <a:ln/>
        </p:spPr>
        <p:txBody>
          <a:bodyPr wrap="square" lIns="0" tIns="0" rIns="0" bIns="0" rtlCol="0" anchor="ctr">
            <a:normAutofit/>
          </a:bodyPr>
          <a:lstStyle/>
          <a:p>
            <a:pPr marL="0" indent="0" algn="ctr">
              <a:buNone/>
            </a:pPr>
            <a:r>
              <a:rPr lang="en-US" sz="850" dirty="0">
                <a:solidFill>
                  <a:srgbClr val="52657A"/>
                </a:solidFill>
              </a:rPr>
              <a:t>target depth</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BFF"/>
        </a:solidFill>
        <a:effectLst/>
      </p:bgPr>
    </p:bg>
    <p:spTree>
      <p:nvGrpSpPr>
        <p:cNvPr id="1" name=""/>
        <p:cNvGrpSpPr/>
        <p:nvPr/>
      </p:nvGrpSpPr>
      <p:grpSpPr>
        <a:xfrm>
          <a:off x="0" y="0"/>
          <a:ext cx="0" cy="0"/>
          <a:chOff x="0" y="0"/>
          <a:chExt cx="0" cy="0"/>
        </a:xfrm>
      </p:grpSpPr>
      <p:sp>
        <p:nvSpPr>
          <p:cNvPr id="2" name="Shape 0"/>
          <p:cNvSpPr/>
          <p:nvPr/>
        </p:nvSpPr>
        <p:spPr>
          <a:xfrm>
            <a:off x="-1143000" y="-1143000"/>
            <a:ext cx="3749040" cy="3749040"/>
          </a:xfrm>
          <a:prstGeom prst="arc">
            <a:avLst/>
          </a:prstGeom>
          <a:solidFill>
            <a:srgbClr val="E6FFFA">
              <a:alpha val="94000"/>
            </a:srgbClr>
          </a:solidFill>
          <a:ln w="12700">
            <a:solidFill>
              <a:srgbClr val="E6FFFA">
                <a:alpha val="0"/>
              </a:srgbClr>
            </a:solidFill>
            <a:prstDash val="solid"/>
          </a:ln>
        </p:spPr>
        <p:txBody>
          <a:bodyPr/>
          <a:lstStyle/>
          <a:p>
            <a:endParaRPr lang="en-GB"/>
          </a:p>
        </p:txBody>
      </p:sp>
      <p:sp>
        <p:nvSpPr>
          <p:cNvPr id="3" name="Shape 1"/>
          <p:cNvSpPr/>
          <p:nvPr/>
        </p:nvSpPr>
        <p:spPr>
          <a:xfrm>
            <a:off x="10012680" y="-685800"/>
            <a:ext cx="2926080" cy="2926080"/>
          </a:xfrm>
          <a:prstGeom prst="ellipse">
            <a:avLst/>
          </a:prstGeom>
          <a:solidFill>
            <a:srgbClr val="EAF5FF">
              <a:alpha val="95000"/>
            </a:srgbClr>
          </a:solidFill>
          <a:ln w="12700">
            <a:solidFill>
              <a:srgbClr val="EAF5FF">
                <a:alpha val="0"/>
              </a:srgbClr>
            </a:solidFill>
            <a:prstDash val="solid"/>
          </a:ln>
        </p:spPr>
        <p:txBody>
          <a:bodyPr/>
          <a:lstStyle/>
          <a:p>
            <a:endParaRPr lang="en-GB"/>
          </a:p>
        </p:txBody>
      </p:sp>
      <p:sp>
        <p:nvSpPr>
          <p:cNvPr id="4" name="Shape 2"/>
          <p:cNvSpPr/>
          <p:nvPr/>
        </p:nvSpPr>
        <p:spPr>
          <a:xfrm>
            <a:off x="10652760" y="5120640"/>
            <a:ext cx="2011680" cy="2011680"/>
          </a:xfrm>
          <a:prstGeom prst="ellipse">
            <a:avLst/>
          </a:prstGeom>
          <a:solidFill>
            <a:srgbClr val="E6FFFA">
              <a:alpha val="76000"/>
            </a:srgbClr>
          </a:solidFill>
          <a:ln w="12700">
            <a:solidFill>
              <a:srgbClr val="E6FFFA">
                <a:alpha val="0"/>
              </a:srgbClr>
            </a:solidFill>
            <a:prstDash val="solid"/>
          </a:ln>
        </p:spPr>
        <p:txBody>
          <a:bodyPr/>
          <a:lstStyle/>
          <a:p>
            <a:endParaRPr lang="en-GB"/>
          </a:p>
        </p:txBody>
      </p:sp>
      <p:sp>
        <p:nvSpPr>
          <p:cNvPr id="5" name="Shape 3"/>
          <p:cNvSpPr/>
          <p:nvPr/>
        </p:nvSpPr>
        <p:spPr>
          <a:xfrm>
            <a:off x="0" y="0"/>
            <a:ext cx="12191695" cy="100584"/>
          </a:xfrm>
          <a:prstGeom prst="rect">
            <a:avLst/>
          </a:prstGeom>
          <a:solidFill>
            <a:srgbClr val="14B8A6"/>
          </a:solidFill>
          <a:ln w="12700">
            <a:solidFill>
              <a:srgbClr val="14B8A6">
                <a:alpha val="0"/>
              </a:srgbClr>
            </a:solidFill>
            <a:prstDash val="solid"/>
          </a:ln>
        </p:spPr>
        <p:txBody>
          <a:bodyPr/>
          <a:lstStyle/>
          <a:p>
            <a:endParaRPr lang="en-GB"/>
          </a:p>
        </p:txBody>
      </p:sp>
      <p:sp>
        <p:nvSpPr>
          <p:cNvPr id="6" name="Text 4"/>
          <p:cNvSpPr/>
          <p:nvPr/>
        </p:nvSpPr>
        <p:spPr>
          <a:xfrm>
            <a:off x="548640" y="6336792"/>
            <a:ext cx="1828800" cy="201168"/>
          </a:xfrm>
          <a:prstGeom prst="rect">
            <a:avLst/>
          </a:prstGeom>
          <a:noFill/>
          <a:ln/>
        </p:spPr>
        <p:txBody>
          <a:bodyPr wrap="square" lIns="0" tIns="0" rIns="0" bIns="0" rtlCol="0" anchor="ctr"/>
          <a:lstStyle/>
          <a:p>
            <a:pPr marL="0" indent="0">
              <a:buNone/>
            </a:pPr>
            <a:r>
              <a:rPr lang="en-US" sz="850" b="1" dirty="0">
                <a:solidFill>
                  <a:srgbClr val="12355B"/>
                </a:solidFill>
              </a:rPr>
              <a:t>IncidentIQ</a:t>
            </a:r>
            <a:endParaRPr lang="en-US" sz="850" dirty="0"/>
          </a:p>
        </p:txBody>
      </p:sp>
      <p:sp>
        <p:nvSpPr>
          <p:cNvPr id="7" name="Text 5"/>
          <p:cNvSpPr/>
          <p:nvPr/>
        </p:nvSpPr>
        <p:spPr>
          <a:xfrm>
            <a:off x="1874520" y="6336792"/>
            <a:ext cx="4572000" cy="201168"/>
          </a:xfrm>
          <a:prstGeom prst="rect">
            <a:avLst/>
          </a:prstGeom>
          <a:noFill/>
          <a:ln/>
        </p:spPr>
        <p:txBody>
          <a:bodyPr wrap="square" lIns="0" tIns="0" rIns="0" bIns="0" rtlCol="0" anchor="ctr"/>
          <a:lstStyle/>
          <a:p>
            <a:pPr marL="0" indent="0">
              <a:buNone/>
            </a:pPr>
            <a:r>
              <a:rPr lang="en-US" sz="850" dirty="0">
                <a:solidFill>
                  <a:srgbClr val="64748B"/>
                </a:solidFill>
              </a:rPr>
              <a:t>Engineering summary</a:t>
            </a:r>
            <a:endParaRPr lang="en-US" sz="850" dirty="0"/>
          </a:p>
        </p:txBody>
      </p:sp>
      <p:sp>
        <p:nvSpPr>
          <p:cNvPr id="8" name="Text 6"/>
          <p:cNvSpPr/>
          <p:nvPr/>
        </p:nvSpPr>
        <p:spPr>
          <a:xfrm>
            <a:off x="11155680" y="6291072"/>
            <a:ext cx="457200" cy="228600"/>
          </a:xfrm>
          <a:prstGeom prst="rect">
            <a:avLst/>
          </a:prstGeom>
          <a:noFill/>
          <a:ln/>
        </p:spPr>
        <p:txBody>
          <a:bodyPr wrap="square" lIns="0" tIns="0" rIns="0" bIns="0" rtlCol="0" anchor="ctr"/>
          <a:lstStyle/>
          <a:p>
            <a:pPr marL="0" indent="0" algn="r">
              <a:buNone/>
            </a:pPr>
            <a:r>
              <a:rPr lang="en-US" sz="850" b="1" dirty="0">
                <a:solidFill>
                  <a:srgbClr val="14B8A6"/>
                </a:solidFill>
              </a:rPr>
              <a:t>13</a:t>
            </a:r>
            <a:endParaRPr lang="en-US" sz="850" dirty="0"/>
          </a:p>
        </p:txBody>
      </p:sp>
      <p:sp>
        <p:nvSpPr>
          <p:cNvPr id="9" name="Text 7"/>
          <p:cNvSpPr/>
          <p:nvPr/>
        </p:nvSpPr>
        <p:spPr>
          <a:xfrm>
            <a:off x="685800" y="603504"/>
            <a:ext cx="5486400" cy="219456"/>
          </a:xfrm>
          <a:prstGeom prst="rect">
            <a:avLst/>
          </a:prstGeom>
          <a:noFill/>
          <a:ln/>
        </p:spPr>
        <p:txBody>
          <a:bodyPr wrap="square" lIns="0" tIns="0" rIns="0" bIns="0" rtlCol="0" anchor="ctr"/>
          <a:lstStyle/>
          <a:p>
            <a:pPr marL="0" indent="0">
              <a:buNone/>
            </a:pPr>
            <a:r>
              <a:rPr lang="en-US" sz="850" b="1" dirty="0">
                <a:solidFill>
                  <a:srgbClr val="14B8A6"/>
                </a:solidFill>
              </a:rPr>
              <a:t>ENGINEERING SUMMARY</a:t>
            </a:r>
            <a:endParaRPr lang="en-US" sz="850" dirty="0"/>
          </a:p>
        </p:txBody>
      </p:sp>
      <p:sp>
        <p:nvSpPr>
          <p:cNvPr id="10" name="Text 8"/>
          <p:cNvSpPr/>
          <p:nvPr/>
        </p:nvSpPr>
        <p:spPr>
          <a:xfrm>
            <a:off x="685800" y="914400"/>
            <a:ext cx="9784080" cy="658368"/>
          </a:xfrm>
          <a:prstGeom prst="rect">
            <a:avLst/>
          </a:prstGeom>
          <a:noFill/>
          <a:ln/>
        </p:spPr>
        <p:txBody>
          <a:bodyPr wrap="square" lIns="0" tIns="0" rIns="0" bIns="0" rtlCol="0" anchor="ctr">
            <a:normAutofit/>
          </a:bodyPr>
          <a:lstStyle/>
          <a:p>
            <a:pPr marL="0" indent="0">
              <a:buNone/>
            </a:pPr>
            <a:r>
              <a:rPr lang="en-US" sz="3000" b="1" dirty="0">
                <a:solidFill>
                  <a:srgbClr val="0B1F33"/>
                </a:solidFill>
                <a:latin typeface="Aptos Display" pitchFamily="34" charset="0"/>
                <a:ea typeface="Aptos Display" pitchFamily="34" charset="-122"/>
                <a:cs typeface="Aptos Display" pitchFamily="34" charset="-120"/>
              </a:rPr>
              <a:t>Engineering highlights</a:t>
            </a:r>
            <a:endParaRPr lang="en-US" sz="3000" dirty="0"/>
          </a:p>
        </p:txBody>
      </p:sp>
      <p:sp>
        <p:nvSpPr>
          <p:cNvPr id="12" name="Shape 10"/>
          <p:cNvSpPr/>
          <p:nvPr/>
        </p:nvSpPr>
        <p:spPr>
          <a:xfrm>
            <a:off x="786384" y="2359152"/>
            <a:ext cx="3246120" cy="1024128"/>
          </a:xfrm>
          <a:prstGeom prst="roundRect">
            <a:avLst>
              <a:gd name="adj" fmla="val 10714"/>
            </a:avLst>
          </a:prstGeom>
          <a:solidFill>
            <a:srgbClr val="FFFFFF"/>
          </a:solidFill>
          <a:ln w="12700">
            <a:solidFill>
              <a:srgbClr val="C9DCEB">
                <a:alpha val="85000"/>
              </a:srgbClr>
            </a:solidFill>
            <a:prstDash val="solid"/>
          </a:ln>
          <a:effectLst>
            <a:outerShdw blurRad="19050" dist="50800" dir="2700000" algn="bl" rotWithShape="0">
              <a:srgbClr val="B9CFE0">
                <a:alpha val="13000"/>
              </a:srgbClr>
            </a:outerShdw>
          </a:effectLst>
        </p:spPr>
        <p:txBody>
          <a:bodyPr/>
          <a:lstStyle/>
          <a:p>
            <a:endParaRPr lang="en-GB"/>
          </a:p>
        </p:txBody>
      </p:sp>
      <p:sp>
        <p:nvSpPr>
          <p:cNvPr id="13" name="Shape 11"/>
          <p:cNvSpPr/>
          <p:nvPr/>
        </p:nvSpPr>
        <p:spPr>
          <a:xfrm>
            <a:off x="786384" y="2359152"/>
            <a:ext cx="73152" cy="1024128"/>
          </a:xfrm>
          <a:prstGeom prst="rect">
            <a:avLst/>
          </a:prstGeom>
          <a:solidFill>
            <a:srgbClr val="2563EB"/>
          </a:solidFill>
          <a:ln w="12700">
            <a:solidFill>
              <a:srgbClr val="2563EB">
                <a:alpha val="0"/>
              </a:srgbClr>
            </a:solidFill>
            <a:prstDash val="solid"/>
          </a:ln>
        </p:spPr>
        <p:txBody>
          <a:bodyPr/>
          <a:lstStyle/>
          <a:p>
            <a:endParaRPr lang="en-GB"/>
          </a:p>
        </p:txBody>
      </p:sp>
      <p:sp>
        <p:nvSpPr>
          <p:cNvPr id="14" name="Text 12"/>
          <p:cNvSpPr/>
          <p:nvPr/>
        </p:nvSpPr>
        <p:spPr>
          <a:xfrm>
            <a:off x="1005840" y="2523744"/>
            <a:ext cx="2898648" cy="274320"/>
          </a:xfrm>
          <a:prstGeom prst="rect">
            <a:avLst/>
          </a:prstGeom>
          <a:noFill/>
          <a:ln/>
        </p:spPr>
        <p:txBody>
          <a:bodyPr wrap="square" lIns="0" tIns="0" rIns="0" bIns="0" rtlCol="0" anchor="ctr">
            <a:normAutofit/>
          </a:bodyPr>
          <a:lstStyle/>
          <a:p>
            <a:pPr marL="0" indent="0">
              <a:buNone/>
            </a:pPr>
            <a:r>
              <a:rPr lang="en-US" sz="1220" b="1" dirty="0">
                <a:solidFill>
                  <a:srgbClr val="0B1F33"/>
                </a:solidFill>
                <a:latin typeface="Aptos Display" pitchFamily="34" charset="0"/>
                <a:ea typeface="Aptos Display" pitchFamily="34" charset="-122"/>
                <a:cs typeface="Aptos Display" pitchFamily="34" charset="-120"/>
              </a:rPr>
              <a:t>Reliability</a:t>
            </a:r>
            <a:endParaRPr lang="en-US" sz="1220" dirty="0"/>
          </a:p>
        </p:txBody>
      </p:sp>
      <p:sp>
        <p:nvSpPr>
          <p:cNvPr id="15" name="Text 13"/>
          <p:cNvSpPr/>
          <p:nvPr/>
        </p:nvSpPr>
        <p:spPr>
          <a:xfrm>
            <a:off x="1005840" y="2926080"/>
            <a:ext cx="2898648" cy="310896"/>
          </a:xfrm>
          <a:prstGeom prst="rect">
            <a:avLst/>
          </a:prstGeom>
          <a:noFill/>
          <a:ln/>
        </p:spPr>
        <p:txBody>
          <a:bodyPr wrap="square" lIns="0" tIns="0" rIns="0" bIns="0" rtlCol="0" anchor="ctr">
            <a:normAutofit/>
          </a:bodyPr>
          <a:lstStyle/>
          <a:p>
            <a:pPr marL="0" indent="0">
              <a:buNone/>
            </a:pPr>
            <a:r>
              <a:rPr lang="en-US" sz="880" dirty="0">
                <a:solidFill>
                  <a:srgbClr val="52657A"/>
                </a:solidFill>
              </a:rPr>
              <a:t>Transactional outbox, Service Bus retries, duplicate detection and DLQ handling.</a:t>
            </a:r>
            <a:endParaRPr lang="en-US" sz="880" dirty="0"/>
          </a:p>
        </p:txBody>
      </p:sp>
      <p:sp>
        <p:nvSpPr>
          <p:cNvPr id="16" name="Shape 14"/>
          <p:cNvSpPr/>
          <p:nvPr/>
        </p:nvSpPr>
        <p:spPr>
          <a:xfrm>
            <a:off x="4398264" y="2359152"/>
            <a:ext cx="3246120" cy="1024128"/>
          </a:xfrm>
          <a:prstGeom prst="roundRect">
            <a:avLst>
              <a:gd name="adj" fmla="val 10714"/>
            </a:avLst>
          </a:prstGeom>
          <a:solidFill>
            <a:srgbClr val="FFFFFF"/>
          </a:solidFill>
          <a:ln w="12700">
            <a:solidFill>
              <a:srgbClr val="C9DCEB">
                <a:alpha val="85000"/>
              </a:srgbClr>
            </a:solidFill>
            <a:prstDash val="solid"/>
          </a:ln>
          <a:effectLst>
            <a:outerShdw blurRad="19050" dist="50800" dir="2700000" algn="bl" rotWithShape="0">
              <a:srgbClr val="B9CFE0">
                <a:alpha val="13000"/>
              </a:srgbClr>
            </a:outerShdw>
          </a:effectLst>
        </p:spPr>
        <p:txBody>
          <a:bodyPr/>
          <a:lstStyle/>
          <a:p>
            <a:endParaRPr lang="en-GB"/>
          </a:p>
        </p:txBody>
      </p:sp>
      <p:sp>
        <p:nvSpPr>
          <p:cNvPr id="17" name="Shape 15"/>
          <p:cNvSpPr/>
          <p:nvPr/>
        </p:nvSpPr>
        <p:spPr>
          <a:xfrm>
            <a:off x="4398264" y="2359152"/>
            <a:ext cx="73152" cy="1024128"/>
          </a:xfrm>
          <a:prstGeom prst="rect">
            <a:avLst/>
          </a:prstGeom>
          <a:solidFill>
            <a:srgbClr val="14B8A6"/>
          </a:solidFill>
          <a:ln w="12700">
            <a:solidFill>
              <a:srgbClr val="14B8A6">
                <a:alpha val="0"/>
              </a:srgbClr>
            </a:solidFill>
            <a:prstDash val="solid"/>
          </a:ln>
        </p:spPr>
        <p:txBody>
          <a:bodyPr/>
          <a:lstStyle/>
          <a:p>
            <a:endParaRPr lang="en-GB"/>
          </a:p>
        </p:txBody>
      </p:sp>
      <p:sp>
        <p:nvSpPr>
          <p:cNvPr id="18" name="Text 16"/>
          <p:cNvSpPr/>
          <p:nvPr/>
        </p:nvSpPr>
        <p:spPr>
          <a:xfrm>
            <a:off x="4617720" y="2523744"/>
            <a:ext cx="2898648" cy="274320"/>
          </a:xfrm>
          <a:prstGeom prst="rect">
            <a:avLst/>
          </a:prstGeom>
          <a:noFill/>
          <a:ln/>
        </p:spPr>
        <p:txBody>
          <a:bodyPr wrap="square" lIns="0" tIns="0" rIns="0" bIns="0" rtlCol="0" anchor="ctr">
            <a:normAutofit/>
          </a:bodyPr>
          <a:lstStyle/>
          <a:p>
            <a:pPr marL="0" indent="0">
              <a:buNone/>
            </a:pPr>
            <a:r>
              <a:rPr lang="en-US" sz="1220" b="1" dirty="0">
                <a:solidFill>
                  <a:srgbClr val="0B1F33"/>
                </a:solidFill>
                <a:latin typeface="Aptos Display" pitchFamily="34" charset="0"/>
                <a:ea typeface="Aptos Display" pitchFamily="34" charset="-122"/>
                <a:cs typeface="Aptos Display" pitchFamily="34" charset="-120"/>
              </a:rPr>
              <a:t>Grounded AI</a:t>
            </a:r>
            <a:endParaRPr lang="en-US" sz="1220" dirty="0"/>
          </a:p>
        </p:txBody>
      </p:sp>
      <p:sp>
        <p:nvSpPr>
          <p:cNvPr id="19" name="Text 17"/>
          <p:cNvSpPr/>
          <p:nvPr/>
        </p:nvSpPr>
        <p:spPr>
          <a:xfrm>
            <a:off x="4617720" y="2926080"/>
            <a:ext cx="2898648" cy="310896"/>
          </a:xfrm>
          <a:prstGeom prst="rect">
            <a:avLst/>
          </a:prstGeom>
          <a:noFill/>
          <a:ln/>
        </p:spPr>
        <p:txBody>
          <a:bodyPr wrap="square" lIns="0" tIns="0" rIns="0" bIns="0" rtlCol="0" anchor="ctr">
            <a:normAutofit/>
          </a:bodyPr>
          <a:lstStyle/>
          <a:p>
            <a:pPr marL="0" indent="0">
              <a:buNone/>
            </a:pPr>
            <a:r>
              <a:rPr lang="en-US" sz="880" dirty="0">
                <a:solidFill>
                  <a:srgbClr val="52657A"/>
                </a:solidFill>
              </a:rPr>
              <a:t>Vector retrieval, structured output and request-scoped evidence validation.</a:t>
            </a:r>
            <a:endParaRPr lang="en-US" sz="880" dirty="0"/>
          </a:p>
        </p:txBody>
      </p:sp>
      <p:sp>
        <p:nvSpPr>
          <p:cNvPr id="20" name="Shape 18"/>
          <p:cNvSpPr/>
          <p:nvPr/>
        </p:nvSpPr>
        <p:spPr>
          <a:xfrm>
            <a:off x="8010144" y="2359152"/>
            <a:ext cx="3246120" cy="1024128"/>
          </a:xfrm>
          <a:prstGeom prst="roundRect">
            <a:avLst>
              <a:gd name="adj" fmla="val 10714"/>
            </a:avLst>
          </a:prstGeom>
          <a:solidFill>
            <a:srgbClr val="FFFFFF"/>
          </a:solidFill>
          <a:ln w="12700">
            <a:solidFill>
              <a:srgbClr val="C9DCEB">
                <a:alpha val="85000"/>
              </a:srgbClr>
            </a:solidFill>
            <a:prstDash val="solid"/>
          </a:ln>
          <a:effectLst>
            <a:outerShdw blurRad="19050" dist="50800" dir="2700000" algn="bl" rotWithShape="0">
              <a:srgbClr val="B9CFE0">
                <a:alpha val="13000"/>
              </a:srgbClr>
            </a:outerShdw>
          </a:effectLst>
        </p:spPr>
        <p:txBody>
          <a:bodyPr/>
          <a:lstStyle/>
          <a:p>
            <a:endParaRPr lang="en-GB"/>
          </a:p>
        </p:txBody>
      </p:sp>
      <p:sp>
        <p:nvSpPr>
          <p:cNvPr id="21" name="Shape 19"/>
          <p:cNvSpPr/>
          <p:nvPr/>
        </p:nvSpPr>
        <p:spPr>
          <a:xfrm>
            <a:off x="8010144" y="2359152"/>
            <a:ext cx="73152" cy="1024128"/>
          </a:xfrm>
          <a:prstGeom prst="rect">
            <a:avLst/>
          </a:prstGeom>
          <a:solidFill>
            <a:srgbClr val="7C3AED"/>
          </a:solidFill>
          <a:ln w="12700">
            <a:solidFill>
              <a:srgbClr val="7C3AED">
                <a:alpha val="0"/>
              </a:srgbClr>
            </a:solidFill>
            <a:prstDash val="solid"/>
          </a:ln>
        </p:spPr>
        <p:txBody>
          <a:bodyPr/>
          <a:lstStyle/>
          <a:p>
            <a:endParaRPr lang="en-GB"/>
          </a:p>
        </p:txBody>
      </p:sp>
      <p:sp>
        <p:nvSpPr>
          <p:cNvPr id="22" name="Text 20"/>
          <p:cNvSpPr/>
          <p:nvPr/>
        </p:nvSpPr>
        <p:spPr>
          <a:xfrm>
            <a:off x="8229600" y="2523744"/>
            <a:ext cx="2898648" cy="274320"/>
          </a:xfrm>
          <a:prstGeom prst="rect">
            <a:avLst/>
          </a:prstGeom>
          <a:noFill/>
          <a:ln/>
        </p:spPr>
        <p:txBody>
          <a:bodyPr wrap="square" lIns="0" tIns="0" rIns="0" bIns="0" rtlCol="0" anchor="ctr">
            <a:normAutofit/>
          </a:bodyPr>
          <a:lstStyle/>
          <a:p>
            <a:pPr marL="0" indent="0">
              <a:buNone/>
            </a:pPr>
            <a:r>
              <a:rPr lang="en-US" sz="1220" b="1" dirty="0">
                <a:solidFill>
                  <a:srgbClr val="0B1F33"/>
                </a:solidFill>
                <a:latin typeface="Aptos Display" pitchFamily="34" charset="0"/>
                <a:ea typeface="Aptos Display" pitchFamily="34" charset="-122"/>
                <a:cs typeface="Aptos Display" pitchFamily="34" charset="-120"/>
              </a:rPr>
              <a:t>Security</a:t>
            </a:r>
            <a:endParaRPr lang="en-US" sz="1220" dirty="0"/>
          </a:p>
        </p:txBody>
      </p:sp>
      <p:sp>
        <p:nvSpPr>
          <p:cNvPr id="23" name="Text 21"/>
          <p:cNvSpPr/>
          <p:nvPr/>
        </p:nvSpPr>
        <p:spPr>
          <a:xfrm>
            <a:off x="8229600" y="2926080"/>
            <a:ext cx="2898648" cy="310896"/>
          </a:xfrm>
          <a:prstGeom prst="rect">
            <a:avLst/>
          </a:prstGeom>
          <a:noFill/>
          <a:ln/>
        </p:spPr>
        <p:txBody>
          <a:bodyPr wrap="square" lIns="0" tIns="0" rIns="0" bIns="0" rtlCol="0" anchor="ctr">
            <a:normAutofit/>
          </a:bodyPr>
          <a:lstStyle/>
          <a:p>
            <a:pPr marL="0" indent="0">
              <a:buNone/>
            </a:pPr>
            <a:r>
              <a:rPr lang="en-US" sz="880" dirty="0">
                <a:solidFill>
                  <a:srgbClr val="52657A"/>
                </a:solidFill>
              </a:rPr>
              <a:t>Microsoft Entra RBAC for users; Managed Identity/RBAC for Azure workloads.</a:t>
            </a:r>
            <a:endParaRPr lang="en-US" sz="880" dirty="0"/>
          </a:p>
        </p:txBody>
      </p:sp>
      <p:sp>
        <p:nvSpPr>
          <p:cNvPr id="24" name="Shape 22"/>
          <p:cNvSpPr/>
          <p:nvPr/>
        </p:nvSpPr>
        <p:spPr>
          <a:xfrm>
            <a:off x="786384" y="3712464"/>
            <a:ext cx="3246120" cy="1024128"/>
          </a:xfrm>
          <a:prstGeom prst="roundRect">
            <a:avLst>
              <a:gd name="adj" fmla="val 10714"/>
            </a:avLst>
          </a:prstGeom>
          <a:solidFill>
            <a:srgbClr val="FFFFFF"/>
          </a:solidFill>
          <a:ln w="12700">
            <a:solidFill>
              <a:srgbClr val="C9DCEB">
                <a:alpha val="85000"/>
              </a:srgbClr>
            </a:solidFill>
            <a:prstDash val="solid"/>
          </a:ln>
          <a:effectLst>
            <a:outerShdw blurRad="19050" dist="50800" dir="2700000" algn="bl" rotWithShape="0">
              <a:srgbClr val="B9CFE0">
                <a:alpha val="13000"/>
              </a:srgbClr>
            </a:outerShdw>
          </a:effectLst>
        </p:spPr>
        <p:txBody>
          <a:bodyPr/>
          <a:lstStyle/>
          <a:p>
            <a:endParaRPr lang="en-GB"/>
          </a:p>
        </p:txBody>
      </p:sp>
      <p:sp>
        <p:nvSpPr>
          <p:cNvPr id="25" name="Shape 23"/>
          <p:cNvSpPr/>
          <p:nvPr/>
        </p:nvSpPr>
        <p:spPr>
          <a:xfrm>
            <a:off x="786384" y="3712464"/>
            <a:ext cx="73152" cy="1024128"/>
          </a:xfrm>
          <a:prstGeom prst="rect">
            <a:avLst/>
          </a:prstGeom>
          <a:solidFill>
            <a:srgbClr val="22C55E"/>
          </a:solidFill>
          <a:ln w="12700">
            <a:solidFill>
              <a:srgbClr val="22C55E">
                <a:alpha val="0"/>
              </a:srgbClr>
            </a:solidFill>
            <a:prstDash val="solid"/>
          </a:ln>
        </p:spPr>
        <p:txBody>
          <a:bodyPr/>
          <a:lstStyle/>
          <a:p>
            <a:endParaRPr lang="en-GB"/>
          </a:p>
        </p:txBody>
      </p:sp>
      <p:sp>
        <p:nvSpPr>
          <p:cNvPr id="26" name="Text 24"/>
          <p:cNvSpPr/>
          <p:nvPr/>
        </p:nvSpPr>
        <p:spPr>
          <a:xfrm>
            <a:off x="1005840" y="3877056"/>
            <a:ext cx="2898648" cy="274320"/>
          </a:xfrm>
          <a:prstGeom prst="rect">
            <a:avLst/>
          </a:prstGeom>
          <a:noFill/>
          <a:ln/>
        </p:spPr>
        <p:txBody>
          <a:bodyPr wrap="square" lIns="0" tIns="0" rIns="0" bIns="0" rtlCol="0" anchor="ctr">
            <a:normAutofit/>
          </a:bodyPr>
          <a:lstStyle/>
          <a:p>
            <a:pPr marL="0" indent="0">
              <a:buNone/>
            </a:pPr>
            <a:r>
              <a:rPr lang="en-US" sz="1220" b="1" dirty="0">
                <a:solidFill>
                  <a:srgbClr val="0B1F33"/>
                </a:solidFill>
                <a:latin typeface="Aptos Display" pitchFamily="34" charset="0"/>
                <a:ea typeface="Aptos Display" pitchFamily="34" charset="-122"/>
                <a:cs typeface="Aptos Display" pitchFamily="34" charset="-120"/>
              </a:rPr>
              <a:t>Observability</a:t>
            </a:r>
            <a:endParaRPr lang="en-US" sz="1220" dirty="0"/>
          </a:p>
        </p:txBody>
      </p:sp>
      <p:sp>
        <p:nvSpPr>
          <p:cNvPr id="27" name="Text 25"/>
          <p:cNvSpPr/>
          <p:nvPr/>
        </p:nvSpPr>
        <p:spPr>
          <a:xfrm>
            <a:off x="1005840" y="4279392"/>
            <a:ext cx="2898648" cy="310896"/>
          </a:xfrm>
          <a:prstGeom prst="rect">
            <a:avLst/>
          </a:prstGeom>
          <a:noFill/>
          <a:ln/>
        </p:spPr>
        <p:txBody>
          <a:bodyPr wrap="square" lIns="0" tIns="0" rIns="0" bIns="0" rtlCol="0" anchor="ctr">
            <a:normAutofit/>
          </a:bodyPr>
          <a:lstStyle/>
          <a:p>
            <a:pPr marL="0" indent="0">
              <a:buNone/>
            </a:pPr>
            <a:r>
              <a:rPr lang="en-US" sz="880" dirty="0">
                <a:solidFill>
                  <a:srgbClr val="52657A"/>
                </a:solidFill>
              </a:rPr>
              <a:t>OpenTelemetry traces and custom metrics across async boundaries.</a:t>
            </a:r>
            <a:endParaRPr lang="en-US" sz="880" dirty="0"/>
          </a:p>
        </p:txBody>
      </p:sp>
      <p:sp>
        <p:nvSpPr>
          <p:cNvPr id="28" name="Shape 26"/>
          <p:cNvSpPr/>
          <p:nvPr/>
        </p:nvSpPr>
        <p:spPr>
          <a:xfrm>
            <a:off x="4398264" y="3712464"/>
            <a:ext cx="3246120" cy="1024128"/>
          </a:xfrm>
          <a:prstGeom prst="roundRect">
            <a:avLst>
              <a:gd name="adj" fmla="val 10714"/>
            </a:avLst>
          </a:prstGeom>
          <a:solidFill>
            <a:srgbClr val="FFFFFF"/>
          </a:solidFill>
          <a:ln w="12700">
            <a:solidFill>
              <a:srgbClr val="C9DCEB">
                <a:alpha val="85000"/>
              </a:srgbClr>
            </a:solidFill>
            <a:prstDash val="solid"/>
          </a:ln>
          <a:effectLst>
            <a:outerShdw blurRad="19050" dist="50800" dir="2700000" algn="bl" rotWithShape="0">
              <a:srgbClr val="B9CFE0">
                <a:alpha val="13000"/>
              </a:srgbClr>
            </a:outerShdw>
          </a:effectLst>
        </p:spPr>
        <p:txBody>
          <a:bodyPr/>
          <a:lstStyle/>
          <a:p>
            <a:endParaRPr lang="en-GB"/>
          </a:p>
        </p:txBody>
      </p:sp>
      <p:sp>
        <p:nvSpPr>
          <p:cNvPr id="29" name="Shape 27"/>
          <p:cNvSpPr/>
          <p:nvPr/>
        </p:nvSpPr>
        <p:spPr>
          <a:xfrm>
            <a:off x="4398264" y="3712464"/>
            <a:ext cx="73152" cy="1024128"/>
          </a:xfrm>
          <a:prstGeom prst="rect">
            <a:avLst/>
          </a:prstGeom>
          <a:solidFill>
            <a:srgbClr val="FB923C"/>
          </a:solidFill>
          <a:ln w="12700">
            <a:solidFill>
              <a:srgbClr val="FB923C">
                <a:alpha val="0"/>
              </a:srgbClr>
            </a:solidFill>
            <a:prstDash val="solid"/>
          </a:ln>
        </p:spPr>
        <p:txBody>
          <a:bodyPr/>
          <a:lstStyle/>
          <a:p>
            <a:endParaRPr lang="en-GB"/>
          </a:p>
        </p:txBody>
      </p:sp>
      <p:sp>
        <p:nvSpPr>
          <p:cNvPr id="30" name="Text 28"/>
          <p:cNvSpPr/>
          <p:nvPr/>
        </p:nvSpPr>
        <p:spPr>
          <a:xfrm>
            <a:off x="4617720" y="3877056"/>
            <a:ext cx="2898648" cy="274320"/>
          </a:xfrm>
          <a:prstGeom prst="rect">
            <a:avLst/>
          </a:prstGeom>
          <a:noFill/>
          <a:ln/>
        </p:spPr>
        <p:txBody>
          <a:bodyPr wrap="square" lIns="0" tIns="0" rIns="0" bIns="0" rtlCol="0" anchor="ctr">
            <a:normAutofit/>
          </a:bodyPr>
          <a:lstStyle/>
          <a:p>
            <a:pPr marL="0" indent="0">
              <a:buNone/>
            </a:pPr>
            <a:r>
              <a:rPr lang="en-US" sz="1220" b="1" dirty="0">
                <a:solidFill>
                  <a:srgbClr val="0B1F33"/>
                </a:solidFill>
                <a:latin typeface="Aptos Display" pitchFamily="34" charset="0"/>
                <a:ea typeface="Aptos Display" pitchFamily="34" charset="-122"/>
                <a:cs typeface="Aptos Display" pitchFamily="34" charset="-120"/>
              </a:rPr>
              <a:t>Scaling</a:t>
            </a:r>
            <a:endParaRPr lang="en-US" sz="1220" dirty="0"/>
          </a:p>
        </p:txBody>
      </p:sp>
      <p:sp>
        <p:nvSpPr>
          <p:cNvPr id="31" name="Text 29"/>
          <p:cNvSpPr/>
          <p:nvPr/>
        </p:nvSpPr>
        <p:spPr>
          <a:xfrm>
            <a:off x="4617720" y="4279392"/>
            <a:ext cx="2898648" cy="310896"/>
          </a:xfrm>
          <a:prstGeom prst="rect">
            <a:avLst/>
          </a:prstGeom>
          <a:noFill/>
          <a:ln/>
        </p:spPr>
        <p:txBody>
          <a:bodyPr wrap="square" lIns="0" tIns="0" rIns="0" bIns="0" rtlCol="0" anchor="ctr">
            <a:normAutofit/>
          </a:bodyPr>
          <a:lstStyle/>
          <a:p>
            <a:pPr marL="0" indent="0">
              <a:buNone/>
            </a:pPr>
            <a:r>
              <a:rPr lang="en-US" sz="880" dirty="0">
                <a:solidFill>
                  <a:srgbClr val="52657A"/>
                </a:solidFill>
              </a:rPr>
              <a:t>KEDA queue-depth scaling with a deliberate minimum replica for Change Feed relays.</a:t>
            </a:r>
            <a:endParaRPr lang="en-US" sz="880" dirty="0"/>
          </a:p>
        </p:txBody>
      </p:sp>
      <p:sp>
        <p:nvSpPr>
          <p:cNvPr id="32" name="Shape 30"/>
          <p:cNvSpPr/>
          <p:nvPr/>
        </p:nvSpPr>
        <p:spPr>
          <a:xfrm>
            <a:off x="8010144" y="3712464"/>
            <a:ext cx="3246120" cy="1024128"/>
          </a:xfrm>
          <a:prstGeom prst="roundRect">
            <a:avLst>
              <a:gd name="adj" fmla="val 10714"/>
            </a:avLst>
          </a:prstGeom>
          <a:solidFill>
            <a:srgbClr val="FFFFFF"/>
          </a:solidFill>
          <a:ln w="12700">
            <a:solidFill>
              <a:srgbClr val="C9DCEB">
                <a:alpha val="85000"/>
              </a:srgbClr>
            </a:solidFill>
            <a:prstDash val="solid"/>
          </a:ln>
          <a:effectLst>
            <a:outerShdw blurRad="19050" dist="50800" dir="2700000" algn="bl" rotWithShape="0">
              <a:srgbClr val="B9CFE0">
                <a:alpha val="13000"/>
              </a:srgbClr>
            </a:outerShdw>
          </a:effectLst>
        </p:spPr>
        <p:txBody>
          <a:bodyPr/>
          <a:lstStyle/>
          <a:p>
            <a:endParaRPr lang="en-GB"/>
          </a:p>
        </p:txBody>
      </p:sp>
      <p:sp>
        <p:nvSpPr>
          <p:cNvPr id="33" name="Shape 31"/>
          <p:cNvSpPr/>
          <p:nvPr/>
        </p:nvSpPr>
        <p:spPr>
          <a:xfrm>
            <a:off x="8010144" y="3712464"/>
            <a:ext cx="73152" cy="1024128"/>
          </a:xfrm>
          <a:prstGeom prst="rect">
            <a:avLst/>
          </a:prstGeom>
          <a:solidFill>
            <a:srgbClr val="12355B"/>
          </a:solidFill>
          <a:ln w="12700">
            <a:solidFill>
              <a:srgbClr val="12355B">
                <a:alpha val="0"/>
              </a:srgbClr>
            </a:solidFill>
            <a:prstDash val="solid"/>
          </a:ln>
        </p:spPr>
        <p:txBody>
          <a:bodyPr/>
          <a:lstStyle/>
          <a:p>
            <a:endParaRPr lang="en-GB"/>
          </a:p>
        </p:txBody>
      </p:sp>
      <p:sp>
        <p:nvSpPr>
          <p:cNvPr id="34" name="Text 32"/>
          <p:cNvSpPr/>
          <p:nvPr/>
        </p:nvSpPr>
        <p:spPr>
          <a:xfrm>
            <a:off x="8229600" y="3877056"/>
            <a:ext cx="2898648" cy="274320"/>
          </a:xfrm>
          <a:prstGeom prst="rect">
            <a:avLst/>
          </a:prstGeom>
          <a:noFill/>
          <a:ln/>
        </p:spPr>
        <p:txBody>
          <a:bodyPr wrap="square" lIns="0" tIns="0" rIns="0" bIns="0" rtlCol="0" anchor="ctr">
            <a:normAutofit/>
          </a:bodyPr>
          <a:lstStyle/>
          <a:p>
            <a:pPr marL="0" indent="0">
              <a:buNone/>
            </a:pPr>
            <a:r>
              <a:rPr lang="en-US" sz="1220" b="1" dirty="0">
                <a:solidFill>
                  <a:srgbClr val="0B1F33"/>
                </a:solidFill>
                <a:latin typeface="Aptos Display" pitchFamily="34" charset="0"/>
                <a:ea typeface="Aptos Display" pitchFamily="34" charset="-122"/>
                <a:cs typeface="Aptos Display" pitchFamily="34" charset="-120"/>
              </a:rPr>
              <a:t>Delivery</a:t>
            </a:r>
            <a:endParaRPr lang="en-US" sz="1220" dirty="0"/>
          </a:p>
        </p:txBody>
      </p:sp>
      <p:sp>
        <p:nvSpPr>
          <p:cNvPr id="35" name="Text 33"/>
          <p:cNvSpPr/>
          <p:nvPr/>
        </p:nvSpPr>
        <p:spPr>
          <a:xfrm>
            <a:off x="8229600" y="4279392"/>
            <a:ext cx="2898648" cy="310896"/>
          </a:xfrm>
          <a:prstGeom prst="rect">
            <a:avLst/>
          </a:prstGeom>
          <a:noFill/>
          <a:ln/>
        </p:spPr>
        <p:txBody>
          <a:bodyPr wrap="square" lIns="0" tIns="0" rIns="0" bIns="0" rtlCol="0" anchor="ctr">
            <a:normAutofit/>
          </a:bodyPr>
          <a:lstStyle/>
          <a:p>
            <a:pPr marL="0" indent="0">
              <a:buNone/>
            </a:pPr>
            <a:r>
              <a:rPr lang="en-US" sz="880" dirty="0">
                <a:solidFill>
                  <a:srgbClr val="52657A"/>
                </a:solidFill>
              </a:rPr>
              <a:t>Bicep infrastructure and GitHub Actions OIDC deployment.</a:t>
            </a:r>
            <a:endParaRPr lang="en-US" sz="880" dirty="0"/>
          </a:p>
        </p:txBody>
      </p:sp>
      <p:sp>
        <p:nvSpPr>
          <p:cNvPr id="36" name="Shape 34"/>
          <p:cNvSpPr/>
          <p:nvPr/>
        </p:nvSpPr>
        <p:spPr>
          <a:xfrm>
            <a:off x="786384" y="5138928"/>
            <a:ext cx="5577840" cy="804672"/>
          </a:xfrm>
          <a:prstGeom prst="roundRect">
            <a:avLst>
              <a:gd name="adj" fmla="val 11364"/>
            </a:avLst>
          </a:prstGeom>
          <a:solidFill>
            <a:srgbClr val="F8FCFF"/>
          </a:solidFill>
          <a:ln w="12700">
            <a:solidFill>
              <a:srgbClr val="14B8A6">
                <a:alpha val="55000"/>
              </a:srgbClr>
            </a:solidFill>
            <a:prstDash val="solid"/>
          </a:ln>
        </p:spPr>
        <p:txBody>
          <a:bodyPr/>
          <a:lstStyle/>
          <a:p>
            <a:endParaRPr lang="en-GB" dirty="0"/>
          </a:p>
        </p:txBody>
      </p:sp>
      <p:sp>
        <p:nvSpPr>
          <p:cNvPr id="37" name="Text 35"/>
          <p:cNvSpPr/>
          <p:nvPr/>
        </p:nvSpPr>
        <p:spPr>
          <a:xfrm>
            <a:off x="1014984" y="5276088"/>
            <a:ext cx="5120640" cy="256032"/>
          </a:xfrm>
          <a:prstGeom prst="rect">
            <a:avLst/>
          </a:prstGeom>
          <a:noFill/>
          <a:ln/>
        </p:spPr>
        <p:txBody>
          <a:bodyPr wrap="square" lIns="0" tIns="0" rIns="0" bIns="0" rtlCol="0" anchor="ctr">
            <a:normAutofit/>
          </a:bodyPr>
          <a:lstStyle/>
          <a:p>
            <a:pPr marL="0" indent="0">
              <a:buNone/>
            </a:pPr>
            <a:r>
              <a:rPr lang="en-US" sz="1040" b="1" dirty="0">
                <a:solidFill>
                  <a:srgbClr val="14B8A6"/>
                </a:solidFill>
              </a:rPr>
              <a:t>Project Purpose</a:t>
            </a:r>
            <a:endParaRPr lang="en-US" sz="1040" dirty="0"/>
          </a:p>
        </p:txBody>
      </p:sp>
      <p:sp>
        <p:nvSpPr>
          <p:cNvPr id="38" name="Text 36"/>
          <p:cNvSpPr/>
          <p:nvPr/>
        </p:nvSpPr>
        <p:spPr>
          <a:xfrm>
            <a:off x="1014984" y="5577840"/>
            <a:ext cx="5120640" cy="301752"/>
          </a:xfrm>
          <a:prstGeom prst="rect">
            <a:avLst/>
          </a:prstGeom>
          <a:noFill/>
          <a:ln/>
        </p:spPr>
        <p:txBody>
          <a:bodyPr wrap="square" lIns="0" tIns="0" rIns="0" bIns="0" rtlCol="0" anchor="ctr">
            <a:normAutofit/>
          </a:bodyPr>
          <a:lstStyle/>
          <a:p>
            <a:pPr marL="0" indent="0">
              <a:buNone/>
            </a:pPr>
            <a:r>
              <a:rPr lang="en-US" sz="830" dirty="0">
                <a:solidFill>
                  <a:srgbClr val="52657A"/>
                </a:solidFill>
              </a:rPr>
              <a:t>Built to show practical distributed Azure engineering, not just an AI wrapper.</a:t>
            </a:r>
            <a:endParaRPr lang="en-US" sz="83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52</TotalTime>
  <Words>1948</Words>
  <Application>Microsoft Office PowerPoint</Application>
  <PresentationFormat>Widescreen</PresentationFormat>
  <Paragraphs>306</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Aptos Display</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IncidentIQ</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IncidentIQ Demo Deck</dc:title>
  <dc:subject>IncidentIQ polished portfolio demo chapter deck</dc:subject>
  <dc:creator>IncidentIQ</dc:creator>
  <cp:lastModifiedBy>Daniel Musselwhite</cp:lastModifiedBy>
  <cp:revision>2</cp:revision>
  <dcterms:created xsi:type="dcterms:W3CDTF">2026-09-28T19:57:28Z</dcterms:created>
  <dcterms:modified xsi:type="dcterms:W3CDTF">2026-09-28T20:53:01Z</dcterms:modified>
</cp:coreProperties>
</file>